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6" r:id="rId9"/>
    <p:sldId id="267" r:id="rId10"/>
    <p:sldId id="269" r:id="rId11"/>
    <p:sldId id="270" r:id="rId12"/>
    <p:sldId id="264" r:id="rId13"/>
    <p:sldId id="263" r:id="rId14"/>
    <p:sldId id="261" r:id="rId15"/>
    <p:sldId id="268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3FA"/>
    <a:srgbClr val="2287F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04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1760D0-B5A2-9F2C-BF61-EC90D411D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77506C-772F-1EA9-7B56-75A0815A80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1707EC-7DD8-DC52-FD4C-3E2119386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5800-EEC1-4090-944E-7198A5C3FBE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19134E-BC50-448E-C797-2D6C7D1F3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50F743-1BE1-7179-5A2F-C04F9859D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6C90-73AD-40B7-98B1-AA0FC1010C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226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86BFC3-FF01-1A56-680D-575330DC2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259F97-EB49-EABF-F60E-53E53057A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CE3888-ACEC-ACB2-9235-6EC8A2B9A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5800-EEC1-4090-944E-7198A5C3FBE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E6B500-3D05-85A2-460C-1C2270F81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6EE8CC-F3C5-F3A0-E530-A6D1A3247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6C90-73AD-40B7-98B1-AA0FC1010C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6079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A00095-24B9-F6F9-2633-93DAD6FC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C1A56B-4F92-9958-6E97-8970EF7A9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FCFF60-A854-B109-F1B4-29B6C688D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5800-EEC1-4090-944E-7198A5C3FBE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231E1F-28F8-94B7-7DD9-4AFEBEA20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3824C1-2B69-6347-9D73-00D1F9220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6C90-73AD-40B7-98B1-AA0FC1010C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289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1296DF-A0F0-4E13-C9B6-E97C7FC71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09BD38-F5E2-A81C-08F7-A4C6D06BB5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62A595-E52E-5E37-952D-81996514B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098AB6-0E59-0A49-92D7-A6A995436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5800-EEC1-4090-944E-7198A5C3FBE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BB1ADD-9B3E-43D7-6691-24C2F343A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DFEC80-1BA7-55B4-E2AE-28641859A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6C90-73AD-40B7-98B1-AA0FC1010C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597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A1D22-3637-2910-E61F-B41B27DC2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B96CAB-D4D0-9494-B3F5-924E44C53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E14DB8-05C7-F651-4852-E8BBAB6EA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7F0BA74-7FFC-041E-BDF8-A3DEFF1A29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E774E12-385E-7AC9-8C89-8CBA18849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F7AE52D-EBE5-E250-846D-A17280C24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5800-EEC1-4090-944E-7198A5C3FBE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497FD1-E1DD-AE72-003F-FF43BEB5F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80D815D-BC34-7C1D-C5B6-BAFF0A17A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6C90-73AD-40B7-98B1-AA0FC1010C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006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D3E4E9-8A77-6B4C-2A34-BBA2FDAA9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963789C-0963-8AA8-EAB5-AA389E3E9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5800-EEC1-4090-944E-7198A5C3FBE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8E28842-9D78-72F4-F910-50CCC0E20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631FCF-478B-BC43-DBAE-AEA6D7AB8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6C90-73AD-40B7-98B1-AA0FC1010C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7508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81EE73-D7C9-74BF-3DE0-D4B666DD9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5800-EEC1-4090-944E-7198A5C3FBE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8D700B-4FBA-A7FB-F98F-D10A62FA8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2C9558-CF3F-4710-F45E-C07C7CA76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6C90-73AD-40B7-98B1-AA0FC1010C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576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0CEFA2-930E-F2A2-6CA7-9ECC9DCF4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C9A683-75A0-66A0-5A57-5CC78E1DB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F630D8-1845-83C2-7330-3F5009DB2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3FC948-9CFD-30B8-1372-C7522B23D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5800-EEC1-4090-944E-7198A5C3FBE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02B4AE-183C-0B10-47E7-C0690D277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1CCAD2-F0B9-F9E3-5D8A-40F2AB917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6C90-73AD-40B7-98B1-AA0FC1010C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934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2C9E43-183A-7537-27D5-5FDFE9DBB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CF29EF-96E7-5879-AE2F-E1A674834F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AFF698-155D-8875-4E4A-4A0846989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8A74D5-F5AF-6A12-87F3-6145D6F7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5800-EEC1-4090-944E-7198A5C3FBE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AB14C2-361B-B28D-1D9A-7917C2569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FFA93A-ECD6-042A-9580-78FDDA128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6C90-73AD-40B7-98B1-AA0FC1010C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537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B2832E-0311-EDB8-1BC0-D59AC439B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AB0D7C-DF61-B102-2DC8-5299CA264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52B68D-AFB9-E0C6-4175-2761ED788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5800-EEC1-4090-944E-7198A5C3FBE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C4AE14-AAC9-6B63-A99D-1A32A0808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8C10EC-8D53-1DA7-A956-376EE4870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6C90-73AD-40B7-98B1-AA0FC1010C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435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5692C70-C4CE-50C5-5D2E-0B0DE4A7BC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1E766DF-3137-2782-0C01-BD4EB8A9D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FED414-7CD4-5FF0-D380-7436A269B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5800-EEC1-4090-944E-7198A5C3FBE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7B700F-593D-B943-2767-B3690ACEB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B501E1-F4A7-C9A5-848F-530E79C12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6C90-73AD-40B7-98B1-AA0FC1010C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627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8FF7521-1575-E3F5-241F-4C5A842D5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6D582B-9B43-9729-4D8D-32DD47C1F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1E0818-3E48-CC89-5C8C-5C9723A40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E5800-EEC1-4090-944E-7198A5C3FBE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DA3D30-D55A-5FC8-0A8A-9F7A4C2BB9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0C5F09-D987-868D-6167-919321FBD8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F6C90-73AD-40B7-98B1-AA0FC1010C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95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226E51A-6699-465D-6502-2EDB9E96E1A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6" b="11112"/>
          <a:stretch>
            <a:fillRect/>
          </a:stretch>
        </p:blipFill>
        <p:spPr>
          <a:xfrm>
            <a:off x="567915" y="575731"/>
            <a:ext cx="3165231" cy="546946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D044CFFA-7823-C732-F1A9-B5B6E474A8FA}"/>
              </a:ext>
            </a:extLst>
          </p:cNvPr>
          <p:cNvSpPr/>
          <p:nvPr/>
        </p:nvSpPr>
        <p:spPr>
          <a:xfrm>
            <a:off x="567915" y="2472267"/>
            <a:ext cx="3165231" cy="3572933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2071671-0DB9-0BEC-9DE3-6E11502E9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6" b="11112"/>
          <a:stretch>
            <a:fillRect/>
          </a:stretch>
        </p:blipFill>
        <p:spPr>
          <a:xfrm>
            <a:off x="5825715" y="575730"/>
            <a:ext cx="3165231" cy="546946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92712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34BFFF4-307F-2DD5-076F-ABBA9E993D6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6" b="11112"/>
          <a:stretch>
            <a:fillRect/>
          </a:stretch>
        </p:blipFill>
        <p:spPr>
          <a:xfrm>
            <a:off x="4894382" y="575731"/>
            <a:ext cx="3165231" cy="546946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3" name="사각형: 둥근 위쪽 모서리 2">
            <a:extLst>
              <a:ext uri="{FF2B5EF4-FFF2-40B4-BE49-F238E27FC236}">
                <a16:creationId xmlns:a16="http://schemas.microsoft.com/office/drawing/2014/main" id="{BDAA3402-DEED-BA03-F2BF-E5252F2E2087}"/>
              </a:ext>
            </a:extLst>
          </p:cNvPr>
          <p:cNvSpPr/>
          <p:nvPr/>
        </p:nvSpPr>
        <p:spPr>
          <a:xfrm>
            <a:off x="4894382" y="2167467"/>
            <a:ext cx="3165231" cy="3877733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5A25CA9-C237-77D0-E5C0-001B2C6D7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6" b="11112"/>
          <a:stretch>
            <a:fillRect/>
          </a:stretch>
        </p:blipFill>
        <p:spPr>
          <a:xfrm>
            <a:off x="788048" y="575730"/>
            <a:ext cx="3165231" cy="546946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EF25E62-8D3D-A1D0-2ADC-72E51B44ED4C}"/>
              </a:ext>
            </a:extLst>
          </p:cNvPr>
          <p:cNvSpPr/>
          <p:nvPr/>
        </p:nvSpPr>
        <p:spPr>
          <a:xfrm>
            <a:off x="2294463" y="5105399"/>
            <a:ext cx="1582616" cy="601133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A115B3C-EC8A-814B-92C5-54BFEDA27AAA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3877079" y="5405965"/>
            <a:ext cx="93198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1A53CB4-833F-9A76-C2EB-5EA728F14E02}"/>
              </a:ext>
            </a:extLst>
          </p:cNvPr>
          <p:cNvSpPr txBox="1"/>
          <p:nvPr/>
        </p:nvSpPr>
        <p:spPr>
          <a:xfrm>
            <a:off x="8305800" y="2438401"/>
            <a:ext cx="22172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입력된 나이에 따라 타이틀 변경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DA0B33-F16C-EBE0-8130-7166F637CB7B}"/>
              </a:ext>
            </a:extLst>
          </p:cNvPr>
          <p:cNvSpPr txBox="1"/>
          <p:nvPr/>
        </p:nvSpPr>
        <p:spPr>
          <a:xfrm>
            <a:off x="8238066" y="3556000"/>
            <a:ext cx="22172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입력된 나이에 따라 타이틀 변경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EA0BBA5-52A8-D41C-5BA6-7FB2612F74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3" t="40795" r="87390" b="56626"/>
          <a:stretch>
            <a:fillRect/>
          </a:stretch>
        </p:blipFill>
        <p:spPr>
          <a:xfrm>
            <a:off x="10476506" y="2087032"/>
            <a:ext cx="1338365" cy="132926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A38BC3C-DE8F-9D33-BA7B-69D458DD13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3" t="40795" r="87390" b="56626"/>
          <a:stretch>
            <a:fillRect/>
          </a:stretch>
        </p:blipFill>
        <p:spPr>
          <a:xfrm>
            <a:off x="9853891" y="4563533"/>
            <a:ext cx="1338365" cy="132926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E60BC70-50BD-05F9-A300-B13BE00758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35" t="5678" r="7703" b="4259"/>
          <a:stretch>
            <a:fillRect/>
          </a:stretch>
        </p:blipFill>
        <p:spPr>
          <a:xfrm>
            <a:off x="5062069" y="2336924"/>
            <a:ext cx="356269" cy="363087"/>
          </a:xfrm>
          <a:prstGeom prst="ellipse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7D3301D-6CCE-3625-CDE2-9DF22E66853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61" t="5479" r="63819" b="11914"/>
          <a:stretch>
            <a:fillRect/>
          </a:stretch>
        </p:blipFill>
        <p:spPr>
          <a:xfrm>
            <a:off x="3657599" y="2654303"/>
            <a:ext cx="1236783" cy="128269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0100E55-CC89-39B5-0B45-2E968948372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4701" t="14395" r="2456" b="11531"/>
          <a:stretch>
            <a:fillRect/>
          </a:stretch>
        </p:blipFill>
        <p:spPr>
          <a:xfrm>
            <a:off x="6899701" y="2488343"/>
            <a:ext cx="1245227" cy="115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108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34BFFF4-307F-2DD5-076F-ABBA9E993D6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6" b="11112"/>
          <a:stretch>
            <a:fillRect/>
          </a:stretch>
        </p:blipFill>
        <p:spPr>
          <a:xfrm>
            <a:off x="4894382" y="575731"/>
            <a:ext cx="3165231" cy="546946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3" name="사각형: 둥근 위쪽 모서리 2">
            <a:extLst>
              <a:ext uri="{FF2B5EF4-FFF2-40B4-BE49-F238E27FC236}">
                <a16:creationId xmlns:a16="http://schemas.microsoft.com/office/drawing/2014/main" id="{BDAA3402-DEED-BA03-F2BF-E5252F2E2087}"/>
              </a:ext>
            </a:extLst>
          </p:cNvPr>
          <p:cNvSpPr/>
          <p:nvPr/>
        </p:nvSpPr>
        <p:spPr>
          <a:xfrm>
            <a:off x="4894382" y="2167467"/>
            <a:ext cx="3165231" cy="3877733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5A25CA9-C237-77D0-E5C0-001B2C6D7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6" b="11112"/>
          <a:stretch>
            <a:fillRect/>
          </a:stretch>
        </p:blipFill>
        <p:spPr>
          <a:xfrm>
            <a:off x="788048" y="575730"/>
            <a:ext cx="3165231" cy="546946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EF25E62-8D3D-A1D0-2ADC-72E51B44ED4C}"/>
              </a:ext>
            </a:extLst>
          </p:cNvPr>
          <p:cNvSpPr/>
          <p:nvPr/>
        </p:nvSpPr>
        <p:spPr>
          <a:xfrm>
            <a:off x="2294463" y="5105399"/>
            <a:ext cx="1582616" cy="601133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A115B3C-EC8A-814B-92C5-54BFEDA27AAA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3877079" y="5405965"/>
            <a:ext cx="93198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1A53CB4-833F-9A76-C2EB-5EA728F14E02}"/>
              </a:ext>
            </a:extLst>
          </p:cNvPr>
          <p:cNvSpPr txBox="1"/>
          <p:nvPr/>
        </p:nvSpPr>
        <p:spPr>
          <a:xfrm>
            <a:off x="8305800" y="2438401"/>
            <a:ext cx="22172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입력된 나이에 따라 타이틀 변경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DA0B33-F16C-EBE0-8130-7166F637CB7B}"/>
              </a:ext>
            </a:extLst>
          </p:cNvPr>
          <p:cNvSpPr txBox="1"/>
          <p:nvPr/>
        </p:nvSpPr>
        <p:spPr>
          <a:xfrm>
            <a:off x="8238066" y="3556000"/>
            <a:ext cx="22172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입력된 나이에 따라 타이틀 변경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EA0BBA5-52A8-D41C-5BA6-7FB2612F74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3" t="40795" r="87390" b="56626"/>
          <a:stretch>
            <a:fillRect/>
          </a:stretch>
        </p:blipFill>
        <p:spPr>
          <a:xfrm>
            <a:off x="10476506" y="2087032"/>
            <a:ext cx="1338365" cy="132926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A38BC3C-DE8F-9D33-BA7B-69D458DD13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3" t="40795" r="87390" b="56626"/>
          <a:stretch>
            <a:fillRect/>
          </a:stretch>
        </p:blipFill>
        <p:spPr>
          <a:xfrm>
            <a:off x="9853891" y="4563533"/>
            <a:ext cx="1338365" cy="1329267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0100E55-CC89-39B5-0B45-2E96894837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4701" t="14395" r="2456" b="11531"/>
          <a:stretch>
            <a:fillRect/>
          </a:stretch>
        </p:blipFill>
        <p:spPr>
          <a:xfrm>
            <a:off x="5053645" y="2360883"/>
            <a:ext cx="310284" cy="2866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3698DD-13EE-D263-7EB1-8BF9A413CEBC}"/>
              </a:ext>
            </a:extLst>
          </p:cNvPr>
          <p:cNvSpPr txBox="1"/>
          <p:nvPr/>
        </p:nvSpPr>
        <p:spPr>
          <a:xfrm>
            <a:off x="5363929" y="2287401"/>
            <a:ext cx="2695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200" b="1" spc="-100" dirty="0">
                <a:solidFill>
                  <a:srgbClr val="0070C0"/>
                </a:solidFill>
                <a:latin typeface="+mn-ea"/>
              </a:rPr>
              <a:t>대 여성 고객님</a:t>
            </a:r>
            <a:r>
              <a:rPr lang="en-US" altLang="ko-KR" sz="1200" b="1" spc="-100" dirty="0">
                <a:solidFill>
                  <a:srgbClr val="0070C0"/>
                </a:solidFill>
                <a:latin typeface="+mn-ea"/>
              </a:rPr>
              <a:t>!</a:t>
            </a:r>
          </a:p>
          <a:p>
            <a:r>
              <a:rPr lang="ko-KR" altLang="en-US" sz="1200" b="1" spc="-100" dirty="0">
                <a:latin typeface="+mn-ea"/>
              </a:rPr>
              <a:t>합리적인 보험료를 같이 찾아볼까요</a:t>
            </a:r>
            <a:r>
              <a:rPr lang="en-US" altLang="ko-KR" sz="1200" b="1" spc="-100" dirty="0">
                <a:latin typeface="+mn-ea"/>
              </a:rPr>
              <a:t>?</a:t>
            </a:r>
            <a:endParaRPr lang="ko-KR" altLang="en-US" sz="1200" b="1" spc="-1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6963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34BFFF4-307F-2DD5-076F-ABBA9E993D6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6" b="11112"/>
          <a:stretch>
            <a:fillRect/>
          </a:stretch>
        </p:blipFill>
        <p:spPr>
          <a:xfrm>
            <a:off x="4894382" y="575731"/>
            <a:ext cx="3165231" cy="546946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3" name="사각형: 둥근 위쪽 모서리 2">
            <a:extLst>
              <a:ext uri="{FF2B5EF4-FFF2-40B4-BE49-F238E27FC236}">
                <a16:creationId xmlns:a16="http://schemas.microsoft.com/office/drawing/2014/main" id="{BDAA3402-DEED-BA03-F2BF-E5252F2E2087}"/>
              </a:ext>
            </a:extLst>
          </p:cNvPr>
          <p:cNvSpPr/>
          <p:nvPr/>
        </p:nvSpPr>
        <p:spPr>
          <a:xfrm>
            <a:off x="4894382" y="2167467"/>
            <a:ext cx="3165231" cy="3877733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5A25CA9-C237-77D0-E5C0-001B2C6D7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6" b="11112"/>
          <a:stretch>
            <a:fillRect/>
          </a:stretch>
        </p:blipFill>
        <p:spPr>
          <a:xfrm>
            <a:off x="788048" y="575730"/>
            <a:ext cx="3165231" cy="546946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EF25E62-8D3D-A1D0-2ADC-72E51B44ED4C}"/>
              </a:ext>
            </a:extLst>
          </p:cNvPr>
          <p:cNvSpPr/>
          <p:nvPr/>
        </p:nvSpPr>
        <p:spPr>
          <a:xfrm>
            <a:off x="2294463" y="5105399"/>
            <a:ext cx="1582616" cy="601133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A115B3C-EC8A-814B-92C5-54BFEDA27AAA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3877079" y="5405965"/>
            <a:ext cx="93198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1A53CB4-833F-9A76-C2EB-5EA728F14E02}"/>
              </a:ext>
            </a:extLst>
          </p:cNvPr>
          <p:cNvSpPr txBox="1"/>
          <p:nvPr/>
        </p:nvSpPr>
        <p:spPr>
          <a:xfrm>
            <a:off x="8305800" y="2438401"/>
            <a:ext cx="22172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입력된 나이에 따라 타이틀 변경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DA0B33-F16C-EBE0-8130-7166F637CB7B}"/>
              </a:ext>
            </a:extLst>
          </p:cNvPr>
          <p:cNvSpPr txBox="1"/>
          <p:nvPr/>
        </p:nvSpPr>
        <p:spPr>
          <a:xfrm>
            <a:off x="8238066" y="3556000"/>
            <a:ext cx="22172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입력된 나이에 따라 타이틀 변경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EA0BBA5-52A8-D41C-5BA6-7FB2612F74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3" t="40795" r="87390" b="56626"/>
          <a:stretch>
            <a:fillRect/>
          </a:stretch>
        </p:blipFill>
        <p:spPr>
          <a:xfrm>
            <a:off x="10476506" y="2087032"/>
            <a:ext cx="1338365" cy="132926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A38BC3C-DE8F-9D33-BA7B-69D458DD13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3" t="40795" r="87390" b="56626"/>
          <a:stretch>
            <a:fillRect/>
          </a:stretch>
        </p:blipFill>
        <p:spPr>
          <a:xfrm>
            <a:off x="9853891" y="4563533"/>
            <a:ext cx="1338365" cy="1329267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0100E55-CC89-39B5-0B45-2E96894837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4701" t="14395" r="2456" b="11531"/>
          <a:stretch>
            <a:fillRect/>
          </a:stretch>
        </p:blipFill>
        <p:spPr>
          <a:xfrm>
            <a:off x="5045178" y="2360883"/>
            <a:ext cx="310284" cy="2866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3698DD-13EE-D263-7EB1-8BF9A413CEBC}"/>
              </a:ext>
            </a:extLst>
          </p:cNvPr>
          <p:cNvSpPr txBox="1"/>
          <p:nvPr/>
        </p:nvSpPr>
        <p:spPr>
          <a:xfrm>
            <a:off x="5363929" y="2287401"/>
            <a:ext cx="2695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200" b="1" spc="-100" dirty="0">
                <a:solidFill>
                  <a:srgbClr val="0070C0"/>
                </a:solidFill>
                <a:latin typeface="+mn-ea"/>
              </a:rPr>
              <a:t>대 여성 고객님을</a:t>
            </a:r>
            <a:r>
              <a:rPr lang="en-US" altLang="ko-KR" sz="1200" b="1" spc="-100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1200" b="1" spc="-100" dirty="0">
                <a:solidFill>
                  <a:srgbClr val="0070C0"/>
                </a:solidFill>
                <a:latin typeface="+mn-ea"/>
              </a:rPr>
              <a:t>위한</a:t>
            </a:r>
            <a:endParaRPr lang="en-US" altLang="ko-KR" sz="1200" b="1" spc="-100" dirty="0">
              <a:solidFill>
                <a:srgbClr val="0070C0"/>
              </a:solidFill>
              <a:latin typeface="+mn-ea"/>
            </a:endParaRPr>
          </a:p>
          <a:p>
            <a:r>
              <a:rPr lang="ko-KR" altLang="en-US" sz="1200" b="1" spc="-100" dirty="0">
                <a:latin typeface="+mn-ea"/>
              </a:rPr>
              <a:t>합리적인 보험료를 같이 찾아볼까요</a:t>
            </a:r>
            <a:r>
              <a:rPr lang="en-US" altLang="ko-KR" sz="1200" b="1" spc="-100" dirty="0">
                <a:latin typeface="+mn-ea"/>
              </a:rPr>
              <a:t>?</a:t>
            </a:r>
            <a:endParaRPr lang="ko-KR" altLang="en-US" sz="1200" b="1" spc="-100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7E18FBA-23A9-D764-DF8C-EF3E5C2EB1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717" y="33010"/>
            <a:ext cx="31652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407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34BFFF4-307F-2DD5-076F-ABBA9E993D6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6" b="11112"/>
          <a:stretch>
            <a:fillRect/>
          </a:stretch>
        </p:blipFill>
        <p:spPr>
          <a:xfrm>
            <a:off x="4894382" y="575731"/>
            <a:ext cx="3165231" cy="546946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3" name="사각형: 둥근 위쪽 모서리 2">
            <a:extLst>
              <a:ext uri="{FF2B5EF4-FFF2-40B4-BE49-F238E27FC236}">
                <a16:creationId xmlns:a16="http://schemas.microsoft.com/office/drawing/2014/main" id="{BDAA3402-DEED-BA03-F2BF-E5252F2E2087}"/>
              </a:ext>
            </a:extLst>
          </p:cNvPr>
          <p:cNvSpPr/>
          <p:nvPr/>
        </p:nvSpPr>
        <p:spPr>
          <a:xfrm>
            <a:off x="4894382" y="2167467"/>
            <a:ext cx="3165231" cy="3877733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5A25CA9-C237-77D0-E5C0-001B2C6D7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6" b="11112"/>
          <a:stretch>
            <a:fillRect/>
          </a:stretch>
        </p:blipFill>
        <p:spPr>
          <a:xfrm>
            <a:off x="788048" y="575730"/>
            <a:ext cx="3165231" cy="546946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EF25E62-8D3D-A1D0-2ADC-72E51B44ED4C}"/>
              </a:ext>
            </a:extLst>
          </p:cNvPr>
          <p:cNvSpPr/>
          <p:nvPr/>
        </p:nvSpPr>
        <p:spPr>
          <a:xfrm>
            <a:off x="2294463" y="5105399"/>
            <a:ext cx="1582616" cy="601133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A115B3C-EC8A-814B-92C5-54BFEDA27AAA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3877079" y="5405965"/>
            <a:ext cx="931988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C0100E55-CC89-39B5-0B45-2E96894837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5045178" y="2360883"/>
            <a:ext cx="310284" cy="2866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3698DD-13EE-D263-7EB1-8BF9A413CEBC}"/>
              </a:ext>
            </a:extLst>
          </p:cNvPr>
          <p:cNvSpPr txBox="1"/>
          <p:nvPr/>
        </p:nvSpPr>
        <p:spPr>
          <a:xfrm>
            <a:off x="5363929" y="2287401"/>
            <a:ext cx="2695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spc="-100" dirty="0">
                <a:solidFill>
                  <a:srgbClr val="0070C0"/>
                </a:solidFill>
                <a:latin typeface="+mn-ea"/>
              </a:rPr>
              <a:t>40</a:t>
            </a:r>
            <a:r>
              <a:rPr lang="ko-KR" altLang="en-US" sz="1200" b="1" spc="-100" dirty="0">
                <a:solidFill>
                  <a:srgbClr val="0070C0"/>
                </a:solidFill>
                <a:latin typeface="+mn-ea"/>
              </a:rPr>
              <a:t>대 남성 고객님 에게 </a:t>
            </a:r>
            <a:r>
              <a:rPr lang="ko-KR" altLang="en-US" sz="1200" b="1" spc="-100" dirty="0" err="1">
                <a:solidFill>
                  <a:srgbClr val="0070C0"/>
                </a:solidFill>
                <a:latin typeface="+mn-ea"/>
              </a:rPr>
              <a:t>딱맞는</a:t>
            </a:r>
            <a:endParaRPr lang="en-US" altLang="ko-KR" sz="1200" b="1" spc="-100" dirty="0">
              <a:solidFill>
                <a:srgbClr val="0070C0"/>
              </a:solidFill>
              <a:latin typeface="+mn-ea"/>
            </a:endParaRPr>
          </a:p>
          <a:p>
            <a:r>
              <a:rPr lang="ko-KR" altLang="en-US" sz="1200" b="1" spc="-100" dirty="0">
                <a:latin typeface="+mn-ea"/>
              </a:rPr>
              <a:t>합리적인 보험료를 같이 알아볼까요</a:t>
            </a:r>
            <a:r>
              <a:rPr lang="en-US" altLang="ko-KR" sz="1200" b="1" spc="-100" dirty="0">
                <a:latin typeface="+mn-ea"/>
              </a:rPr>
              <a:t>?</a:t>
            </a:r>
            <a:endParaRPr lang="ko-KR" altLang="en-US" sz="1200" b="1" spc="-100" dirty="0">
              <a:latin typeface="+mn-ea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995CD6C-D829-B6D7-62DF-8FD8D88FB77E}"/>
              </a:ext>
            </a:extLst>
          </p:cNvPr>
          <p:cNvSpPr/>
          <p:nvPr/>
        </p:nvSpPr>
        <p:spPr>
          <a:xfrm>
            <a:off x="5162220" y="3596559"/>
            <a:ext cx="2670072" cy="62501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3~5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707A1FC-5C96-23BA-E43E-02389A48FB37}"/>
              </a:ext>
            </a:extLst>
          </p:cNvPr>
          <p:cNvSpPr/>
          <p:nvPr/>
        </p:nvSpPr>
        <p:spPr>
          <a:xfrm>
            <a:off x="5162220" y="4316546"/>
            <a:ext cx="2670072" cy="62501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5~10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CE0CEC9-5130-46E5-EBB2-DC039B3C4CD2}"/>
              </a:ext>
            </a:extLst>
          </p:cNvPr>
          <p:cNvSpPr/>
          <p:nvPr/>
        </p:nvSpPr>
        <p:spPr>
          <a:xfrm>
            <a:off x="5162220" y="5036533"/>
            <a:ext cx="2670072" cy="62501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만원이상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CFD1F4-C1B5-7CB5-0E2F-282B986486EB}"/>
              </a:ext>
            </a:extLst>
          </p:cNvPr>
          <p:cNvSpPr txBox="1"/>
          <p:nvPr/>
        </p:nvSpPr>
        <p:spPr>
          <a:xfrm>
            <a:off x="5162220" y="2967335"/>
            <a:ext cx="2695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100" dirty="0">
                <a:latin typeface="+mn-ea"/>
              </a:rPr>
              <a:t>매월 보험료는</a:t>
            </a:r>
            <a:endParaRPr lang="en-US" altLang="ko-KR" sz="1600" b="1" spc="-100" dirty="0">
              <a:latin typeface="+mn-ea"/>
            </a:endParaRPr>
          </a:p>
          <a:p>
            <a:r>
              <a:rPr lang="ko-KR" altLang="en-US" sz="1600" b="1" spc="-100" dirty="0">
                <a:latin typeface="+mn-ea"/>
              </a:rPr>
              <a:t>최대 얼마정도 생각하세요</a:t>
            </a:r>
            <a:r>
              <a:rPr lang="en-US" altLang="ko-KR" sz="1600" b="1" spc="-100" dirty="0">
                <a:latin typeface="+mn-ea"/>
              </a:rPr>
              <a:t>?</a:t>
            </a:r>
            <a:endParaRPr lang="ko-KR" altLang="en-US" sz="1600" b="1" spc="-100" dirty="0"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37C5AF-86D4-B895-7F9C-02D46A12488A}"/>
              </a:ext>
            </a:extLst>
          </p:cNvPr>
          <p:cNvSpPr txBox="1"/>
          <p:nvPr/>
        </p:nvSpPr>
        <p:spPr>
          <a:xfrm>
            <a:off x="6201175" y="5544530"/>
            <a:ext cx="1285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pc="-15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</a:t>
            </a:r>
            <a:r>
              <a:rPr lang="en-US" altLang="ko-KR" sz="2400" b="1" spc="-15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 . .</a:t>
            </a:r>
            <a:endParaRPr lang="ko-KR" altLang="en-US" sz="2400" b="1" spc="-15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2E18456-C0B5-08B0-C9BD-B9F18CBA24CB}"/>
              </a:ext>
            </a:extLst>
          </p:cNvPr>
          <p:cNvSpPr/>
          <p:nvPr/>
        </p:nvSpPr>
        <p:spPr>
          <a:xfrm>
            <a:off x="6610351" y="4528243"/>
            <a:ext cx="1030598" cy="211171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900" b="1" dirty="0"/>
              <a:t>65% </a:t>
            </a:r>
            <a:r>
              <a:rPr lang="ko-KR" altLang="en-US" sz="900" b="1" dirty="0"/>
              <a:t>고객의 선택</a:t>
            </a:r>
          </a:p>
        </p:txBody>
      </p:sp>
    </p:spTree>
    <p:extLst>
      <p:ext uri="{BB962C8B-B14F-4D97-AF65-F5344CB8AC3E}">
        <p14:creationId xmlns:p14="http://schemas.microsoft.com/office/powerpoint/2010/main" val="691719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34BFFF4-307F-2DD5-076F-ABBA9E993D6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6" b="11112"/>
          <a:stretch>
            <a:fillRect/>
          </a:stretch>
        </p:blipFill>
        <p:spPr>
          <a:xfrm>
            <a:off x="522407" y="575731"/>
            <a:ext cx="3165231" cy="546946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3" name="사각형: 둥근 위쪽 모서리 2">
            <a:extLst>
              <a:ext uri="{FF2B5EF4-FFF2-40B4-BE49-F238E27FC236}">
                <a16:creationId xmlns:a16="http://schemas.microsoft.com/office/drawing/2014/main" id="{BDAA3402-DEED-BA03-F2BF-E5252F2E2087}"/>
              </a:ext>
            </a:extLst>
          </p:cNvPr>
          <p:cNvSpPr/>
          <p:nvPr/>
        </p:nvSpPr>
        <p:spPr>
          <a:xfrm>
            <a:off x="522407" y="1923235"/>
            <a:ext cx="3165231" cy="4121966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0100E55-CC89-39B5-0B45-2E96894837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673203" y="2099764"/>
            <a:ext cx="310284" cy="2866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3698DD-13EE-D263-7EB1-8BF9A413CEBC}"/>
              </a:ext>
            </a:extLst>
          </p:cNvPr>
          <p:cNvSpPr txBox="1"/>
          <p:nvPr/>
        </p:nvSpPr>
        <p:spPr>
          <a:xfrm>
            <a:off x="991954" y="2026282"/>
            <a:ext cx="2695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200" b="1" spc="-100" dirty="0">
                <a:solidFill>
                  <a:srgbClr val="0070C0"/>
                </a:solidFill>
                <a:latin typeface="+mn-ea"/>
              </a:rPr>
              <a:t>대 여성 고객님 </a:t>
            </a:r>
            <a:r>
              <a:rPr lang="ko-KR" altLang="en-US" sz="1200" spc="-100" dirty="0">
                <a:latin typeface="+mn-ea"/>
              </a:rPr>
              <a:t>에게 </a:t>
            </a:r>
            <a:r>
              <a:rPr lang="ko-KR" altLang="en-US" sz="1200" spc="-100" dirty="0" err="1">
                <a:latin typeface="+mn-ea"/>
              </a:rPr>
              <a:t>딱맞는</a:t>
            </a:r>
            <a:endParaRPr lang="en-US" altLang="ko-KR" sz="1200" spc="-100" dirty="0">
              <a:latin typeface="+mn-ea"/>
            </a:endParaRPr>
          </a:p>
          <a:p>
            <a:r>
              <a:rPr lang="ko-KR" altLang="en-US" sz="1200" spc="-100" dirty="0">
                <a:latin typeface="+mn-ea"/>
              </a:rPr>
              <a:t>합리적인 보험료를 같이 알아볼까요</a:t>
            </a:r>
            <a:r>
              <a:rPr lang="en-US" altLang="ko-KR" sz="1200" spc="-100" dirty="0">
                <a:latin typeface="+mn-ea"/>
              </a:rPr>
              <a:t>?</a:t>
            </a:r>
            <a:endParaRPr lang="ko-KR" altLang="en-US" sz="1200" spc="-100" dirty="0">
              <a:latin typeface="+mn-ea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995CD6C-D829-B6D7-62DF-8FD8D88FB77E}"/>
              </a:ext>
            </a:extLst>
          </p:cNvPr>
          <p:cNvSpPr/>
          <p:nvPr/>
        </p:nvSpPr>
        <p:spPr>
          <a:xfrm>
            <a:off x="771195" y="337636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3~5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707A1FC-5C96-23BA-E43E-02389A48FB37}"/>
              </a:ext>
            </a:extLst>
          </p:cNvPr>
          <p:cNvSpPr/>
          <p:nvPr/>
        </p:nvSpPr>
        <p:spPr>
          <a:xfrm>
            <a:off x="771195" y="3991579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5~10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CE0CEC9-5130-46E5-EBB2-DC039B3C4CD2}"/>
              </a:ext>
            </a:extLst>
          </p:cNvPr>
          <p:cNvSpPr/>
          <p:nvPr/>
        </p:nvSpPr>
        <p:spPr>
          <a:xfrm>
            <a:off x="771195" y="4606791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만원이상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CFD1F4-C1B5-7CB5-0E2F-282B986486EB}"/>
              </a:ext>
            </a:extLst>
          </p:cNvPr>
          <p:cNvSpPr txBox="1"/>
          <p:nvPr/>
        </p:nvSpPr>
        <p:spPr>
          <a:xfrm>
            <a:off x="771195" y="2747143"/>
            <a:ext cx="2695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100" dirty="0">
                <a:latin typeface="+mn-ea"/>
              </a:rPr>
              <a:t>매월 보험료는</a:t>
            </a:r>
            <a:endParaRPr lang="en-US" altLang="ko-KR" sz="1600" b="1" spc="-100" dirty="0">
              <a:latin typeface="+mn-ea"/>
            </a:endParaRPr>
          </a:p>
          <a:p>
            <a:r>
              <a:rPr lang="ko-KR" altLang="en-US" sz="1600" b="1" spc="-100" dirty="0">
                <a:latin typeface="+mn-ea"/>
              </a:rPr>
              <a:t>얼마정도 생각하세요</a:t>
            </a:r>
            <a:r>
              <a:rPr lang="en-US" altLang="ko-KR" sz="1600" b="1" spc="-100" dirty="0">
                <a:latin typeface="+mn-ea"/>
              </a:rPr>
              <a:t>?</a:t>
            </a:r>
            <a:endParaRPr lang="ko-KR" altLang="en-US" sz="1600" b="1" spc="-100" dirty="0"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37C5AF-86D4-B895-7F9C-02D46A12488A}"/>
              </a:ext>
            </a:extLst>
          </p:cNvPr>
          <p:cNvSpPr txBox="1"/>
          <p:nvPr/>
        </p:nvSpPr>
        <p:spPr>
          <a:xfrm>
            <a:off x="1374693" y="5493063"/>
            <a:ext cx="1285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</a:t>
            </a:r>
            <a:r>
              <a:rPr lang="en-US" altLang="ko-KR" sz="2400" b="1" spc="-15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 . .</a:t>
            </a:r>
            <a:endParaRPr lang="ko-KR" altLang="en-US" sz="2400" b="1" spc="-15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2E18456-C0B5-08B0-C9BD-B9F18CBA24CB}"/>
              </a:ext>
            </a:extLst>
          </p:cNvPr>
          <p:cNvSpPr/>
          <p:nvPr/>
        </p:nvSpPr>
        <p:spPr>
          <a:xfrm>
            <a:off x="2293735" y="4149516"/>
            <a:ext cx="1030598" cy="211171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900" b="1" dirty="0"/>
              <a:t>65% </a:t>
            </a:r>
            <a:r>
              <a:rPr lang="ko-KR" altLang="en-US" sz="900" b="1" dirty="0"/>
              <a:t>고객의 선택</a:t>
            </a:r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A4A4C299-E21F-D5D8-88F9-EF07D309FF8B}"/>
              </a:ext>
            </a:extLst>
          </p:cNvPr>
          <p:cNvSpPr/>
          <p:nvPr/>
        </p:nvSpPr>
        <p:spPr>
          <a:xfrm>
            <a:off x="4062788" y="1933576"/>
            <a:ext cx="3165231" cy="4121966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C0829B7-7D49-1377-AA28-19E9C758C1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4180521" y="2099764"/>
            <a:ext cx="310284" cy="286607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7E9C4B2-9DA7-C9BD-7F8C-40FA725606BE}"/>
              </a:ext>
            </a:extLst>
          </p:cNvPr>
          <p:cNvSpPr/>
          <p:nvPr/>
        </p:nvSpPr>
        <p:spPr>
          <a:xfrm>
            <a:off x="4297563" y="337636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암에 </a:t>
            </a:r>
            <a:r>
              <a:rPr lang="ko-KR" alt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걸릴까봐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걱정돼요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3AABEF2-E90B-0278-8028-4F08D66D133A}"/>
              </a:ext>
            </a:extLst>
          </p:cNvPr>
          <p:cNvSpPr/>
          <p:nvPr/>
        </p:nvSpPr>
        <p:spPr>
          <a:xfrm>
            <a:off x="4297563" y="394996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뇌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심장의 혈관 질환이 불안해요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A01D3CF-6CFC-A0FC-D6CE-CCABB87D33CF}"/>
              </a:ext>
            </a:extLst>
          </p:cNvPr>
          <p:cNvSpPr/>
          <p:nvPr/>
        </p:nvSpPr>
        <p:spPr>
          <a:xfrm>
            <a:off x="4297563" y="452356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나이들어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치매가 염려돼요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2FE964-E122-902E-B8A2-2945517CE601}"/>
              </a:ext>
            </a:extLst>
          </p:cNvPr>
          <p:cNvSpPr txBox="1"/>
          <p:nvPr/>
        </p:nvSpPr>
        <p:spPr>
          <a:xfrm>
            <a:off x="4297563" y="2747143"/>
            <a:ext cx="2695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100" dirty="0">
                <a:latin typeface="+mn-ea"/>
              </a:rPr>
              <a:t>어떤 상황을</a:t>
            </a:r>
            <a:endParaRPr lang="en-US" altLang="ko-KR" sz="1600" b="1" spc="-100" dirty="0">
              <a:latin typeface="+mn-ea"/>
            </a:endParaRPr>
          </a:p>
          <a:p>
            <a:r>
              <a:rPr lang="ko-KR" altLang="en-US" sz="1600" b="1" spc="-100" dirty="0">
                <a:latin typeface="+mn-ea"/>
              </a:rPr>
              <a:t>가장 대비하고 </a:t>
            </a:r>
            <a:r>
              <a:rPr lang="ko-KR" altLang="en-US" sz="1600" b="1" spc="-100" dirty="0" err="1">
                <a:latin typeface="+mn-ea"/>
              </a:rPr>
              <a:t>싶으세요</a:t>
            </a:r>
            <a:r>
              <a:rPr lang="en-US" altLang="ko-KR" sz="1600" b="1" spc="-100" dirty="0">
                <a:latin typeface="+mn-ea"/>
              </a:rPr>
              <a:t>?</a:t>
            </a:r>
            <a:r>
              <a:rPr lang="ko-KR" altLang="en-US" sz="1600" b="1" spc="-100" dirty="0">
                <a:latin typeface="+mn-ea"/>
              </a:rPr>
              <a:t> 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A29047F-ABAF-E02F-DBE7-2558FBDEC9F0}"/>
              </a:ext>
            </a:extLst>
          </p:cNvPr>
          <p:cNvSpPr/>
          <p:nvPr/>
        </p:nvSpPr>
        <p:spPr>
          <a:xfrm>
            <a:off x="4297563" y="5097166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골고루 대비하고 싶어요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BAF5C2-4BF6-7F6F-8E5B-F01DCA507EC7}"/>
              </a:ext>
            </a:extLst>
          </p:cNvPr>
          <p:cNvSpPr txBox="1"/>
          <p:nvPr/>
        </p:nvSpPr>
        <p:spPr>
          <a:xfrm>
            <a:off x="4975492" y="5493063"/>
            <a:ext cx="1285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</a:t>
            </a:r>
            <a:r>
              <a:rPr lang="en-US" altLang="ko-KR" sz="2400" b="1" spc="-15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 </a:t>
            </a:r>
            <a:r>
              <a:rPr lang="en-US" altLang="ko-KR" sz="2400" b="1" spc="-15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</a:t>
            </a:r>
            <a:r>
              <a:rPr lang="en-US" altLang="ko-KR" sz="2400" b="1" spc="-15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 .</a:t>
            </a:r>
            <a:endParaRPr lang="ko-KR" altLang="en-US" sz="2400" b="1" spc="-15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28" name="사각형: 둥근 위쪽 모서리 27">
            <a:extLst>
              <a:ext uri="{FF2B5EF4-FFF2-40B4-BE49-F238E27FC236}">
                <a16:creationId xmlns:a16="http://schemas.microsoft.com/office/drawing/2014/main" id="{2033833E-9073-7567-62A7-9B538E119A36}"/>
              </a:ext>
            </a:extLst>
          </p:cNvPr>
          <p:cNvSpPr/>
          <p:nvPr/>
        </p:nvSpPr>
        <p:spPr>
          <a:xfrm>
            <a:off x="7603169" y="1933576"/>
            <a:ext cx="3165231" cy="4121966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27B812C5-5D18-5BA3-4D65-217892D9BB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7720902" y="2099764"/>
            <a:ext cx="310284" cy="28660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CE8E9C6-FE26-0F78-68C2-5B9B120906D4}"/>
              </a:ext>
            </a:extLst>
          </p:cNvPr>
          <p:cNvSpPr txBox="1"/>
          <p:nvPr/>
        </p:nvSpPr>
        <p:spPr>
          <a:xfrm>
            <a:off x="7837944" y="2747143"/>
            <a:ext cx="26956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spc="-100" dirty="0">
                <a:solidFill>
                  <a:srgbClr val="0070C0"/>
                </a:solidFill>
                <a:latin typeface="+mn-ea"/>
              </a:rPr>
              <a:t>생각하신 보험료 수준에서</a:t>
            </a:r>
            <a:endParaRPr lang="en-US" altLang="ko-KR" sz="1400" b="1" spc="-100" dirty="0">
              <a:solidFill>
                <a:srgbClr val="0070C0"/>
              </a:solidFill>
              <a:latin typeface="+mn-ea"/>
            </a:endParaRPr>
          </a:p>
          <a:p>
            <a:r>
              <a:rPr lang="ko-KR" altLang="en-US" sz="1400" b="1" spc="-100" dirty="0">
                <a:solidFill>
                  <a:srgbClr val="0070C0"/>
                </a:solidFill>
                <a:latin typeface="+mn-ea"/>
              </a:rPr>
              <a:t>암 진단</a:t>
            </a:r>
            <a:r>
              <a:rPr lang="ko-KR" altLang="en-US" sz="1400" b="1" spc="-100" dirty="0">
                <a:latin typeface="+mn-ea"/>
              </a:rPr>
              <a:t> 받았을 때</a:t>
            </a:r>
            <a:r>
              <a:rPr lang="en-US" altLang="ko-KR" sz="1400" b="1" spc="-100" dirty="0">
                <a:latin typeface="+mn-ea"/>
              </a:rPr>
              <a:t>, </a:t>
            </a:r>
          </a:p>
          <a:p>
            <a:r>
              <a:rPr lang="ko-KR" altLang="en-US" sz="1400" b="1" spc="-100" dirty="0">
                <a:solidFill>
                  <a:srgbClr val="0070C0"/>
                </a:solidFill>
                <a:latin typeface="+mn-ea"/>
              </a:rPr>
              <a:t>암 치료 </a:t>
            </a:r>
            <a:r>
              <a:rPr lang="ko-KR" altLang="en-US" sz="1400" b="1" spc="-100" dirty="0">
                <a:latin typeface="+mn-ea"/>
              </a:rPr>
              <a:t>잘 받기위해</a:t>
            </a:r>
            <a:endParaRPr lang="en-US" altLang="ko-KR" sz="1400" b="1" spc="-100" dirty="0">
              <a:latin typeface="+mn-ea"/>
            </a:endParaRPr>
          </a:p>
          <a:p>
            <a:endParaRPr lang="en-US" altLang="ko-KR" sz="1400" b="1" spc="-100" dirty="0">
              <a:latin typeface="+mn-ea"/>
            </a:endParaRPr>
          </a:p>
          <a:p>
            <a:r>
              <a:rPr lang="ko-KR" altLang="en-US" sz="1400" b="1" spc="-100" dirty="0">
                <a:latin typeface="+mn-ea"/>
              </a:rPr>
              <a:t>더 든든하게 대비하실 수</a:t>
            </a:r>
            <a:endParaRPr lang="en-US" altLang="ko-KR" sz="1400" b="1" spc="-100" dirty="0">
              <a:latin typeface="+mn-ea"/>
            </a:endParaRPr>
          </a:p>
          <a:p>
            <a:r>
              <a:rPr lang="ko-KR" altLang="en-US" sz="1400" b="1" spc="-100" dirty="0">
                <a:latin typeface="+mn-ea"/>
              </a:rPr>
              <a:t>있도록 설계해 보았어요 </a:t>
            </a:r>
            <a:endParaRPr lang="en-US" altLang="ko-KR" sz="1400" b="1" spc="-100" dirty="0">
              <a:latin typeface="+mn-ea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76F43C5-4079-E951-5FF6-1B916CFD299F}"/>
              </a:ext>
            </a:extLst>
          </p:cNvPr>
          <p:cNvSpPr/>
          <p:nvPr/>
        </p:nvSpPr>
        <p:spPr>
          <a:xfrm>
            <a:off x="7837944" y="4757567"/>
            <a:ext cx="2670072" cy="468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보험료 확인하고 바로 가입하기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38A35B-A206-2659-8511-F62A50369CBE}"/>
              </a:ext>
            </a:extLst>
          </p:cNvPr>
          <p:cNvSpPr txBox="1"/>
          <p:nvPr/>
        </p:nvSpPr>
        <p:spPr>
          <a:xfrm>
            <a:off x="7812333" y="4459579"/>
            <a:ext cx="26956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pc="-100" dirty="0" err="1">
                <a:solidFill>
                  <a:srgbClr val="7030A0"/>
                </a:solidFill>
                <a:latin typeface="+mn-ea"/>
              </a:rPr>
              <a:t>가입후</a:t>
            </a:r>
            <a:r>
              <a:rPr lang="ko-KR" altLang="en-US" sz="1100" spc="-100" dirty="0">
                <a:solidFill>
                  <a:srgbClr val="7030A0"/>
                </a:solidFill>
                <a:latin typeface="+mn-ea"/>
              </a:rPr>
              <a:t> </a:t>
            </a:r>
            <a:r>
              <a:rPr lang="en-US" altLang="ko-KR" sz="1100" spc="-100" dirty="0">
                <a:solidFill>
                  <a:srgbClr val="7030A0"/>
                </a:solidFill>
                <a:latin typeface="+mn-ea"/>
              </a:rPr>
              <a:t>30</a:t>
            </a:r>
            <a:r>
              <a:rPr lang="ko-KR" altLang="en-US" sz="1100" spc="-100" dirty="0">
                <a:solidFill>
                  <a:srgbClr val="7030A0"/>
                </a:solidFill>
                <a:latin typeface="+mn-ea"/>
              </a:rPr>
              <a:t>일 내 언제든 무료취소가 가능해요</a:t>
            </a:r>
            <a:r>
              <a:rPr lang="en-US" altLang="ko-KR" sz="1100" spc="-100" dirty="0">
                <a:solidFill>
                  <a:srgbClr val="7030A0"/>
                </a:solidFill>
                <a:latin typeface="+mn-ea"/>
              </a:rPr>
              <a:t>!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588B2F12-C257-0B71-B49E-08E048573D94}"/>
              </a:ext>
            </a:extLst>
          </p:cNvPr>
          <p:cNvSpPr/>
          <p:nvPr/>
        </p:nvSpPr>
        <p:spPr>
          <a:xfrm>
            <a:off x="7837944" y="5337482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설계내용 상세보기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95A426-0649-68CF-7815-5D2179BFF6EF}"/>
              </a:ext>
            </a:extLst>
          </p:cNvPr>
          <p:cNvSpPr txBox="1"/>
          <p:nvPr/>
        </p:nvSpPr>
        <p:spPr>
          <a:xfrm>
            <a:off x="4511570" y="2026282"/>
            <a:ext cx="2695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200" b="1" spc="-100" dirty="0">
                <a:solidFill>
                  <a:srgbClr val="0070C0"/>
                </a:solidFill>
                <a:latin typeface="+mn-ea"/>
              </a:rPr>
              <a:t>대 여성 고객님 </a:t>
            </a:r>
            <a:r>
              <a:rPr lang="ko-KR" altLang="en-US" sz="1200" spc="-100" dirty="0">
                <a:latin typeface="+mn-ea"/>
              </a:rPr>
              <a:t>에게 </a:t>
            </a:r>
            <a:r>
              <a:rPr lang="ko-KR" altLang="en-US" sz="1200" spc="-100" dirty="0" err="1">
                <a:latin typeface="+mn-ea"/>
              </a:rPr>
              <a:t>딱맞는</a:t>
            </a:r>
            <a:endParaRPr lang="en-US" altLang="ko-KR" sz="1200" spc="-100" dirty="0">
              <a:latin typeface="+mn-ea"/>
            </a:endParaRPr>
          </a:p>
          <a:p>
            <a:r>
              <a:rPr lang="ko-KR" altLang="en-US" sz="1200" spc="-100" dirty="0">
                <a:latin typeface="+mn-ea"/>
              </a:rPr>
              <a:t>합리적인 보험료를 같이 알아볼까요</a:t>
            </a:r>
            <a:r>
              <a:rPr lang="en-US" altLang="ko-KR" sz="1200" spc="-100" dirty="0">
                <a:latin typeface="+mn-ea"/>
              </a:rPr>
              <a:t>?</a:t>
            </a:r>
            <a:endParaRPr lang="ko-KR" altLang="en-US" sz="1200" spc="-100" dirty="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CBE8AB-E569-87B8-FE9F-4ACF6C97C824}"/>
              </a:ext>
            </a:extLst>
          </p:cNvPr>
          <p:cNvSpPr txBox="1"/>
          <p:nvPr/>
        </p:nvSpPr>
        <p:spPr>
          <a:xfrm>
            <a:off x="8051951" y="2026282"/>
            <a:ext cx="2695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200" b="1" spc="-100" dirty="0">
                <a:solidFill>
                  <a:srgbClr val="0070C0"/>
                </a:solidFill>
                <a:latin typeface="+mn-ea"/>
              </a:rPr>
              <a:t>대 여성 고객님 </a:t>
            </a:r>
            <a:r>
              <a:rPr lang="ko-KR" altLang="en-US" sz="1200" spc="-100" dirty="0">
                <a:latin typeface="+mn-ea"/>
              </a:rPr>
              <a:t>에게 </a:t>
            </a:r>
            <a:r>
              <a:rPr lang="ko-KR" altLang="en-US" sz="1200" spc="-100" dirty="0" err="1">
                <a:latin typeface="+mn-ea"/>
              </a:rPr>
              <a:t>딱맞는</a:t>
            </a:r>
            <a:endParaRPr lang="en-US" altLang="ko-KR" sz="1200" spc="-100" dirty="0">
              <a:latin typeface="+mn-ea"/>
            </a:endParaRPr>
          </a:p>
          <a:p>
            <a:r>
              <a:rPr lang="ko-KR" altLang="en-US" sz="1200" spc="-100" dirty="0">
                <a:latin typeface="+mn-ea"/>
              </a:rPr>
              <a:t>합리적인 보험료를 같이 알아볼까요</a:t>
            </a:r>
            <a:r>
              <a:rPr lang="en-US" altLang="ko-KR" sz="1200" spc="-100" dirty="0">
                <a:latin typeface="+mn-ea"/>
              </a:rPr>
              <a:t>?</a:t>
            </a:r>
            <a:endParaRPr lang="ko-KR" altLang="en-US" sz="1200" spc="-100" dirty="0">
              <a:latin typeface="+mn-ea"/>
            </a:endParaRPr>
          </a:p>
        </p:txBody>
      </p:sp>
      <p:sp>
        <p:nvSpPr>
          <p:cNvPr id="42" name="사각형: 둥근 위쪽 모서리 41">
            <a:extLst>
              <a:ext uri="{FF2B5EF4-FFF2-40B4-BE49-F238E27FC236}">
                <a16:creationId xmlns:a16="http://schemas.microsoft.com/office/drawing/2014/main" id="{7D01404D-0FFA-C2FC-73E9-C44151E956AE}"/>
              </a:ext>
            </a:extLst>
          </p:cNvPr>
          <p:cNvSpPr/>
          <p:nvPr/>
        </p:nvSpPr>
        <p:spPr>
          <a:xfrm>
            <a:off x="11143550" y="1933576"/>
            <a:ext cx="3165231" cy="4121966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6F402B8C-C70B-AA5D-C4A0-215425BFD0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11261283" y="2099764"/>
            <a:ext cx="310284" cy="286607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83CF0698-925B-31F5-2568-F3627AA7FA89}"/>
              </a:ext>
            </a:extLst>
          </p:cNvPr>
          <p:cNvSpPr txBox="1"/>
          <p:nvPr/>
        </p:nvSpPr>
        <p:spPr>
          <a:xfrm>
            <a:off x="11378325" y="2747143"/>
            <a:ext cx="26956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100" dirty="0">
                <a:solidFill>
                  <a:srgbClr val="0070C0"/>
                </a:solidFill>
                <a:latin typeface="+mn-ea"/>
              </a:rPr>
              <a:t>생각하신 보험료 수준에서</a:t>
            </a:r>
            <a:endParaRPr lang="en-US" altLang="ko-KR" sz="1600" b="1" spc="-100" dirty="0">
              <a:solidFill>
                <a:srgbClr val="0070C0"/>
              </a:solidFill>
              <a:latin typeface="+mn-ea"/>
            </a:endParaRPr>
          </a:p>
          <a:p>
            <a:r>
              <a:rPr lang="ko-KR" altLang="en-US" sz="1600" b="1" spc="-100" dirty="0">
                <a:solidFill>
                  <a:srgbClr val="0070C0"/>
                </a:solidFill>
                <a:latin typeface="+mn-ea"/>
              </a:rPr>
              <a:t>암 진단</a:t>
            </a:r>
            <a:r>
              <a:rPr lang="ko-KR" altLang="en-US" sz="1600" b="1" spc="-100" dirty="0">
                <a:latin typeface="+mn-ea"/>
              </a:rPr>
              <a:t> 받았을 때</a:t>
            </a:r>
            <a:r>
              <a:rPr lang="en-US" altLang="ko-KR" sz="1600" b="1" spc="-100" dirty="0">
                <a:latin typeface="+mn-ea"/>
              </a:rPr>
              <a:t>, </a:t>
            </a:r>
          </a:p>
          <a:p>
            <a:r>
              <a:rPr lang="ko-KR" altLang="en-US" sz="1600" b="1" spc="-100" dirty="0">
                <a:solidFill>
                  <a:srgbClr val="0070C0"/>
                </a:solidFill>
                <a:latin typeface="+mn-ea"/>
              </a:rPr>
              <a:t>암 치료 </a:t>
            </a:r>
            <a:r>
              <a:rPr lang="ko-KR" altLang="en-US" sz="1600" b="1" spc="-100" dirty="0">
                <a:latin typeface="+mn-ea"/>
              </a:rPr>
              <a:t>잘 받기위해</a:t>
            </a:r>
            <a:endParaRPr lang="en-US" altLang="ko-KR" sz="1600" b="1" spc="-100" dirty="0">
              <a:latin typeface="+mn-ea"/>
            </a:endParaRPr>
          </a:p>
          <a:p>
            <a:endParaRPr lang="en-US" altLang="ko-KR" sz="1600" b="1" spc="-100" dirty="0">
              <a:latin typeface="+mn-ea"/>
            </a:endParaRPr>
          </a:p>
          <a:p>
            <a:r>
              <a:rPr lang="ko-KR" altLang="en-US" sz="1600" b="1" spc="-100" dirty="0">
                <a:latin typeface="+mn-ea"/>
              </a:rPr>
              <a:t>더 든든하게 대비하실 수</a:t>
            </a:r>
            <a:endParaRPr lang="en-US" altLang="ko-KR" sz="1600" b="1" spc="-100" dirty="0">
              <a:latin typeface="+mn-ea"/>
            </a:endParaRPr>
          </a:p>
          <a:p>
            <a:r>
              <a:rPr lang="ko-KR" altLang="en-US" sz="1600" b="1" spc="-100" dirty="0">
                <a:latin typeface="+mn-ea"/>
              </a:rPr>
              <a:t>있도록 설계해 보았어요 </a:t>
            </a:r>
            <a:endParaRPr lang="en-US" altLang="ko-KR" sz="1600" b="1" spc="-100" dirty="0">
              <a:latin typeface="+mn-ea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1069E011-B9A4-A3C3-2522-1E23ED4BB3B2}"/>
              </a:ext>
            </a:extLst>
          </p:cNvPr>
          <p:cNvSpPr/>
          <p:nvPr/>
        </p:nvSpPr>
        <p:spPr>
          <a:xfrm>
            <a:off x="11378325" y="4757567"/>
            <a:ext cx="2670072" cy="468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보험료 확인하고 바로 가입하기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B58C27C-5883-0B8C-21BB-E7F507F796BE}"/>
              </a:ext>
            </a:extLst>
          </p:cNvPr>
          <p:cNvSpPr txBox="1"/>
          <p:nvPr/>
        </p:nvSpPr>
        <p:spPr>
          <a:xfrm>
            <a:off x="11352714" y="4459579"/>
            <a:ext cx="26956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pc="-100" dirty="0" err="1">
                <a:solidFill>
                  <a:srgbClr val="7030A0"/>
                </a:solidFill>
                <a:latin typeface="+mn-ea"/>
              </a:rPr>
              <a:t>가입후</a:t>
            </a:r>
            <a:r>
              <a:rPr lang="ko-KR" altLang="en-US" sz="1100" spc="-100" dirty="0">
                <a:solidFill>
                  <a:srgbClr val="7030A0"/>
                </a:solidFill>
                <a:latin typeface="+mn-ea"/>
              </a:rPr>
              <a:t> </a:t>
            </a:r>
            <a:r>
              <a:rPr lang="en-US" altLang="ko-KR" sz="1100" spc="-100" dirty="0">
                <a:solidFill>
                  <a:srgbClr val="7030A0"/>
                </a:solidFill>
                <a:latin typeface="+mn-ea"/>
              </a:rPr>
              <a:t>30</a:t>
            </a:r>
            <a:r>
              <a:rPr lang="ko-KR" altLang="en-US" sz="1100" spc="-100" dirty="0">
                <a:solidFill>
                  <a:srgbClr val="7030A0"/>
                </a:solidFill>
                <a:latin typeface="+mn-ea"/>
              </a:rPr>
              <a:t>일 내 언제든 무료취소가 가능해요</a:t>
            </a:r>
            <a:r>
              <a:rPr lang="en-US" altLang="ko-KR" sz="1100" spc="-100" dirty="0">
                <a:solidFill>
                  <a:srgbClr val="7030A0"/>
                </a:solidFill>
                <a:latin typeface="+mn-ea"/>
              </a:rPr>
              <a:t>!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1DE7F821-7712-4BAE-32CE-1687E4B8F7B8}"/>
              </a:ext>
            </a:extLst>
          </p:cNvPr>
          <p:cNvSpPr/>
          <p:nvPr/>
        </p:nvSpPr>
        <p:spPr>
          <a:xfrm>
            <a:off x="11378325" y="5337482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설계내용 상세보기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DF16D7-306E-CDF3-76D0-47C2CF92BCFD}"/>
              </a:ext>
            </a:extLst>
          </p:cNvPr>
          <p:cNvSpPr txBox="1"/>
          <p:nvPr/>
        </p:nvSpPr>
        <p:spPr>
          <a:xfrm>
            <a:off x="11592332" y="2026282"/>
            <a:ext cx="2695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200" b="1" spc="-100" dirty="0">
                <a:solidFill>
                  <a:srgbClr val="0070C0"/>
                </a:solidFill>
                <a:latin typeface="+mn-ea"/>
              </a:rPr>
              <a:t>대 여성 고객님 </a:t>
            </a:r>
            <a:r>
              <a:rPr lang="ko-KR" altLang="en-US" sz="1200" spc="-100" dirty="0">
                <a:latin typeface="+mn-ea"/>
              </a:rPr>
              <a:t>에게 </a:t>
            </a:r>
            <a:r>
              <a:rPr lang="ko-KR" altLang="en-US" sz="1200" spc="-100" dirty="0" err="1">
                <a:latin typeface="+mn-ea"/>
              </a:rPr>
              <a:t>딱맞는</a:t>
            </a:r>
            <a:endParaRPr lang="en-US" altLang="ko-KR" sz="1200" spc="-100" dirty="0">
              <a:latin typeface="+mn-ea"/>
            </a:endParaRPr>
          </a:p>
          <a:p>
            <a:r>
              <a:rPr lang="ko-KR" altLang="en-US" sz="1200" spc="-100" dirty="0">
                <a:latin typeface="+mn-ea"/>
              </a:rPr>
              <a:t>합리적인 보험료를 같이 알아볼까요</a:t>
            </a:r>
            <a:r>
              <a:rPr lang="en-US" altLang="ko-KR" sz="1200" spc="-100" dirty="0">
                <a:latin typeface="+mn-ea"/>
              </a:rPr>
              <a:t>?</a:t>
            </a:r>
            <a:endParaRPr lang="ko-KR" altLang="en-US" sz="1200" spc="-100" dirty="0">
              <a:latin typeface="+mn-ea"/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C6859115-4ECB-3AA8-A016-498A3A82F7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7945" y="-1292834"/>
            <a:ext cx="3165231" cy="68580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90CCD06C-198F-CA85-E1B8-1A4F2F0155D3}"/>
              </a:ext>
            </a:extLst>
          </p:cNvPr>
          <p:cNvSpPr txBox="1"/>
          <p:nvPr/>
        </p:nvSpPr>
        <p:spPr>
          <a:xfrm>
            <a:off x="4719910" y="1053917"/>
            <a:ext cx="26956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pc="-100" dirty="0">
                <a:solidFill>
                  <a:srgbClr val="7030A0"/>
                </a:solidFill>
                <a:latin typeface="+mn-ea"/>
              </a:rPr>
              <a:t>선택하지 않은 걱정도 함께 보장돼요</a:t>
            </a:r>
            <a:endParaRPr lang="en-US" altLang="ko-KR" sz="1100" spc="-100" dirty="0">
              <a:solidFill>
                <a:srgbClr val="7030A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19741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34BFFF4-307F-2DD5-076F-ABBA9E993D6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6" b="11112"/>
          <a:stretch>
            <a:fillRect/>
          </a:stretch>
        </p:blipFill>
        <p:spPr>
          <a:xfrm>
            <a:off x="522407" y="575731"/>
            <a:ext cx="3165231" cy="546946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3" name="사각형: 둥근 위쪽 모서리 2">
            <a:extLst>
              <a:ext uri="{FF2B5EF4-FFF2-40B4-BE49-F238E27FC236}">
                <a16:creationId xmlns:a16="http://schemas.microsoft.com/office/drawing/2014/main" id="{BDAA3402-DEED-BA03-F2BF-E5252F2E2087}"/>
              </a:ext>
            </a:extLst>
          </p:cNvPr>
          <p:cNvSpPr/>
          <p:nvPr/>
        </p:nvSpPr>
        <p:spPr>
          <a:xfrm>
            <a:off x="522407" y="1923235"/>
            <a:ext cx="3165231" cy="4121966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0100E55-CC89-39B5-0B45-2E96894837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673203" y="2099764"/>
            <a:ext cx="310284" cy="2866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3698DD-13EE-D263-7EB1-8BF9A413CEBC}"/>
              </a:ext>
            </a:extLst>
          </p:cNvPr>
          <p:cNvSpPr txBox="1"/>
          <p:nvPr/>
        </p:nvSpPr>
        <p:spPr>
          <a:xfrm>
            <a:off x="983487" y="2122509"/>
            <a:ext cx="23408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대 여성을 위한</a:t>
            </a:r>
            <a:r>
              <a:rPr lang="ko-KR" altLang="en-US" sz="1050" b="1" spc="-100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AI 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보험설계</a:t>
            </a:r>
            <a:endParaRPr lang="ko-KR" altLang="en-US" sz="1050" spc="-100" dirty="0">
              <a:latin typeface="+mn-ea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995CD6C-D829-B6D7-62DF-8FD8D88FB77E}"/>
              </a:ext>
            </a:extLst>
          </p:cNvPr>
          <p:cNvSpPr/>
          <p:nvPr/>
        </p:nvSpPr>
        <p:spPr>
          <a:xfrm>
            <a:off x="771195" y="337636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3~5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707A1FC-5C96-23BA-E43E-02389A48FB37}"/>
              </a:ext>
            </a:extLst>
          </p:cNvPr>
          <p:cNvSpPr/>
          <p:nvPr/>
        </p:nvSpPr>
        <p:spPr>
          <a:xfrm>
            <a:off x="771195" y="3991579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5~10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CE0CEC9-5130-46E5-EBB2-DC039B3C4CD2}"/>
              </a:ext>
            </a:extLst>
          </p:cNvPr>
          <p:cNvSpPr/>
          <p:nvPr/>
        </p:nvSpPr>
        <p:spPr>
          <a:xfrm>
            <a:off x="771195" y="4606791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만원이상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CFD1F4-C1B5-7CB5-0E2F-282B986486EB}"/>
              </a:ext>
            </a:extLst>
          </p:cNvPr>
          <p:cNvSpPr txBox="1"/>
          <p:nvPr/>
        </p:nvSpPr>
        <p:spPr>
          <a:xfrm>
            <a:off x="771195" y="2489880"/>
            <a:ext cx="2695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100" dirty="0">
                <a:latin typeface="+mn-ea"/>
              </a:rPr>
              <a:t>매월 보험료는</a:t>
            </a:r>
            <a:endParaRPr lang="en-US" altLang="ko-KR" sz="1600" b="1" spc="-100" dirty="0">
              <a:latin typeface="+mn-ea"/>
            </a:endParaRPr>
          </a:p>
          <a:p>
            <a:r>
              <a:rPr lang="ko-KR" altLang="en-US" sz="1600" b="1" spc="-100" dirty="0">
                <a:latin typeface="+mn-ea"/>
              </a:rPr>
              <a:t>얼마정도 생각하세요</a:t>
            </a:r>
            <a:r>
              <a:rPr lang="en-US" altLang="ko-KR" sz="1600" b="1" spc="-100" dirty="0">
                <a:latin typeface="+mn-ea"/>
              </a:rPr>
              <a:t>?</a:t>
            </a:r>
            <a:endParaRPr lang="ko-KR" altLang="en-US" sz="1600" b="1" spc="-100" dirty="0"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37C5AF-86D4-B895-7F9C-02D46A12488A}"/>
              </a:ext>
            </a:extLst>
          </p:cNvPr>
          <p:cNvSpPr txBox="1"/>
          <p:nvPr/>
        </p:nvSpPr>
        <p:spPr>
          <a:xfrm>
            <a:off x="1374693" y="5493063"/>
            <a:ext cx="1285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</a:t>
            </a:r>
            <a:r>
              <a:rPr lang="en-US" altLang="ko-KR" sz="2400" b="1" spc="-15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 .</a:t>
            </a:r>
            <a:endParaRPr lang="ko-KR" altLang="en-US" sz="2400" b="1" spc="-15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2E18456-C0B5-08B0-C9BD-B9F18CBA24CB}"/>
              </a:ext>
            </a:extLst>
          </p:cNvPr>
          <p:cNvSpPr/>
          <p:nvPr/>
        </p:nvSpPr>
        <p:spPr>
          <a:xfrm>
            <a:off x="1895475" y="4122613"/>
            <a:ext cx="1428858" cy="231984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65%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고객님이 선택했어요</a:t>
            </a:r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A4A4C299-E21F-D5D8-88F9-EF07D309FF8B}"/>
              </a:ext>
            </a:extLst>
          </p:cNvPr>
          <p:cNvSpPr/>
          <p:nvPr/>
        </p:nvSpPr>
        <p:spPr>
          <a:xfrm>
            <a:off x="4062788" y="1933576"/>
            <a:ext cx="3165231" cy="4121966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C0829B7-7D49-1377-AA28-19E9C758C1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4180521" y="2099764"/>
            <a:ext cx="310284" cy="286607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7E9C4B2-9DA7-C9BD-7F8C-40FA725606BE}"/>
              </a:ext>
            </a:extLst>
          </p:cNvPr>
          <p:cNvSpPr/>
          <p:nvPr/>
        </p:nvSpPr>
        <p:spPr>
          <a:xfrm>
            <a:off x="4297563" y="337636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암에 대한 걱정이 제일 커요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3AABEF2-E90B-0278-8028-4F08D66D133A}"/>
              </a:ext>
            </a:extLst>
          </p:cNvPr>
          <p:cNvSpPr/>
          <p:nvPr/>
        </p:nvSpPr>
        <p:spPr>
          <a:xfrm>
            <a:off x="4297563" y="394996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뇌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심장 혈관질환이 가장 걱정돼요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A01D3CF-6CFC-A0FC-D6CE-CCABB87D33CF}"/>
              </a:ext>
            </a:extLst>
          </p:cNvPr>
          <p:cNvSpPr/>
          <p:nvPr/>
        </p:nvSpPr>
        <p:spPr>
          <a:xfrm>
            <a:off x="4297563" y="452356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치매가 무엇보다 염려돼요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2FE964-E122-902E-B8A2-2945517CE601}"/>
              </a:ext>
            </a:extLst>
          </p:cNvPr>
          <p:cNvSpPr txBox="1"/>
          <p:nvPr/>
        </p:nvSpPr>
        <p:spPr>
          <a:xfrm>
            <a:off x="4270387" y="2489880"/>
            <a:ext cx="2695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100" dirty="0">
                <a:latin typeface="+mn-ea"/>
              </a:rPr>
              <a:t>어떤 상황을</a:t>
            </a:r>
            <a:endParaRPr lang="en-US" altLang="ko-KR" sz="1600" b="1" spc="-100" dirty="0">
              <a:latin typeface="+mn-ea"/>
            </a:endParaRPr>
          </a:p>
          <a:p>
            <a:r>
              <a:rPr lang="ko-KR" altLang="en-US" sz="1600" b="1" spc="-100" dirty="0">
                <a:latin typeface="+mn-ea"/>
              </a:rPr>
              <a:t>가장 대비하고 </a:t>
            </a:r>
            <a:r>
              <a:rPr lang="ko-KR" altLang="en-US" sz="1600" b="1" spc="-100" dirty="0" err="1">
                <a:latin typeface="+mn-ea"/>
              </a:rPr>
              <a:t>싶으세요</a:t>
            </a:r>
            <a:r>
              <a:rPr lang="en-US" altLang="ko-KR" sz="1600" b="1" spc="-100" dirty="0">
                <a:latin typeface="+mn-ea"/>
              </a:rPr>
              <a:t>?</a:t>
            </a:r>
            <a:r>
              <a:rPr lang="ko-KR" altLang="en-US" sz="1600" b="1" spc="-100" dirty="0">
                <a:latin typeface="+mn-ea"/>
              </a:rPr>
              <a:t> 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A29047F-ABAF-E02F-DBE7-2558FBDEC9F0}"/>
              </a:ext>
            </a:extLst>
          </p:cNvPr>
          <p:cNvSpPr/>
          <p:nvPr/>
        </p:nvSpPr>
        <p:spPr>
          <a:xfrm>
            <a:off x="4297563" y="5097166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골고루 대비하고 싶어요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BAF5C2-4BF6-7F6F-8E5B-F01DCA507EC7}"/>
              </a:ext>
            </a:extLst>
          </p:cNvPr>
          <p:cNvSpPr txBox="1"/>
          <p:nvPr/>
        </p:nvSpPr>
        <p:spPr>
          <a:xfrm>
            <a:off x="4975492" y="5493063"/>
            <a:ext cx="1285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. </a:t>
            </a:r>
            <a:r>
              <a:rPr lang="en-US" altLang="ko-KR" sz="2400" b="1" spc="-15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</a:t>
            </a:r>
            <a:endParaRPr lang="ko-KR" altLang="en-US" sz="2400" b="1" spc="-15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28" name="사각형: 둥근 위쪽 모서리 27">
            <a:extLst>
              <a:ext uri="{FF2B5EF4-FFF2-40B4-BE49-F238E27FC236}">
                <a16:creationId xmlns:a16="http://schemas.microsoft.com/office/drawing/2014/main" id="{2033833E-9073-7567-62A7-9B538E119A36}"/>
              </a:ext>
            </a:extLst>
          </p:cNvPr>
          <p:cNvSpPr/>
          <p:nvPr/>
        </p:nvSpPr>
        <p:spPr>
          <a:xfrm>
            <a:off x="7603169" y="1933576"/>
            <a:ext cx="3165231" cy="4121966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27B812C5-5D18-5BA3-4D65-217892D9BB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7720902" y="2099764"/>
            <a:ext cx="310284" cy="28660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CE8E9C6-FE26-0F78-68C2-5B9B120906D4}"/>
              </a:ext>
            </a:extLst>
          </p:cNvPr>
          <p:cNvSpPr txBox="1"/>
          <p:nvPr/>
        </p:nvSpPr>
        <p:spPr>
          <a:xfrm>
            <a:off x="7825138" y="2599223"/>
            <a:ext cx="26956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생각하신 보험료 </a:t>
            </a:r>
            <a:endParaRPr lang="en-US" altLang="ko-KR" sz="1400" b="1" spc="-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en-US" altLang="ko-KR" sz="1400" b="1" spc="-100" dirty="0">
                <a:solidFill>
                  <a:srgbClr val="00B0F0"/>
                </a:solidFill>
                <a:latin typeface="+mn-ea"/>
              </a:rPr>
              <a:t>5~10</a:t>
            </a:r>
            <a:r>
              <a:rPr lang="ko-KR" altLang="en-US" sz="1400" b="1" spc="-100" dirty="0">
                <a:solidFill>
                  <a:srgbClr val="00B0F0"/>
                </a:solidFill>
                <a:latin typeface="+mn-ea"/>
              </a:rPr>
              <a:t>만원 수준 </a:t>
            </a:r>
            <a:r>
              <a:rPr lang="ko-KR" altLang="en-US" sz="14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내에서</a:t>
            </a:r>
            <a:endParaRPr lang="en-US" altLang="ko-KR" sz="1400" b="1" spc="-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400" b="1" spc="-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ko-KR" altLang="en-US" sz="14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가장 걱정이 큰</a:t>
            </a:r>
            <a:endParaRPr lang="en-US" altLang="ko-KR" sz="1400" b="1" spc="-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ko-KR" altLang="en-US" sz="1400" b="1" spc="-100" dirty="0">
                <a:solidFill>
                  <a:srgbClr val="00B0F0"/>
                </a:solidFill>
                <a:latin typeface="+mn-ea"/>
              </a:rPr>
              <a:t>암을 집중적으로 대비</a:t>
            </a:r>
            <a:r>
              <a:rPr lang="ko-KR" altLang="en-US" sz="14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할 수 있게</a:t>
            </a:r>
            <a:endParaRPr lang="en-US" altLang="ko-KR" sz="1400" b="1" spc="-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ko-KR" altLang="en-US" sz="14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보험을 설계했어요</a:t>
            </a:r>
            <a:endParaRPr lang="en-US" altLang="ko-KR" sz="1400" b="1" spc="-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76F43C5-4079-E951-5FF6-1B916CFD299F}"/>
              </a:ext>
            </a:extLst>
          </p:cNvPr>
          <p:cNvSpPr/>
          <p:nvPr/>
        </p:nvSpPr>
        <p:spPr>
          <a:xfrm>
            <a:off x="7837944" y="4316803"/>
            <a:ext cx="2670072" cy="79449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일단 가입 시작해보기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38A35B-A206-2659-8511-F62A50369CBE}"/>
              </a:ext>
            </a:extLst>
          </p:cNvPr>
          <p:cNvSpPr txBox="1"/>
          <p:nvPr/>
        </p:nvSpPr>
        <p:spPr>
          <a:xfrm>
            <a:off x="7908217" y="987088"/>
            <a:ext cx="11922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spc="-100" dirty="0">
                <a:solidFill>
                  <a:srgbClr val="7030A0"/>
                </a:solidFill>
                <a:latin typeface="+mn-ea"/>
              </a:rPr>
              <a:t>30</a:t>
            </a:r>
            <a:r>
              <a:rPr lang="ko-KR" altLang="en-US" sz="1100" spc="-100" dirty="0">
                <a:solidFill>
                  <a:srgbClr val="7030A0"/>
                </a:solidFill>
                <a:latin typeface="+mn-ea"/>
              </a:rPr>
              <a:t>일내 취소가능</a:t>
            </a:r>
            <a:endParaRPr lang="en-US" altLang="ko-KR" sz="1100" spc="-100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588B2F12-C257-0B71-B49E-08E048573D94}"/>
              </a:ext>
            </a:extLst>
          </p:cNvPr>
          <p:cNvSpPr/>
          <p:nvPr/>
        </p:nvSpPr>
        <p:spPr>
          <a:xfrm>
            <a:off x="7837944" y="5219410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설계내용 상세보기</a:t>
            </a:r>
          </a:p>
        </p:txBody>
      </p:sp>
      <p:sp>
        <p:nvSpPr>
          <p:cNvPr id="42" name="사각형: 둥근 위쪽 모서리 41">
            <a:extLst>
              <a:ext uri="{FF2B5EF4-FFF2-40B4-BE49-F238E27FC236}">
                <a16:creationId xmlns:a16="http://schemas.microsoft.com/office/drawing/2014/main" id="{7D01404D-0FFA-C2FC-73E9-C44151E956AE}"/>
              </a:ext>
            </a:extLst>
          </p:cNvPr>
          <p:cNvSpPr/>
          <p:nvPr/>
        </p:nvSpPr>
        <p:spPr>
          <a:xfrm>
            <a:off x="11143550" y="1933576"/>
            <a:ext cx="3165231" cy="4121966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6F402B8C-C70B-AA5D-C4A0-215425BFD0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11261283" y="2099764"/>
            <a:ext cx="310284" cy="286607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83CF0698-925B-31F5-2568-F3627AA7FA89}"/>
              </a:ext>
            </a:extLst>
          </p:cNvPr>
          <p:cNvSpPr txBox="1"/>
          <p:nvPr/>
        </p:nvSpPr>
        <p:spPr>
          <a:xfrm>
            <a:off x="11378325" y="2747143"/>
            <a:ext cx="26956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100" dirty="0">
                <a:solidFill>
                  <a:srgbClr val="0070C0"/>
                </a:solidFill>
                <a:latin typeface="+mn-ea"/>
              </a:rPr>
              <a:t>생각하신 보험료 수준에서</a:t>
            </a:r>
            <a:endParaRPr lang="en-US" altLang="ko-KR" sz="1600" b="1" spc="-100" dirty="0">
              <a:solidFill>
                <a:srgbClr val="0070C0"/>
              </a:solidFill>
              <a:latin typeface="+mn-ea"/>
            </a:endParaRPr>
          </a:p>
          <a:p>
            <a:r>
              <a:rPr lang="ko-KR" altLang="en-US" sz="1600" b="1" spc="-100" dirty="0">
                <a:solidFill>
                  <a:srgbClr val="0070C0"/>
                </a:solidFill>
                <a:latin typeface="+mn-ea"/>
              </a:rPr>
              <a:t>암 진단</a:t>
            </a:r>
            <a:r>
              <a:rPr lang="ko-KR" altLang="en-US" sz="1600" b="1" spc="-100" dirty="0">
                <a:latin typeface="+mn-ea"/>
              </a:rPr>
              <a:t> 받았을 때</a:t>
            </a:r>
            <a:r>
              <a:rPr lang="en-US" altLang="ko-KR" sz="1600" b="1" spc="-100" dirty="0">
                <a:latin typeface="+mn-ea"/>
              </a:rPr>
              <a:t>, </a:t>
            </a:r>
          </a:p>
          <a:p>
            <a:r>
              <a:rPr lang="ko-KR" altLang="en-US" sz="1600" b="1" spc="-100" dirty="0">
                <a:solidFill>
                  <a:srgbClr val="0070C0"/>
                </a:solidFill>
                <a:latin typeface="+mn-ea"/>
              </a:rPr>
              <a:t>암 치료 </a:t>
            </a:r>
            <a:r>
              <a:rPr lang="ko-KR" altLang="en-US" sz="1600" b="1" spc="-100" dirty="0">
                <a:latin typeface="+mn-ea"/>
              </a:rPr>
              <a:t>잘 받기위해</a:t>
            </a:r>
            <a:endParaRPr lang="en-US" altLang="ko-KR" sz="1600" b="1" spc="-100" dirty="0">
              <a:latin typeface="+mn-ea"/>
            </a:endParaRPr>
          </a:p>
          <a:p>
            <a:endParaRPr lang="en-US" altLang="ko-KR" sz="1600" b="1" spc="-100" dirty="0">
              <a:latin typeface="+mn-ea"/>
            </a:endParaRPr>
          </a:p>
          <a:p>
            <a:r>
              <a:rPr lang="ko-KR" altLang="en-US" sz="1600" b="1" spc="-100" dirty="0">
                <a:latin typeface="+mn-ea"/>
              </a:rPr>
              <a:t>더 든든하게 대비하실 수</a:t>
            </a:r>
            <a:endParaRPr lang="en-US" altLang="ko-KR" sz="1600" b="1" spc="-100" dirty="0">
              <a:latin typeface="+mn-ea"/>
            </a:endParaRPr>
          </a:p>
          <a:p>
            <a:r>
              <a:rPr lang="ko-KR" altLang="en-US" sz="1600" b="1" spc="-100" dirty="0">
                <a:latin typeface="+mn-ea"/>
              </a:rPr>
              <a:t>있도록 설계해 보았어요 </a:t>
            </a:r>
            <a:endParaRPr lang="en-US" altLang="ko-KR" sz="1600" b="1" spc="-100" dirty="0">
              <a:latin typeface="+mn-ea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1069E011-B9A4-A3C3-2522-1E23ED4BB3B2}"/>
              </a:ext>
            </a:extLst>
          </p:cNvPr>
          <p:cNvSpPr/>
          <p:nvPr/>
        </p:nvSpPr>
        <p:spPr>
          <a:xfrm>
            <a:off x="11378325" y="4757567"/>
            <a:ext cx="2670072" cy="468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간단히 보험료 확인하기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B58C27C-5883-0B8C-21BB-E7F507F796BE}"/>
              </a:ext>
            </a:extLst>
          </p:cNvPr>
          <p:cNvSpPr txBox="1"/>
          <p:nvPr/>
        </p:nvSpPr>
        <p:spPr>
          <a:xfrm>
            <a:off x="11352714" y="4459579"/>
            <a:ext cx="26956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pc="-100" dirty="0" err="1">
                <a:solidFill>
                  <a:srgbClr val="7030A0"/>
                </a:solidFill>
                <a:latin typeface="+mn-ea"/>
              </a:rPr>
              <a:t>가입후</a:t>
            </a:r>
            <a:r>
              <a:rPr lang="ko-KR" altLang="en-US" sz="1100" spc="-100" dirty="0">
                <a:solidFill>
                  <a:srgbClr val="7030A0"/>
                </a:solidFill>
                <a:latin typeface="+mn-ea"/>
              </a:rPr>
              <a:t> </a:t>
            </a:r>
            <a:r>
              <a:rPr lang="en-US" altLang="ko-KR" sz="1100" spc="-100" dirty="0">
                <a:solidFill>
                  <a:srgbClr val="7030A0"/>
                </a:solidFill>
                <a:latin typeface="+mn-ea"/>
              </a:rPr>
              <a:t>30</a:t>
            </a:r>
            <a:r>
              <a:rPr lang="ko-KR" altLang="en-US" sz="1100" spc="-100" dirty="0">
                <a:solidFill>
                  <a:srgbClr val="7030A0"/>
                </a:solidFill>
                <a:latin typeface="+mn-ea"/>
              </a:rPr>
              <a:t>일 내 언제든 무료취소가 가능해요</a:t>
            </a:r>
            <a:r>
              <a:rPr lang="en-US" altLang="ko-KR" sz="1100" spc="-100" dirty="0">
                <a:solidFill>
                  <a:srgbClr val="7030A0"/>
                </a:solidFill>
                <a:latin typeface="+mn-ea"/>
              </a:rPr>
              <a:t>!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1DE7F821-7712-4BAE-32CE-1687E4B8F7B8}"/>
              </a:ext>
            </a:extLst>
          </p:cNvPr>
          <p:cNvSpPr/>
          <p:nvPr/>
        </p:nvSpPr>
        <p:spPr>
          <a:xfrm>
            <a:off x="11378325" y="5337482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설계내용 상세보기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C6859115-4ECB-3AA8-A016-498A3A82F7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6514" y="-812800"/>
            <a:ext cx="3165231" cy="68580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90CCD06C-198F-CA85-E1B8-1A4F2F0155D3}"/>
              </a:ext>
            </a:extLst>
          </p:cNvPr>
          <p:cNvSpPr txBox="1"/>
          <p:nvPr/>
        </p:nvSpPr>
        <p:spPr>
          <a:xfrm>
            <a:off x="4573974" y="568047"/>
            <a:ext cx="26956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pc="-100" dirty="0">
                <a:solidFill>
                  <a:srgbClr val="7030A0"/>
                </a:solidFill>
                <a:latin typeface="+mn-ea"/>
              </a:rPr>
              <a:t>선택하지 않은 걱정도 함께 보장돼요</a:t>
            </a:r>
            <a:endParaRPr lang="en-US" altLang="ko-KR" sz="1100" spc="-100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35BCD2-9764-C8E7-E94A-91EC2463BF8B}"/>
              </a:ext>
            </a:extLst>
          </p:cNvPr>
          <p:cNvSpPr txBox="1"/>
          <p:nvPr/>
        </p:nvSpPr>
        <p:spPr>
          <a:xfrm>
            <a:off x="6404543" y="176360"/>
            <a:ext cx="23408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AI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와 함께하는 </a:t>
            </a:r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대 여성 보험설계</a:t>
            </a:r>
            <a:endParaRPr lang="ko-KR" altLang="en-US" sz="1050" spc="-1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3ABF15-5D1B-AD4D-6EEF-464C2F96BB57}"/>
              </a:ext>
            </a:extLst>
          </p:cNvPr>
          <p:cNvSpPr txBox="1"/>
          <p:nvPr/>
        </p:nvSpPr>
        <p:spPr>
          <a:xfrm>
            <a:off x="4462176" y="2122509"/>
            <a:ext cx="23408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대 여성을 위한</a:t>
            </a:r>
            <a:r>
              <a:rPr lang="ko-KR" altLang="en-US" sz="1050" b="1" spc="-100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AI 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보험설계</a:t>
            </a:r>
            <a:endParaRPr lang="ko-KR" altLang="en-US" sz="1050" spc="-100" dirty="0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3911D6-CD38-7244-B790-D4045D8DF7CF}"/>
              </a:ext>
            </a:extLst>
          </p:cNvPr>
          <p:cNvSpPr txBox="1"/>
          <p:nvPr/>
        </p:nvSpPr>
        <p:spPr>
          <a:xfrm>
            <a:off x="8031186" y="2122509"/>
            <a:ext cx="23408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대 여성을 위한</a:t>
            </a:r>
            <a:r>
              <a:rPr lang="ko-KR" altLang="en-US" sz="1050" b="1" spc="-100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AI 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보험설계</a:t>
            </a:r>
            <a:endParaRPr lang="ko-KR" altLang="en-US" sz="1050" spc="-100" dirty="0"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2C96E7-8370-22CA-558D-8A08B23C90E0}"/>
              </a:ext>
            </a:extLst>
          </p:cNvPr>
          <p:cNvSpPr txBox="1"/>
          <p:nvPr/>
        </p:nvSpPr>
        <p:spPr>
          <a:xfrm>
            <a:off x="11593842" y="2122509"/>
            <a:ext cx="23408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대 여성을 위한</a:t>
            </a:r>
            <a:r>
              <a:rPr lang="ko-KR" altLang="en-US" sz="1050" b="1" spc="-100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AI 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보험설계</a:t>
            </a:r>
            <a:endParaRPr lang="ko-KR" altLang="en-US" sz="1050" spc="-100" dirty="0">
              <a:latin typeface="+mn-ea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C945970-DA82-4DAC-7C70-A30BC67F5A38}"/>
              </a:ext>
            </a:extLst>
          </p:cNvPr>
          <p:cNvSpPr/>
          <p:nvPr/>
        </p:nvSpPr>
        <p:spPr>
          <a:xfrm>
            <a:off x="7973926" y="4710117"/>
            <a:ext cx="2398106" cy="231984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30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일내 언제든 취소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청약철회</a:t>
            </a:r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 가능해요</a:t>
            </a:r>
          </a:p>
        </p:txBody>
      </p:sp>
    </p:spTree>
    <p:extLst>
      <p:ext uri="{BB962C8B-B14F-4D97-AF65-F5344CB8AC3E}">
        <p14:creationId xmlns:p14="http://schemas.microsoft.com/office/powerpoint/2010/main" val="1018095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34BFFF4-307F-2DD5-076F-ABBA9E993D6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6" b="11112"/>
          <a:stretch>
            <a:fillRect/>
          </a:stretch>
        </p:blipFill>
        <p:spPr>
          <a:xfrm>
            <a:off x="-2670736" y="575731"/>
            <a:ext cx="3165231" cy="546946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3" name="사각형: 둥근 위쪽 모서리 2">
            <a:extLst>
              <a:ext uri="{FF2B5EF4-FFF2-40B4-BE49-F238E27FC236}">
                <a16:creationId xmlns:a16="http://schemas.microsoft.com/office/drawing/2014/main" id="{BDAA3402-DEED-BA03-F2BF-E5252F2E2087}"/>
              </a:ext>
            </a:extLst>
          </p:cNvPr>
          <p:cNvSpPr/>
          <p:nvPr/>
        </p:nvSpPr>
        <p:spPr>
          <a:xfrm>
            <a:off x="-2670736" y="1923235"/>
            <a:ext cx="3165231" cy="4121966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0100E55-CC89-39B5-0B45-2E96894837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-2519940" y="2099764"/>
            <a:ext cx="310284" cy="2866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3698DD-13EE-D263-7EB1-8BF9A413CEBC}"/>
              </a:ext>
            </a:extLst>
          </p:cNvPr>
          <p:cNvSpPr txBox="1"/>
          <p:nvPr/>
        </p:nvSpPr>
        <p:spPr>
          <a:xfrm>
            <a:off x="-2209656" y="2122509"/>
            <a:ext cx="23408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대 여성을 위한</a:t>
            </a:r>
            <a:r>
              <a:rPr lang="ko-KR" altLang="en-US" sz="1050" b="1" spc="-100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AI 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보험설계</a:t>
            </a:r>
            <a:endParaRPr lang="ko-KR" altLang="en-US" sz="1050" spc="-100" dirty="0">
              <a:latin typeface="+mn-ea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995CD6C-D829-B6D7-62DF-8FD8D88FB77E}"/>
              </a:ext>
            </a:extLst>
          </p:cNvPr>
          <p:cNvSpPr/>
          <p:nvPr/>
        </p:nvSpPr>
        <p:spPr>
          <a:xfrm>
            <a:off x="-2421948" y="337636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3~5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707A1FC-5C96-23BA-E43E-02389A48FB37}"/>
              </a:ext>
            </a:extLst>
          </p:cNvPr>
          <p:cNvSpPr/>
          <p:nvPr/>
        </p:nvSpPr>
        <p:spPr>
          <a:xfrm>
            <a:off x="-2421948" y="3991579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5~10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CE0CEC9-5130-46E5-EBB2-DC039B3C4CD2}"/>
              </a:ext>
            </a:extLst>
          </p:cNvPr>
          <p:cNvSpPr/>
          <p:nvPr/>
        </p:nvSpPr>
        <p:spPr>
          <a:xfrm>
            <a:off x="-2421948" y="4606791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만원이상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CFD1F4-C1B5-7CB5-0E2F-282B986486EB}"/>
              </a:ext>
            </a:extLst>
          </p:cNvPr>
          <p:cNvSpPr txBox="1"/>
          <p:nvPr/>
        </p:nvSpPr>
        <p:spPr>
          <a:xfrm>
            <a:off x="-2421948" y="2489880"/>
            <a:ext cx="2695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100" dirty="0">
                <a:latin typeface="+mn-ea"/>
              </a:rPr>
              <a:t>매월 보험료는</a:t>
            </a:r>
            <a:endParaRPr lang="en-US" altLang="ko-KR" sz="1600" b="1" spc="-100" dirty="0">
              <a:latin typeface="+mn-ea"/>
            </a:endParaRPr>
          </a:p>
          <a:p>
            <a:r>
              <a:rPr lang="ko-KR" altLang="en-US" sz="1600" b="1" spc="-100" dirty="0">
                <a:latin typeface="+mn-ea"/>
              </a:rPr>
              <a:t>얼마정도 생각하세요</a:t>
            </a:r>
            <a:r>
              <a:rPr lang="en-US" altLang="ko-KR" sz="1600" b="1" spc="-100" dirty="0">
                <a:latin typeface="+mn-ea"/>
              </a:rPr>
              <a:t>?</a:t>
            </a:r>
            <a:endParaRPr lang="ko-KR" altLang="en-US" sz="1600" b="1" spc="-100" dirty="0"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37C5AF-86D4-B895-7F9C-02D46A12488A}"/>
              </a:ext>
            </a:extLst>
          </p:cNvPr>
          <p:cNvSpPr txBox="1"/>
          <p:nvPr/>
        </p:nvSpPr>
        <p:spPr>
          <a:xfrm>
            <a:off x="-1818450" y="5493063"/>
            <a:ext cx="1285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</a:t>
            </a:r>
            <a:r>
              <a:rPr lang="en-US" altLang="ko-KR" sz="2400" b="1" spc="-15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 .</a:t>
            </a:r>
            <a:endParaRPr lang="ko-KR" altLang="en-US" sz="2400" b="1" spc="-15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2E18456-C0B5-08B0-C9BD-B9F18CBA24CB}"/>
              </a:ext>
            </a:extLst>
          </p:cNvPr>
          <p:cNvSpPr/>
          <p:nvPr/>
        </p:nvSpPr>
        <p:spPr>
          <a:xfrm>
            <a:off x="-1297668" y="4122613"/>
            <a:ext cx="1428858" cy="231984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65%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고객님이 선택했어요</a:t>
            </a:r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A4A4C299-E21F-D5D8-88F9-EF07D309FF8B}"/>
              </a:ext>
            </a:extLst>
          </p:cNvPr>
          <p:cNvSpPr/>
          <p:nvPr/>
        </p:nvSpPr>
        <p:spPr>
          <a:xfrm>
            <a:off x="869645" y="1933576"/>
            <a:ext cx="3165231" cy="4121966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C0829B7-7D49-1377-AA28-19E9C758C1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987378" y="2099764"/>
            <a:ext cx="310284" cy="286607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7E9C4B2-9DA7-C9BD-7F8C-40FA725606BE}"/>
              </a:ext>
            </a:extLst>
          </p:cNvPr>
          <p:cNvSpPr/>
          <p:nvPr/>
        </p:nvSpPr>
        <p:spPr>
          <a:xfrm>
            <a:off x="1104420" y="337636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암에 대한 걱정이 제일 커요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3AABEF2-E90B-0278-8028-4F08D66D133A}"/>
              </a:ext>
            </a:extLst>
          </p:cNvPr>
          <p:cNvSpPr/>
          <p:nvPr/>
        </p:nvSpPr>
        <p:spPr>
          <a:xfrm>
            <a:off x="1104420" y="394996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뇌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심장 혈관질환이 가장 걱정돼요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A01D3CF-6CFC-A0FC-D6CE-CCABB87D33CF}"/>
              </a:ext>
            </a:extLst>
          </p:cNvPr>
          <p:cNvSpPr/>
          <p:nvPr/>
        </p:nvSpPr>
        <p:spPr>
          <a:xfrm>
            <a:off x="1104420" y="452356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치매가 정말 염려돼요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2FE964-E122-902E-B8A2-2945517CE601}"/>
              </a:ext>
            </a:extLst>
          </p:cNvPr>
          <p:cNvSpPr txBox="1"/>
          <p:nvPr/>
        </p:nvSpPr>
        <p:spPr>
          <a:xfrm>
            <a:off x="1077244" y="2489880"/>
            <a:ext cx="2695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100" dirty="0">
                <a:latin typeface="+mn-ea"/>
              </a:rPr>
              <a:t>어떤 상황을</a:t>
            </a:r>
            <a:endParaRPr lang="en-US" altLang="ko-KR" sz="1600" b="1" spc="-100" dirty="0">
              <a:latin typeface="+mn-ea"/>
            </a:endParaRPr>
          </a:p>
          <a:p>
            <a:r>
              <a:rPr lang="ko-KR" altLang="en-US" sz="1600" b="1" spc="-100" dirty="0">
                <a:latin typeface="+mn-ea"/>
              </a:rPr>
              <a:t>가장 대비하고 </a:t>
            </a:r>
            <a:r>
              <a:rPr lang="ko-KR" altLang="en-US" sz="1600" b="1" spc="-100" dirty="0" err="1">
                <a:latin typeface="+mn-ea"/>
              </a:rPr>
              <a:t>싶으세요</a:t>
            </a:r>
            <a:r>
              <a:rPr lang="en-US" altLang="ko-KR" sz="1600" b="1" spc="-100" dirty="0">
                <a:latin typeface="+mn-ea"/>
              </a:rPr>
              <a:t>?</a:t>
            </a:r>
            <a:r>
              <a:rPr lang="ko-KR" altLang="en-US" sz="1600" b="1" spc="-100" dirty="0">
                <a:latin typeface="+mn-ea"/>
              </a:rPr>
              <a:t> 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A29047F-ABAF-E02F-DBE7-2558FBDEC9F0}"/>
              </a:ext>
            </a:extLst>
          </p:cNvPr>
          <p:cNvSpPr/>
          <p:nvPr/>
        </p:nvSpPr>
        <p:spPr>
          <a:xfrm>
            <a:off x="1104420" y="5097166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골고루 대비하고 싶어요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BAF5C2-4BF6-7F6F-8E5B-F01DCA507EC7}"/>
              </a:ext>
            </a:extLst>
          </p:cNvPr>
          <p:cNvSpPr txBox="1"/>
          <p:nvPr/>
        </p:nvSpPr>
        <p:spPr>
          <a:xfrm>
            <a:off x="1782349" y="5493063"/>
            <a:ext cx="1285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. </a:t>
            </a:r>
            <a:r>
              <a:rPr lang="en-US" altLang="ko-KR" sz="2400" b="1" spc="-15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</a:t>
            </a:r>
            <a:endParaRPr lang="ko-KR" altLang="en-US" sz="2400" b="1" spc="-15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28" name="사각형: 둥근 위쪽 모서리 27">
            <a:extLst>
              <a:ext uri="{FF2B5EF4-FFF2-40B4-BE49-F238E27FC236}">
                <a16:creationId xmlns:a16="http://schemas.microsoft.com/office/drawing/2014/main" id="{2033833E-9073-7567-62A7-9B538E119A36}"/>
              </a:ext>
            </a:extLst>
          </p:cNvPr>
          <p:cNvSpPr/>
          <p:nvPr/>
        </p:nvSpPr>
        <p:spPr>
          <a:xfrm>
            <a:off x="4410026" y="1933576"/>
            <a:ext cx="3165231" cy="4121966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27B812C5-5D18-5BA3-4D65-217892D9BB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4527759" y="2099764"/>
            <a:ext cx="310284" cy="28660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CE8E9C6-FE26-0F78-68C2-5B9B120906D4}"/>
              </a:ext>
            </a:extLst>
          </p:cNvPr>
          <p:cNvSpPr txBox="1"/>
          <p:nvPr/>
        </p:nvSpPr>
        <p:spPr>
          <a:xfrm>
            <a:off x="4631995" y="2499922"/>
            <a:ext cx="2695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생각하신 보험료 </a:t>
            </a:r>
            <a:r>
              <a:rPr lang="en-US" altLang="ko-KR" sz="1200" b="1" spc="-100" dirty="0">
                <a:solidFill>
                  <a:srgbClr val="00B0F0"/>
                </a:solidFill>
                <a:latin typeface="+mn-ea"/>
              </a:rPr>
              <a:t>5~10</a:t>
            </a:r>
            <a:r>
              <a:rPr lang="ko-KR" altLang="en-US" sz="1200" b="1" spc="-100" dirty="0">
                <a:solidFill>
                  <a:srgbClr val="00B0F0"/>
                </a:solidFill>
                <a:latin typeface="+mn-ea"/>
              </a:rPr>
              <a:t>만원 </a:t>
            </a:r>
            <a:r>
              <a:rPr lang="ko-KR" altLang="en-US" sz="12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내에서</a:t>
            </a:r>
            <a:endParaRPr lang="en-US" altLang="ko-KR" sz="1200" b="1" spc="-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ko-KR" altLang="en-US" sz="12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가장 걱정이 큰 </a:t>
            </a:r>
            <a:r>
              <a:rPr lang="ko-KR" altLang="en-US" sz="1200" b="1" spc="-100" dirty="0">
                <a:solidFill>
                  <a:srgbClr val="00B0F0"/>
                </a:solidFill>
                <a:latin typeface="+mn-ea"/>
              </a:rPr>
              <a:t>암을</a:t>
            </a:r>
            <a:endParaRPr lang="en-US" altLang="ko-KR" sz="1200" b="1" spc="-100" dirty="0">
              <a:solidFill>
                <a:srgbClr val="00B0F0"/>
              </a:solidFill>
              <a:latin typeface="+mn-ea"/>
            </a:endParaRPr>
          </a:p>
          <a:p>
            <a:r>
              <a:rPr lang="ko-KR" altLang="en-US" sz="1200" b="1" spc="-100" dirty="0">
                <a:solidFill>
                  <a:srgbClr val="00B0F0"/>
                </a:solidFill>
                <a:latin typeface="+mn-ea"/>
              </a:rPr>
              <a:t>집중적으로 대비할 수 있게 </a:t>
            </a:r>
            <a:r>
              <a:rPr lang="ko-KR" altLang="en-US" sz="12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설계했어요</a:t>
            </a:r>
            <a:endParaRPr lang="en-US" altLang="ko-KR" sz="1200" b="1" spc="-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38A35B-A206-2659-8511-F62A50369CBE}"/>
              </a:ext>
            </a:extLst>
          </p:cNvPr>
          <p:cNvSpPr txBox="1"/>
          <p:nvPr/>
        </p:nvSpPr>
        <p:spPr>
          <a:xfrm>
            <a:off x="5011790" y="1055084"/>
            <a:ext cx="22667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pc="-100" dirty="0">
                <a:solidFill>
                  <a:srgbClr val="7030A0"/>
                </a:solidFill>
                <a:latin typeface="+mn-ea"/>
              </a:rPr>
              <a:t>가입 후 </a:t>
            </a:r>
            <a:r>
              <a:rPr lang="en-US" altLang="ko-KR" sz="1100" spc="-100" dirty="0">
                <a:solidFill>
                  <a:srgbClr val="7030A0"/>
                </a:solidFill>
                <a:latin typeface="+mn-ea"/>
              </a:rPr>
              <a:t>30</a:t>
            </a:r>
            <a:r>
              <a:rPr lang="ko-KR" altLang="en-US" sz="1100" spc="-100" dirty="0">
                <a:solidFill>
                  <a:srgbClr val="7030A0"/>
                </a:solidFill>
                <a:latin typeface="+mn-ea"/>
              </a:rPr>
              <a:t>일내 취소</a:t>
            </a:r>
            <a:r>
              <a:rPr lang="en-US" altLang="ko-KR" sz="1100" spc="-100" dirty="0">
                <a:solidFill>
                  <a:srgbClr val="7030A0"/>
                </a:solidFill>
                <a:latin typeface="+mn-ea"/>
              </a:rPr>
              <a:t>(</a:t>
            </a:r>
            <a:r>
              <a:rPr lang="ko-KR" altLang="en-US" sz="1100" spc="-100" dirty="0">
                <a:solidFill>
                  <a:srgbClr val="7030A0"/>
                </a:solidFill>
                <a:latin typeface="+mn-ea"/>
              </a:rPr>
              <a:t>청약철회</a:t>
            </a:r>
            <a:r>
              <a:rPr lang="en-US" altLang="ko-KR" sz="1100" spc="-100" dirty="0">
                <a:solidFill>
                  <a:srgbClr val="7030A0"/>
                </a:solidFill>
                <a:latin typeface="+mn-ea"/>
              </a:rPr>
              <a:t>)</a:t>
            </a:r>
            <a:r>
              <a:rPr lang="ko-KR" altLang="en-US" sz="1100" spc="-100" dirty="0">
                <a:solidFill>
                  <a:srgbClr val="7030A0"/>
                </a:solidFill>
                <a:latin typeface="+mn-ea"/>
              </a:rPr>
              <a:t> 가능</a:t>
            </a:r>
            <a:endParaRPr lang="en-US" altLang="ko-KR" sz="1100" spc="-100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588B2F12-C257-0B71-B49E-08E048573D94}"/>
              </a:ext>
            </a:extLst>
          </p:cNvPr>
          <p:cNvSpPr/>
          <p:nvPr/>
        </p:nvSpPr>
        <p:spPr>
          <a:xfrm>
            <a:off x="10708379" y="674330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설계내용 상세보기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1069E011-B9A4-A3C3-2522-1E23ED4BB3B2}"/>
              </a:ext>
            </a:extLst>
          </p:cNvPr>
          <p:cNvSpPr/>
          <p:nvPr/>
        </p:nvSpPr>
        <p:spPr>
          <a:xfrm>
            <a:off x="4657605" y="5334916"/>
            <a:ext cx="2670072" cy="468000"/>
          </a:xfrm>
          <a:prstGeom prst="roundRect">
            <a:avLst/>
          </a:prstGeom>
          <a:solidFill>
            <a:srgbClr val="228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가입시작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C6859115-4ECB-3AA8-A016-498A3A82F7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162" y="-1329236"/>
            <a:ext cx="3165231" cy="68580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90CCD06C-198F-CA85-E1B8-1A4F2F0155D3}"/>
              </a:ext>
            </a:extLst>
          </p:cNvPr>
          <p:cNvSpPr txBox="1"/>
          <p:nvPr/>
        </p:nvSpPr>
        <p:spPr>
          <a:xfrm>
            <a:off x="1380831" y="568047"/>
            <a:ext cx="26956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pc="-100" dirty="0">
                <a:solidFill>
                  <a:srgbClr val="7030A0"/>
                </a:solidFill>
                <a:latin typeface="+mn-ea"/>
              </a:rPr>
              <a:t>선택하지 않은 걱정도 함께 보장돼요</a:t>
            </a:r>
            <a:endParaRPr lang="en-US" altLang="ko-KR" sz="1100" spc="-100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35BCD2-9764-C8E7-E94A-91EC2463BF8B}"/>
              </a:ext>
            </a:extLst>
          </p:cNvPr>
          <p:cNvSpPr txBox="1"/>
          <p:nvPr/>
        </p:nvSpPr>
        <p:spPr>
          <a:xfrm>
            <a:off x="3211400" y="176360"/>
            <a:ext cx="23408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AI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와 함께하는 </a:t>
            </a:r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대 여성 보험설계</a:t>
            </a:r>
            <a:endParaRPr lang="ko-KR" altLang="en-US" sz="1050" spc="-1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3ABF15-5D1B-AD4D-6EEF-464C2F96BB57}"/>
              </a:ext>
            </a:extLst>
          </p:cNvPr>
          <p:cNvSpPr txBox="1"/>
          <p:nvPr/>
        </p:nvSpPr>
        <p:spPr>
          <a:xfrm>
            <a:off x="1269033" y="2122509"/>
            <a:ext cx="23408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대 여성을 위한</a:t>
            </a:r>
            <a:r>
              <a:rPr lang="ko-KR" altLang="en-US" sz="1050" b="1" spc="-100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AI 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보험설계</a:t>
            </a:r>
            <a:endParaRPr lang="ko-KR" altLang="en-US" sz="1050" spc="-100" dirty="0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3911D6-CD38-7244-B790-D4045D8DF7CF}"/>
              </a:ext>
            </a:extLst>
          </p:cNvPr>
          <p:cNvSpPr txBox="1"/>
          <p:nvPr/>
        </p:nvSpPr>
        <p:spPr>
          <a:xfrm>
            <a:off x="4838043" y="2122509"/>
            <a:ext cx="23408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대 여성을 위한</a:t>
            </a:r>
            <a:r>
              <a:rPr lang="ko-KR" altLang="en-US" sz="1050" b="1" spc="-100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AI 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보험설계</a:t>
            </a:r>
            <a:endParaRPr lang="ko-KR" altLang="en-US" sz="1050" spc="-100" dirty="0">
              <a:latin typeface="+mn-ea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54EAAAB6-3C88-7FC2-9520-B90613455A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2" t="53503" r="6727" b="31916"/>
          <a:stretch>
            <a:fillRect/>
          </a:stretch>
        </p:blipFill>
        <p:spPr>
          <a:xfrm>
            <a:off x="8355093" y="3026745"/>
            <a:ext cx="2612603" cy="957473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6CCDD676-E94A-4446-8189-AFF74C1E9D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2" t="53503" r="6727" b="31916"/>
          <a:stretch>
            <a:fillRect/>
          </a:stretch>
        </p:blipFill>
        <p:spPr>
          <a:xfrm>
            <a:off x="7870494" y="160420"/>
            <a:ext cx="2612603" cy="957473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3FF03F0-E521-7113-21AA-0FECAC62E228}"/>
              </a:ext>
            </a:extLst>
          </p:cNvPr>
          <p:cNvSpPr/>
          <p:nvPr/>
        </p:nvSpPr>
        <p:spPr>
          <a:xfrm>
            <a:off x="4602631" y="3245109"/>
            <a:ext cx="2798293" cy="1877716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783B0C-287D-CCCF-7552-3C33798174C5}"/>
              </a:ext>
            </a:extLst>
          </p:cNvPr>
          <p:cNvSpPr txBox="1"/>
          <p:nvPr/>
        </p:nvSpPr>
        <p:spPr>
          <a:xfrm>
            <a:off x="4705241" y="4173412"/>
            <a:ext cx="269568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암진단시 최대 </a:t>
            </a:r>
            <a:r>
              <a:rPr lang="en-US" altLang="ko-KR" sz="1000" spc="-100" dirty="0">
                <a:solidFill>
                  <a:srgbClr val="2287FF"/>
                </a:solidFill>
                <a:latin typeface="+mn-ea"/>
              </a:rPr>
              <a:t>1000</a:t>
            </a:r>
            <a:r>
              <a:rPr lang="ko-KR" altLang="en-US" sz="1000" spc="-100" dirty="0">
                <a:solidFill>
                  <a:srgbClr val="2287FF"/>
                </a:solidFill>
                <a:latin typeface="+mn-ea"/>
              </a:rPr>
              <a:t>만원</a:t>
            </a:r>
            <a:endParaRPr lang="en-US" altLang="ko-KR" sz="1000" spc="-100" dirty="0">
              <a:solidFill>
                <a:srgbClr val="2287FF"/>
              </a:solidFill>
              <a:latin typeface="+mn-ea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000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항암중입자</a:t>
            </a: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000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치료시</a:t>
            </a: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최대 </a:t>
            </a:r>
            <a:r>
              <a:rPr lang="en-US" altLang="ko-KR" sz="1000" spc="-100" dirty="0">
                <a:solidFill>
                  <a:srgbClr val="2287FF"/>
                </a:solidFill>
                <a:latin typeface="+mn-ea"/>
              </a:rPr>
              <a:t>5000</a:t>
            </a:r>
            <a:r>
              <a:rPr lang="ko-KR" altLang="en-US" sz="1000" spc="-100" dirty="0">
                <a:solidFill>
                  <a:srgbClr val="2287FF"/>
                </a:solidFill>
                <a:latin typeface="+mn-ea"/>
              </a:rPr>
              <a:t>만원</a:t>
            </a:r>
            <a:endParaRPr lang="en-US" altLang="ko-KR" sz="1000" spc="-100" dirty="0">
              <a:solidFill>
                <a:srgbClr val="2287FF"/>
              </a:solidFill>
              <a:latin typeface="+mn-ea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표적약물</a:t>
            </a:r>
            <a:r>
              <a:rPr lang="en-US" altLang="ko-KR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방사선치료 시 </a:t>
            </a:r>
            <a:r>
              <a:rPr lang="ko-KR" altLang="en-US" sz="1000" spc="-100" dirty="0">
                <a:solidFill>
                  <a:srgbClr val="2287FF"/>
                </a:solidFill>
                <a:latin typeface="+mn-ea"/>
              </a:rPr>
              <a:t>최대 </a:t>
            </a:r>
            <a:r>
              <a:rPr lang="en-US" altLang="ko-KR" sz="1000" spc="-100" dirty="0">
                <a:solidFill>
                  <a:srgbClr val="2287FF"/>
                </a:solidFill>
                <a:latin typeface="+mn-ea"/>
              </a:rPr>
              <a:t>5000</a:t>
            </a:r>
            <a:r>
              <a:rPr lang="ko-KR" altLang="en-US" sz="1000" spc="-100" dirty="0">
                <a:solidFill>
                  <a:srgbClr val="2287FF"/>
                </a:solidFill>
                <a:latin typeface="+mn-ea"/>
              </a:rPr>
              <a:t>만원</a:t>
            </a:r>
            <a:endParaRPr lang="en-US" altLang="ko-KR" sz="1000" spc="-100" dirty="0">
              <a:solidFill>
                <a:srgbClr val="2287FF"/>
              </a:solidFill>
              <a:latin typeface="+mn-ea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뇌혈관 질환 </a:t>
            </a:r>
            <a:r>
              <a:rPr lang="ko-KR" altLang="en-US" sz="1000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진단시</a:t>
            </a: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최대 </a:t>
            </a:r>
            <a:r>
              <a:rPr lang="en-US" altLang="ko-KR" sz="1000" spc="-100" dirty="0">
                <a:solidFill>
                  <a:srgbClr val="2287FF"/>
                </a:solidFill>
                <a:latin typeface="+mn-ea"/>
              </a:rPr>
              <a:t>1000</a:t>
            </a:r>
            <a:r>
              <a:rPr lang="ko-KR" altLang="en-US" sz="1000" spc="-100" dirty="0">
                <a:solidFill>
                  <a:srgbClr val="2287FF"/>
                </a:solidFill>
                <a:latin typeface="+mn-ea"/>
              </a:rPr>
              <a:t>만원</a:t>
            </a:r>
            <a:endParaRPr lang="en-US" altLang="ko-KR" sz="1000" spc="-100" dirty="0">
              <a:solidFill>
                <a:srgbClr val="2287FF"/>
              </a:solidFill>
              <a:latin typeface="+mn-ea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치매 </a:t>
            </a:r>
            <a:r>
              <a:rPr lang="ko-KR" altLang="en-US" sz="1000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진단시</a:t>
            </a: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ko-KR" sz="1000" spc="-100" dirty="0">
                <a:solidFill>
                  <a:srgbClr val="2287FF"/>
                </a:solidFill>
                <a:latin typeface="+mn-ea"/>
              </a:rPr>
              <a:t>100</a:t>
            </a:r>
            <a:r>
              <a:rPr lang="ko-KR" altLang="en-US" sz="1000" spc="-100" dirty="0">
                <a:solidFill>
                  <a:srgbClr val="2287FF"/>
                </a:solidFill>
                <a:latin typeface="+mn-ea"/>
              </a:rPr>
              <a:t>만원</a:t>
            </a:r>
            <a:r>
              <a:rPr lang="en-US" altLang="ko-KR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000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그외</a:t>
            </a: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일상생활</a:t>
            </a:r>
            <a:r>
              <a:rPr lang="en-US" altLang="ko-KR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</a:t>
            </a: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골절</a:t>
            </a:r>
            <a:r>
              <a:rPr lang="en-US" altLang="ko-KR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) </a:t>
            </a: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보장</a:t>
            </a:r>
            <a:r>
              <a:rPr lang="en-US" altLang="ko-KR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A315FA-CFDA-9361-DF48-E88C8CDA9B14}"/>
              </a:ext>
            </a:extLst>
          </p:cNvPr>
          <p:cNvSpPr txBox="1"/>
          <p:nvPr/>
        </p:nvSpPr>
        <p:spPr>
          <a:xfrm>
            <a:off x="4753490" y="3614798"/>
            <a:ext cx="2452692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05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월  </a:t>
            </a:r>
            <a:r>
              <a:rPr lang="en-US" altLang="ko-KR" sz="20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98,530 </a:t>
            </a:r>
            <a:r>
              <a:rPr lang="ko-KR" altLang="en-US" sz="105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원</a:t>
            </a:r>
            <a:endParaRPr lang="en-US" altLang="ko-KR" sz="1050" b="1" spc="-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68A5A8-2DF5-49DC-037B-1B4EBE22F38E}"/>
              </a:ext>
            </a:extLst>
          </p:cNvPr>
          <p:cNvSpPr txBox="1"/>
          <p:nvPr/>
        </p:nvSpPr>
        <p:spPr>
          <a:xfrm>
            <a:off x="4682152" y="3310465"/>
            <a:ext cx="30165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보험기간 </a:t>
            </a:r>
            <a:r>
              <a:rPr lang="en-US" altLang="ko-KR" sz="1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100</a:t>
            </a:r>
            <a:r>
              <a:rPr lang="ko-KR" altLang="en-US" sz="1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세</a:t>
            </a:r>
            <a:r>
              <a:rPr lang="en-US" altLang="ko-KR" sz="1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</a:t>
            </a:r>
            <a:r>
              <a:rPr lang="ko-KR" altLang="en-US" sz="1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납입기간 </a:t>
            </a:r>
            <a:r>
              <a:rPr lang="en-US" altLang="ko-KR" sz="1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20</a:t>
            </a:r>
            <a:r>
              <a:rPr lang="ko-KR" altLang="en-US" sz="1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년</a:t>
            </a:r>
            <a:r>
              <a:rPr lang="en-US" altLang="ko-KR" sz="1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</a:t>
            </a:r>
            <a:r>
              <a:rPr lang="ko-KR" altLang="en-US" sz="1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남성</a:t>
            </a:r>
            <a:r>
              <a:rPr lang="en-US" altLang="ko-KR" sz="1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/45</a:t>
            </a:r>
            <a:r>
              <a:rPr lang="ko-KR" altLang="en-US" sz="1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세</a:t>
            </a:r>
            <a:endParaRPr lang="en-US" altLang="ko-KR" sz="1000" spc="-1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48854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34BFFF4-307F-2DD5-076F-ABBA9E993D6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6" b="11112"/>
          <a:stretch>
            <a:fillRect/>
          </a:stretch>
        </p:blipFill>
        <p:spPr>
          <a:xfrm>
            <a:off x="-2670736" y="575731"/>
            <a:ext cx="3165231" cy="546946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3" name="사각형: 둥근 위쪽 모서리 2">
            <a:extLst>
              <a:ext uri="{FF2B5EF4-FFF2-40B4-BE49-F238E27FC236}">
                <a16:creationId xmlns:a16="http://schemas.microsoft.com/office/drawing/2014/main" id="{BDAA3402-DEED-BA03-F2BF-E5252F2E2087}"/>
              </a:ext>
            </a:extLst>
          </p:cNvPr>
          <p:cNvSpPr/>
          <p:nvPr/>
        </p:nvSpPr>
        <p:spPr>
          <a:xfrm>
            <a:off x="-2670736" y="1923235"/>
            <a:ext cx="3165231" cy="4121966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0100E55-CC89-39B5-0B45-2E96894837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-2519940" y="2099764"/>
            <a:ext cx="310284" cy="2866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3698DD-13EE-D263-7EB1-8BF9A413CEBC}"/>
              </a:ext>
            </a:extLst>
          </p:cNvPr>
          <p:cNvSpPr txBox="1"/>
          <p:nvPr/>
        </p:nvSpPr>
        <p:spPr>
          <a:xfrm>
            <a:off x="-2209656" y="2122509"/>
            <a:ext cx="23408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대 여성을 위한</a:t>
            </a:r>
            <a:r>
              <a:rPr lang="ko-KR" altLang="en-US" sz="1050" b="1" spc="-100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AI 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보험설계</a:t>
            </a:r>
            <a:endParaRPr lang="ko-KR" altLang="en-US" sz="1050" spc="-100" dirty="0">
              <a:latin typeface="+mn-ea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995CD6C-D829-B6D7-62DF-8FD8D88FB77E}"/>
              </a:ext>
            </a:extLst>
          </p:cNvPr>
          <p:cNvSpPr/>
          <p:nvPr/>
        </p:nvSpPr>
        <p:spPr>
          <a:xfrm>
            <a:off x="-2421948" y="337636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3~5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707A1FC-5C96-23BA-E43E-02389A48FB37}"/>
              </a:ext>
            </a:extLst>
          </p:cNvPr>
          <p:cNvSpPr/>
          <p:nvPr/>
        </p:nvSpPr>
        <p:spPr>
          <a:xfrm>
            <a:off x="-2421948" y="3991579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5~10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CE0CEC9-5130-46E5-EBB2-DC039B3C4CD2}"/>
              </a:ext>
            </a:extLst>
          </p:cNvPr>
          <p:cNvSpPr/>
          <p:nvPr/>
        </p:nvSpPr>
        <p:spPr>
          <a:xfrm>
            <a:off x="-2421948" y="4606791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만원이상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CFD1F4-C1B5-7CB5-0E2F-282B986486EB}"/>
              </a:ext>
            </a:extLst>
          </p:cNvPr>
          <p:cNvSpPr txBox="1"/>
          <p:nvPr/>
        </p:nvSpPr>
        <p:spPr>
          <a:xfrm>
            <a:off x="-2421948" y="2489880"/>
            <a:ext cx="2695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100" dirty="0">
                <a:latin typeface="+mn-ea"/>
              </a:rPr>
              <a:t>매월 보험료는</a:t>
            </a:r>
            <a:endParaRPr lang="en-US" altLang="ko-KR" sz="1600" b="1" spc="-100" dirty="0">
              <a:latin typeface="+mn-ea"/>
            </a:endParaRPr>
          </a:p>
          <a:p>
            <a:r>
              <a:rPr lang="ko-KR" altLang="en-US" sz="1600" b="1" spc="-100" dirty="0">
                <a:latin typeface="+mn-ea"/>
              </a:rPr>
              <a:t>얼마정도 생각하세요</a:t>
            </a:r>
            <a:r>
              <a:rPr lang="en-US" altLang="ko-KR" sz="1600" b="1" spc="-100" dirty="0">
                <a:latin typeface="+mn-ea"/>
              </a:rPr>
              <a:t>?</a:t>
            </a:r>
            <a:endParaRPr lang="ko-KR" altLang="en-US" sz="1600" b="1" spc="-100" dirty="0"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37C5AF-86D4-B895-7F9C-02D46A12488A}"/>
              </a:ext>
            </a:extLst>
          </p:cNvPr>
          <p:cNvSpPr txBox="1"/>
          <p:nvPr/>
        </p:nvSpPr>
        <p:spPr>
          <a:xfrm>
            <a:off x="-1818450" y="5493063"/>
            <a:ext cx="1285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</a:t>
            </a:r>
            <a:r>
              <a:rPr lang="en-US" altLang="ko-KR" sz="2400" b="1" spc="-15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 .</a:t>
            </a:r>
            <a:endParaRPr lang="ko-KR" altLang="en-US" sz="2400" b="1" spc="-15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2E18456-C0B5-08B0-C9BD-B9F18CBA24CB}"/>
              </a:ext>
            </a:extLst>
          </p:cNvPr>
          <p:cNvSpPr/>
          <p:nvPr/>
        </p:nvSpPr>
        <p:spPr>
          <a:xfrm>
            <a:off x="-1297668" y="4122613"/>
            <a:ext cx="1428858" cy="231984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65%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고객님이 선택했어요</a:t>
            </a:r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A4A4C299-E21F-D5D8-88F9-EF07D309FF8B}"/>
              </a:ext>
            </a:extLst>
          </p:cNvPr>
          <p:cNvSpPr/>
          <p:nvPr/>
        </p:nvSpPr>
        <p:spPr>
          <a:xfrm>
            <a:off x="869645" y="1933576"/>
            <a:ext cx="3165231" cy="4121966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C0829B7-7D49-1377-AA28-19E9C758C1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987378" y="2099764"/>
            <a:ext cx="310284" cy="286607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7E9C4B2-9DA7-C9BD-7F8C-40FA725606BE}"/>
              </a:ext>
            </a:extLst>
          </p:cNvPr>
          <p:cNvSpPr/>
          <p:nvPr/>
        </p:nvSpPr>
        <p:spPr>
          <a:xfrm>
            <a:off x="1104420" y="337636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암에 대한 걱정이 제일 커요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3AABEF2-E90B-0278-8028-4F08D66D133A}"/>
              </a:ext>
            </a:extLst>
          </p:cNvPr>
          <p:cNvSpPr/>
          <p:nvPr/>
        </p:nvSpPr>
        <p:spPr>
          <a:xfrm>
            <a:off x="1104420" y="394996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뇌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심장 혈관질환이 가장 걱정돼요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A01D3CF-6CFC-A0FC-D6CE-CCABB87D33CF}"/>
              </a:ext>
            </a:extLst>
          </p:cNvPr>
          <p:cNvSpPr/>
          <p:nvPr/>
        </p:nvSpPr>
        <p:spPr>
          <a:xfrm>
            <a:off x="1104420" y="452356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치매가 정말 염려돼요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2FE964-E122-902E-B8A2-2945517CE601}"/>
              </a:ext>
            </a:extLst>
          </p:cNvPr>
          <p:cNvSpPr txBox="1"/>
          <p:nvPr/>
        </p:nvSpPr>
        <p:spPr>
          <a:xfrm>
            <a:off x="1077244" y="2489880"/>
            <a:ext cx="2695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100" dirty="0">
                <a:latin typeface="+mn-ea"/>
              </a:rPr>
              <a:t>어떤 상황을</a:t>
            </a:r>
            <a:endParaRPr lang="en-US" altLang="ko-KR" sz="1600" b="1" spc="-100" dirty="0">
              <a:latin typeface="+mn-ea"/>
            </a:endParaRPr>
          </a:p>
          <a:p>
            <a:r>
              <a:rPr lang="ko-KR" altLang="en-US" sz="1600" b="1" spc="-100" dirty="0">
                <a:latin typeface="+mn-ea"/>
              </a:rPr>
              <a:t>가장 대비하고 </a:t>
            </a:r>
            <a:r>
              <a:rPr lang="ko-KR" altLang="en-US" sz="1600" b="1" spc="-100" dirty="0" err="1">
                <a:latin typeface="+mn-ea"/>
              </a:rPr>
              <a:t>싶으세요</a:t>
            </a:r>
            <a:r>
              <a:rPr lang="en-US" altLang="ko-KR" sz="1600" b="1" spc="-100" dirty="0">
                <a:latin typeface="+mn-ea"/>
              </a:rPr>
              <a:t>?</a:t>
            </a:r>
            <a:r>
              <a:rPr lang="ko-KR" altLang="en-US" sz="1600" b="1" spc="-100" dirty="0">
                <a:latin typeface="+mn-ea"/>
              </a:rPr>
              <a:t> 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A29047F-ABAF-E02F-DBE7-2558FBDEC9F0}"/>
              </a:ext>
            </a:extLst>
          </p:cNvPr>
          <p:cNvSpPr/>
          <p:nvPr/>
        </p:nvSpPr>
        <p:spPr>
          <a:xfrm>
            <a:off x="1104420" y="5097166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골고루 대비하고 싶어요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BAF5C2-4BF6-7F6F-8E5B-F01DCA507EC7}"/>
              </a:ext>
            </a:extLst>
          </p:cNvPr>
          <p:cNvSpPr txBox="1"/>
          <p:nvPr/>
        </p:nvSpPr>
        <p:spPr>
          <a:xfrm>
            <a:off x="1782349" y="5493063"/>
            <a:ext cx="1285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. </a:t>
            </a:r>
            <a:r>
              <a:rPr lang="en-US" altLang="ko-KR" sz="2400" b="1" spc="-15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</a:t>
            </a:r>
            <a:endParaRPr lang="ko-KR" altLang="en-US" sz="2400" b="1" spc="-15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28" name="사각형: 둥근 위쪽 모서리 27">
            <a:extLst>
              <a:ext uri="{FF2B5EF4-FFF2-40B4-BE49-F238E27FC236}">
                <a16:creationId xmlns:a16="http://schemas.microsoft.com/office/drawing/2014/main" id="{2033833E-9073-7567-62A7-9B538E119A36}"/>
              </a:ext>
            </a:extLst>
          </p:cNvPr>
          <p:cNvSpPr/>
          <p:nvPr/>
        </p:nvSpPr>
        <p:spPr>
          <a:xfrm>
            <a:off x="4410026" y="1933576"/>
            <a:ext cx="3165231" cy="4121966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27B812C5-5D18-5BA3-4D65-217892D9BB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4527759" y="2099764"/>
            <a:ext cx="310284" cy="28660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CE8E9C6-FE26-0F78-68C2-5B9B120906D4}"/>
              </a:ext>
            </a:extLst>
          </p:cNvPr>
          <p:cNvSpPr txBox="1"/>
          <p:nvPr/>
        </p:nvSpPr>
        <p:spPr>
          <a:xfrm>
            <a:off x="4631995" y="2499922"/>
            <a:ext cx="2695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생각하신 보험료 </a:t>
            </a:r>
            <a:r>
              <a:rPr lang="en-US" altLang="ko-KR" sz="1200" b="1" spc="-100" dirty="0">
                <a:solidFill>
                  <a:srgbClr val="00B0F0"/>
                </a:solidFill>
                <a:latin typeface="+mn-ea"/>
              </a:rPr>
              <a:t>5~10</a:t>
            </a:r>
            <a:r>
              <a:rPr lang="ko-KR" altLang="en-US" sz="1200" b="1" spc="-100" dirty="0">
                <a:solidFill>
                  <a:srgbClr val="00B0F0"/>
                </a:solidFill>
                <a:latin typeface="+mn-ea"/>
              </a:rPr>
              <a:t>만원 </a:t>
            </a:r>
            <a:r>
              <a:rPr lang="ko-KR" altLang="en-US" sz="12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내에서</a:t>
            </a:r>
            <a:endParaRPr lang="en-US" altLang="ko-KR" sz="1200" b="1" spc="-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ko-KR" altLang="en-US" sz="12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가장 걱정이 큰 </a:t>
            </a:r>
            <a:r>
              <a:rPr lang="ko-KR" altLang="en-US" sz="1200" b="1" spc="-100" dirty="0">
                <a:solidFill>
                  <a:srgbClr val="00B0F0"/>
                </a:solidFill>
                <a:latin typeface="+mn-ea"/>
              </a:rPr>
              <a:t>암을</a:t>
            </a:r>
            <a:endParaRPr lang="en-US" altLang="ko-KR" sz="1200" b="1" spc="-100" dirty="0">
              <a:solidFill>
                <a:srgbClr val="00B0F0"/>
              </a:solidFill>
              <a:latin typeface="+mn-ea"/>
            </a:endParaRPr>
          </a:p>
          <a:p>
            <a:r>
              <a:rPr lang="ko-KR" altLang="en-US" sz="1200" b="1" spc="-100" dirty="0">
                <a:solidFill>
                  <a:srgbClr val="00B0F0"/>
                </a:solidFill>
                <a:latin typeface="+mn-ea"/>
              </a:rPr>
              <a:t>집중적으로 대비할 수 있게 </a:t>
            </a:r>
            <a:r>
              <a:rPr lang="ko-KR" altLang="en-US" sz="12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설계했어요</a:t>
            </a:r>
            <a:endParaRPr lang="en-US" altLang="ko-KR" sz="1200" b="1" spc="-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38A35B-A206-2659-8511-F62A50369CBE}"/>
              </a:ext>
            </a:extLst>
          </p:cNvPr>
          <p:cNvSpPr txBox="1"/>
          <p:nvPr/>
        </p:nvSpPr>
        <p:spPr>
          <a:xfrm>
            <a:off x="5011790" y="1055084"/>
            <a:ext cx="22667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pc="-100" dirty="0">
                <a:solidFill>
                  <a:srgbClr val="7030A0"/>
                </a:solidFill>
                <a:latin typeface="+mn-ea"/>
              </a:rPr>
              <a:t>가입 후 </a:t>
            </a:r>
            <a:r>
              <a:rPr lang="en-US" altLang="ko-KR" sz="1100" spc="-100" dirty="0">
                <a:solidFill>
                  <a:srgbClr val="7030A0"/>
                </a:solidFill>
                <a:latin typeface="+mn-ea"/>
              </a:rPr>
              <a:t>30</a:t>
            </a:r>
            <a:r>
              <a:rPr lang="ko-KR" altLang="en-US" sz="1100" spc="-100" dirty="0">
                <a:solidFill>
                  <a:srgbClr val="7030A0"/>
                </a:solidFill>
                <a:latin typeface="+mn-ea"/>
              </a:rPr>
              <a:t>일내 취소</a:t>
            </a:r>
            <a:r>
              <a:rPr lang="en-US" altLang="ko-KR" sz="1100" spc="-100" dirty="0">
                <a:solidFill>
                  <a:srgbClr val="7030A0"/>
                </a:solidFill>
                <a:latin typeface="+mn-ea"/>
              </a:rPr>
              <a:t>(</a:t>
            </a:r>
            <a:r>
              <a:rPr lang="ko-KR" altLang="en-US" sz="1100" spc="-100" dirty="0">
                <a:solidFill>
                  <a:srgbClr val="7030A0"/>
                </a:solidFill>
                <a:latin typeface="+mn-ea"/>
              </a:rPr>
              <a:t>청약철회</a:t>
            </a:r>
            <a:r>
              <a:rPr lang="en-US" altLang="ko-KR" sz="1100" spc="-100" dirty="0">
                <a:solidFill>
                  <a:srgbClr val="7030A0"/>
                </a:solidFill>
                <a:latin typeface="+mn-ea"/>
              </a:rPr>
              <a:t>)</a:t>
            </a:r>
            <a:r>
              <a:rPr lang="ko-KR" altLang="en-US" sz="1100" spc="-100" dirty="0">
                <a:solidFill>
                  <a:srgbClr val="7030A0"/>
                </a:solidFill>
                <a:latin typeface="+mn-ea"/>
              </a:rPr>
              <a:t> 가능</a:t>
            </a:r>
            <a:endParaRPr lang="en-US" altLang="ko-KR" sz="1100" spc="-100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1069E011-B9A4-A3C3-2522-1E23ED4BB3B2}"/>
              </a:ext>
            </a:extLst>
          </p:cNvPr>
          <p:cNvSpPr/>
          <p:nvPr/>
        </p:nvSpPr>
        <p:spPr>
          <a:xfrm>
            <a:off x="4657605" y="5334916"/>
            <a:ext cx="2670072" cy="468000"/>
          </a:xfrm>
          <a:prstGeom prst="roundRect">
            <a:avLst/>
          </a:prstGeom>
          <a:solidFill>
            <a:srgbClr val="228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보험료 확인하고 가입하기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C6859115-4ECB-3AA8-A016-498A3A82F7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5836" y="-1915899"/>
            <a:ext cx="3165231" cy="68580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90CCD06C-198F-CA85-E1B8-1A4F2F0155D3}"/>
              </a:ext>
            </a:extLst>
          </p:cNvPr>
          <p:cNvSpPr txBox="1"/>
          <p:nvPr/>
        </p:nvSpPr>
        <p:spPr>
          <a:xfrm>
            <a:off x="1380831" y="568047"/>
            <a:ext cx="26956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pc="-100" dirty="0">
                <a:solidFill>
                  <a:srgbClr val="7030A0"/>
                </a:solidFill>
                <a:latin typeface="+mn-ea"/>
              </a:rPr>
              <a:t>선택하지 않은 걱정도 함께 보장돼요</a:t>
            </a:r>
            <a:endParaRPr lang="en-US" altLang="ko-KR" sz="1100" spc="-100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35BCD2-9764-C8E7-E94A-91EC2463BF8B}"/>
              </a:ext>
            </a:extLst>
          </p:cNvPr>
          <p:cNvSpPr txBox="1"/>
          <p:nvPr/>
        </p:nvSpPr>
        <p:spPr>
          <a:xfrm>
            <a:off x="3211400" y="176360"/>
            <a:ext cx="23408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AI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와 함께하는 </a:t>
            </a:r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대 여성 보험설계</a:t>
            </a:r>
            <a:endParaRPr lang="ko-KR" altLang="en-US" sz="1050" spc="-1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3ABF15-5D1B-AD4D-6EEF-464C2F96BB57}"/>
              </a:ext>
            </a:extLst>
          </p:cNvPr>
          <p:cNvSpPr txBox="1"/>
          <p:nvPr/>
        </p:nvSpPr>
        <p:spPr>
          <a:xfrm>
            <a:off x="1269033" y="2122509"/>
            <a:ext cx="23408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대 여성을 위한</a:t>
            </a:r>
            <a:r>
              <a:rPr lang="ko-KR" altLang="en-US" sz="1050" b="1" spc="-100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AI 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보험설계</a:t>
            </a:r>
            <a:endParaRPr lang="ko-KR" altLang="en-US" sz="1050" spc="-100" dirty="0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3911D6-CD38-7244-B790-D4045D8DF7CF}"/>
              </a:ext>
            </a:extLst>
          </p:cNvPr>
          <p:cNvSpPr txBox="1"/>
          <p:nvPr/>
        </p:nvSpPr>
        <p:spPr>
          <a:xfrm>
            <a:off x="4838043" y="2122509"/>
            <a:ext cx="23408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대 여성을 위한</a:t>
            </a:r>
            <a:r>
              <a:rPr lang="ko-KR" altLang="en-US" sz="1050" b="1" spc="-100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AI 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보험설계</a:t>
            </a:r>
            <a:endParaRPr lang="ko-KR" altLang="en-US" sz="1050" spc="-100" dirty="0">
              <a:latin typeface="+mn-ea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CCDD676-E94A-4446-8189-AFF74C1E9D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2" t="53503" r="6727" b="31916"/>
          <a:stretch>
            <a:fillRect/>
          </a:stretch>
        </p:blipFill>
        <p:spPr>
          <a:xfrm>
            <a:off x="7870494" y="160420"/>
            <a:ext cx="2612603" cy="957473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3FF03F0-E521-7113-21AA-0FECAC62E228}"/>
              </a:ext>
            </a:extLst>
          </p:cNvPr>
          <p:cNvSpPr/>
          <p:nvPr/>
        </p:nvSpPr>
        <p:spPr>
          <a:xfrm>
            <a:off x="4602631" y="3245109"/>
            <a:ext cx="2798293" cy="1877716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783B0C-287D-CCCF-7552-3C33798174C5}"/>
              </a:ext>
            </a:extLst>
          </p:cNvPr>
          <p:cNvSpPr txBox="1"/>
          <p:nvPr/>
        </p:nvSpPr>
        <p:spPr>
          <a:xfrm>
            <a:off x="4705241" y="4173412"/>
            <a:ext cx="269568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암진단시 최대 </a:t>
            </a:r>
            <a:r>
              <a:rPr lang="en-US" altLang="ko-KR" sz="1000" spc="-100" dirty="0">
                <a:solidFill>
                  <a:srgbClr val="2287FF"/>
                </a:solidFill>
                <a:latin typeface="+mn-ea"/>
              </a:rPr>
              <a:t>1000</a:t>
            </a:r>
            <a:r>
              <a:rPr lang="ko-KR" altLang="en-US" sz="1000" spc="-100" dirty="0">
                <a:solidFill>
                  <a:srgbClr val="2287FF"/>
                </a:solidFill>
                <a:latin typeface="+mn-ea"/>
              </a:rPr>
              <a:t>만원</a:t>
            </a:r>
            <a:endParaRPr lang="en-US" altLang="ko-KR" sz="1000" spc="-100" dirty="0">
              <a:solidFill>
                <a:srgbClr val="2287FF"/>
              </a:solidFill>
              <a:latin typeface="+mn-ea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000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항암중입자</a:t>
            </a: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000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치료시</a:t>
            </a: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최대 </a:t>
            </a:r>
            <a:r>
              <a:rPr lang="en-US" altLang="ko-KR" sz="1000" spc="-100" dirty="0">
                <a:solidFill>
                  <a:srgbClr val="2287FF"/>
                </a:solidFill>
                <a:latin typeface="+mn-ea"/>
              </a:rPr>
              <a:t>5000</a:t>
            </a:r>
            <a:r>
              <a:rPr lang="ko-KR" altLang="en-US" sz="1000" spc="-100" dirty="0">
                <a:solidFill>
                  <a:srgbClr val="2287FF"/>
                </a:solidFill>
                <a:latin typeface="+mn-ea"/>
              </a:rPr>
              <a:t>만원</a:t>
            </a:r>
            <a:endParaRPr lang="en-US" altLang="ko-KR" sz="1000" spc="-100" dirty="0">
              <a:solidFill>
                <a:srgbClr val="2287FF"/>
              </a:solidFill>
              <a:latin typeface="+mn-ea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표적약물</a:t>
            </a:r>
            <a:r>
              <a:rPr lang="en-US" altLang="ko-KR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방사선치료 시 </a:t>
            </a:r>
            <a:r>
              <a:rPr lang="ko-KR" altLang="en-US" sz="1000" spc="-100" dirty="0">
                <a:solidFill>
                  <a:srgbClr val="2287FF"/>
                </a:solidFill>
                <a:latin typeface="+mn-ea"/>
              </a:rPr>
              <a:t>최대 </a:t>
            </a:r>
            <a:r>
              <a:rPr lang="en-US" altLang="ko-KR" sz="1000" spc="-100" dirty="0">
                <a:solidFill>
                  <a:srgbClr val="2287FF"/>
                </a:solidFill>
                <a:latin typeface="+mn-ea"/>
              </a:rPr>
              <a:t>5000</a:t>
            </a:r>
            <a:r>
              <a:rPr lang="ko-KR" altLang="en-US" sz="1000" spc="-100" dirty="0">
                <a:solidFill>
                  <a:srgbClr val="2287FF"/>
                </a:solidFill>
                <a:latin typeface="+mn-ea"/>
              </a:rPr>
              <a:t>만원</a:t>
            </a:r>
            <a:endParaRPr lang="en-US" altLang="ko-KR" sz="1000" spc="-100" dirty="0">
              <a:solidFill>
                <a:srgbClr val="2287FF"/>
              </a:solidFill>
              <a:latin typeface="+mn-ea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뇌혈관 질환 </a:t>
            </a:r>
            <a:r>
              <a:rPr lang="ko-KR" altLang="en-US" sz="1000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진단시</a:t>
            </a: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최대 </a:t>
            </a:r>
            <a:r>
              <a:rPr lang="en-US" altLang="ko-KR" sz="1000" spc="-100" dirty="0">
                <a:solidFill>
                  <a:srgbClr val="2287FF"/>
                </a:solidFill>
                <a:latin typeface="+mn-ea"/>
              </a:rPr>
              <a:t>1000</a:t>
            </a:r>
            <a:r>
              <a:rPr lang="ko-KR" altLang="en-US" sz="1000" spc="-100" dirty="0">
                <a:solidFill>
                  <a:srgbClr val="2287FF"/>
                </a:solidFill>
                <a:latin typeface="+mn-ea"/>
              </a:rPr>
              <a:t>만원</a:t>
            </a:r>
            <a:endParaRPr lang="en-US" altLang="ko-KR" sz="1000" spc="-100" dirty="0">
              <a:solidFill>
                <a:srgbClr val="2287FF"/>
              </a:solidFill>
              <a:latin typeface="+mn-ea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치매 </a:t>
            </a:r>
            <a:r>
              <a:rPr lang="ko-KR" altLang="en-US" sz="1000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진단시</a:t>
            </a: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ko-KR" sz="1000" spc="-100" dirty="0">
                <a:solidFill>
                  <a:srgbClr val="2287FF"/>
                </a:solidFill>
                <a:latin typeface="+mn-ea"/>
              </a:rPr>
              <a:t>100</a:t>
            </a:r>
            <a:r>
              <a:rPr lang="ko-KR" altLang="en-US" sz="1000" spc="-100" dirty="0">
                <a:solidFill>
                  <a:srgbClr val="2287FF"/>
                </a:solidFill>
                <a:latin typeface="+mn-ea"/>
              </a:rPr>
              <a:t>만원</a:t>
            </a:r>
            <a:r>
              <a:rPr lang="en-US" altLang="ko-KR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000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그외</a:t>
            </a: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일상생활</a:t>
            </a:r>
            <a:r>
              <a:rPr lang="en-US" altLang="ko-KR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</a:t>
            </a: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골절</a:t>
            </a:r>
            <a:r>
              <a:rPr lang="en-US" altLang="ko-KR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) </a:t>
            </a: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보장</a:t>
            </a:r>
            <a:r>
              <a:rPr lang="en-US" altLang="ko-KR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A315FA-CFDA-9361-DF48-E88C8CDA9B14}"/>
              </a:ext>
            </a:extLst>
          </p:cNvPr>
          <p:cNvSpPr txBox="1"/>
          <p:nvPr/>
        </p:nvSpPr>
        <p:spPr>
          <a:xfrm>
            <a:off x="4753490" y="3614798"/>
            <a:ext cx="2452692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05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월  </a:t>
            </a:r>
            <a:r>
              <a:rPr lang="en-US" altLang="ko-KR" sz="20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98,530 </a:t>
            </a:r>
            <a:r>
              <a:rPr lang="ko-KR" altLang="en-US" sz="105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원</a:t>
            </a:r>
            <a:endParaRPr lang="en-US" altLang="ko-KR" sz="1050" b="1" spc="-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68A5A8-2DF5-49DC-037B-1B4EBE22F38E}"/>
              </a:ext>
            </a:extLst>
          </p:cNvPr>
          <p:cNvSpPr txBox="1"/>
          <p:nvPr/>
        </p:nvSpPr>
        <p:spPr>
          <a:xfrm>
            <a:off x="4682152" y="3310465"/>
            <a:ext cx="30165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보험기간 </a:t>
            </a:r>
            <a:r>
              <a:rPr lang="en-US" altLang="ko-KR" sz="1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100</a:t>
            </a:r>
            <a:r>
              <a:rPr lang="ko-KR" altLang="en-US" sz="1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세</a:t>
            </a:r>
            <a:r>
              <a:rPr lang="en-US" altLang="ko-KR" sz="1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</a:t>
            </a:r>
            <a:r>
              <a:rPr lang="ko-KR" altLang="en-US" sz="1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납입기간 </a:t>
            </a:r>
            <a:r>
              <a:rPr lang="en-US" altLang="ko-KR" sz="1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20</a:t>
            </a:r>
            <a:r>
              <a:rPr lang="ko-KR" altLang="en-US" sz="1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년</a:t>
            </a:r>
            <a:r>
              <a:rPr lang="en-US" altLang="ko-KR" sz="1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</a:t>
            </a:r>
            <a:r>
              <a:rPr lang="ko-KR" altLang="en-US" sz="1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남성</a:t>
            </a:r>
            <a:r>
              <a:rPr lang="en-US" altLang="ko-KR" sz="1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/45</a:t>
            </a:r>
            <a:r>
              <a:rPr lang="ko-KR" altLang="en-US" sz="1000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세</a:t>
            </a:r>
            <a:endParaRPr lang="en-US" altLang="ko-KR" sz="1000" spc="-1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4" name="사각형: 둥근 위쪽 모서리 3">
            <a:extLst>
              <a:ext uri="{FF2B5EF4-FFF2-40B4-BE49-F238E27FC236}">
                <a16:creationId xmlns:a16="http://schemas.microsoft.com/office/drawing/2014/main" id="{D0307946-D7FF-DBF0-437F-C030C4167035}"/>
              </a:ext>
            </a:extLst>
          </p:cNvPr>
          <p:cNvSpPr/>
          <p:nvPr/>
        </p:nvSpPr>
        <p:spPr>
          <a:xfrm>
            <a:off x="7797226" y="1933576"/>
            <a:ext cx="3165231" cy="4121966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A53B9DD-C50D-F5BE-25F2-DF6B62330D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7914959" y="2099764"/>
            <a:ext cx="310284" cy="28660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A195BD4-0F13-C5DB-D277-7A68BF3873BC}"/>
              </a:ext>
            </a:extLst>
          </p:cNvPr>
          <p:cNvSpPr txBox="1"/>
          <p:nvPr/>
        </p:nvSpPr>
        <p:spPr>
          <a:xfrm>
            <a:off x="8019195" y="2499922"/>
            <a:ext cx="2695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생각하신 보험료 </a:t>
            </a:r>
            <a:r>
              <a:rPr lang="en-US" altLang="ko-KR" sz="1200" b="1" spc="-100" dirty="0">
                <a:solidFill>
                  <a:srgbClr val="00B0F0"/>
                </a:solidFill>
                <a:latin typeface="+mn-ea"/>
              </a:rPr>
              <a:t>5~10</a:t>
            </a:r>
            <a:r>
              <a:rPr lang="ko-KR" altLang="en-US" sz="1200" b="1" spc="-100" dirty="0">
                <a:solidFill>
                  <a:srgbClr val="00B0F0"/>
                </a:solidFill>
                <a:latin typeface="+mn-ea"/>
              </a:rPr>
              <a:t>만원 </a:t>
            </a:r>
            <a:r>
              <a:rPr lang="ko-KR" altLang="en-US" sz="12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내에서</a:t>
            </a:r>
            <a:endParaRPr lang="en-US" altLang="ko-KR" sz="1200" b="1" spc="-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ko-KR" altLang="en-US" sz="12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가장 걱정이 큰 </a:t>
            </a:r>
            <a:r>
              <a:rPr lang="ko-KR" altLang="en-US" sz="1200" b="1" spc="-100" dirty="0">
                <a:solidFill>
                  <a:srgbClr val="00B0F0"/>
                </a:solidFill>
                <a:latin typeface="+mn-ea"/>
              </a:rPr>
              <a:t>암을</a:t>
            </a:r>
            <a:endParaRPr lang="en-US" altLang="ko-KR" sz="1200" b="1" spc="-100" dirty="0">
              <a:solidFill>
                <a:srgbClr val="00B0F0"/>
              </a:solidFill>
              <a:latin typeface="+mn-ea"/>
            </a:endParaRPr>
          </a:p>
          <a:p>
            <a:r>
              <a:rPr lang="ko-KR" altLang="en-US" sz="1200" b="1" spc="-100" dirty="0">
                <a:solidFill>
                  <a:srgbClr val="00B0F0"/>
                </a:solidFill>
                <a:latin typeface="+mn-ea"/>
              </a:rPr>
              <a:t>집중적으로 대비할 수 있게 </a:t>
            </a:r>
            <a:r>
              <a:rPr lang="ko-KR" altLang="en-US" sz="12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설계했어요</a:t>
            </a:r>
            <a:endParaRPr lang="en-US" altLang="ko-KR" sz="1200" b="1" spc="-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167C9A9-B8CF-D5B1-65E3-4B9CF7E4FBE7}"/>
              </a:ext>
            </a:extLst>
          </p:cNvPr>
          <p:cNvSpPr/>
          <p:nvPr/>
        </p:nvSpPr>
        <p:spPr>
          <a:xfrm>
            <a:off x="8019195" y="4718290"/>
            <a:ext cx="2670072" cy="468000"/>
          </a:xfrm>
          <a:prstGeom prst="roundRect">
            <a:avLst/>
          </a:prstGeom>
          <a:solidFill>
            <a:srgbClr val="228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보험료 확인 후 가입하기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6B51A4-9211-03BA-D1E5-1D605A2633B9}"/>
              </a:ext>
            </a:extLst>
          </p:cNvPr>
          <p:cNvSpPr txBox="1"/>
          <p:nvPr/>
        </p:nvSpPr>
        <p:spPr>
          <a:xfrm>
            <a:off x="8225243" y="2122509"/>
            <a:ext cx="23408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대 여성을 위한</a:t>
            </a:r>
            <a:r>
              <a:rPr lang="ko-KR" altLang="en-US" sz="1050" b="1" spc="-100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AI 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보험설계</a:t>
            </a:r>
            <a:endParaRPr lang="ko-KR" altLang="en-US" sz="1050" spc="-100" dirty="0">
              <a:latin typeface="+mn-ea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D572A6A-3AEF-BDA1-4490-5EC0D8DD9955}"/>
              </a:ext>
            </a:extLst>
          </p:cNvPr>
          <p:cNvSpPr/>
          <p:nvPr/>
        </p:nvSpPr>
        <p:spPr>
          <a:xfrm>
            <a:off x="7989831" y="3310465"/>
            <a:ext cx="2798293" cy="1278222"/>
          </a:xfrm>
          <a:prstGeom prst="roundRect">
            <a:avLst>
              <a:gd name="adj" fmla="val 6522"/>
            </a:avLst>
          </a:prstGeom>
          <a:solidFill>
            <a:srgbClr val="ECF3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DB4E52-9EAB-8BB9-6034-A4FF5BEB6F17}"/>
              </a:ext>
            </a:extLst>
          </p:cNvPr>
          <p:cNvSpPr txBox="1"/>
          <p:nvPr/>
        </p:nvSpPr>
        <p:spPr>
          <a:xfrm>
            <a:off x="8079741" y="3674068"/>
            <a:ext cx="2695683" cy="812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indent="-8572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암진단시 최대 </a:t>
            </a:r>
            <a:r>
              <a:rPr lang="en-US" altLang="ko-KR" sz="1000" spc="-100" dirty="0">
                <a:solidFill>
                  <a:srgbClr val="2287FF"/>
                </a:solidFill>
                <a:latin typeface="+mn-ea"/>
              </a:rPr>
              <a:t>1000</a:t>
            </a:r>
            <a:r>
              <a:rPr lang="ko-KR" altLang="en-US" sz="1000" spc="-100" dirty="0">
                <a:solidFill>
                  <a:srgbClr val="2287FF"/>
                </a:solidFill>
                <a:latin typeface="+mn-ea"/>
              </a:rPr>
              <a:t>만원</a:t>
            </a:r>
            <a:endParaRPr lang="en-US" altLang="ko-KR" sz="1000" spc="-100" dirty="0">
              <a:solidFill>
                <a:srgbClr val="2287FF"/>
              </a:solidFill>
              <a:latin typeface="+mn-ea"/>
            </a:endParaRPr>
          </a:p>
          <a:p>
            <a:pPr marL="85725" indent="-8572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항암중입자</a:t>
            </a: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000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치료시</a:t>
            </a: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최대 </a:t>
            </a:r>
            <a:r>
              <a:rPr lang="en-US" altLang="ko-KR" sz="1000" spc="-100" dirty="0">
                <a:solidFill>
                  <a:srgbClr val="2287FF"/>
                </a:solidFill>
                <a:latin typeface="+mn-ea"/>
              </a:rPr>
              <a:t>5000</a:t>
            </a:r>
            <a:r>
              <a:rPr lang="ko-KR" altLang="en-US" sz="1000" spc="-100" dirty="0">
                <a:solidFill>
                  <a:srgbClr val="2287FF"/>
                </a:solidFill>
                <a:latin typeface="+mn-ea"/>
              </a:rPr>
              <a:t>만원</a:t>
            </a:r>
            <a:endParaRPr lang="en-US" altLang="ko-KR" sz="1000" spc="-100" dirty="0">
              <a:solidFill>
                <a:srgbClr val="2287FF"/>
              </a:solidFill>
              <a:latin typeface="+mn-ea"/>
            </a:endParaRPr>
          </a:p>
          <a:p>
            <a:pPr marL="85725" indent="-8572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표적약물</a:t>
            </a:r>
            <a:r>
              <a:rPr lang="en-US" altLang="ko-KR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방사선치료 시 </a:t>
            </a:r>
            <a:r>
              <a:rPr lang="ko-KR" altLang="en-US" sz="1000" spc="-100" dirty="0">
                <a:solidFill>
                  <a:srgbClr val="2287FF"/>
                </a:solidFill>
                <a:latin typeface="+mn-ea"/>
              </a:rPr>
              <a:t>최대 </a:t>
            </a:r>
            <a:r>
              <a:rPr lang="en-US" altLang="ko-KR" sz="1000" spc="-100" dirty="0">
                <a:solidFill>
                  <a:srgbClr val="2287FF"/>
                </a:solidFill>
                <a:latin typeface="+mn-ea"/>
              </a:rPr>
              <a:t>5000</a:t>
            </a:r>
            <a:r>
              <a:rPr lang="ko-KR" altLang="en-US" sz="1000" spc="-100" dirty="0">
                <a:solidFill>
                  <a:srgbClr val="2287FF"/>
                </a:solidFill>
                <a:latin typeface="+mn-ea"/>
              </a:rPr>
              <a:t>만원</a:t>
            </a:r>
            <a:endParaRPr lang="en-US" altLang="ko-KR" sz="1000" spc="-100" dirty="0">
              <a:solidFill>
                <a:srgbClr val="2287FF"/>
              </a:solidFill>
              <a:latin typeface="+mn-ea"/>
            </a:endParaRPr>
          </a:p>
          <a:p>
            <a:pPr marL="85725" indent="-8572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뇌혈관 질환 </a:t>
            </a:r>
            <a:r>
              <a:rPr lang="ko-KR" altLang="en-US" sz="1000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진단시</a:t>
            </a: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최대 </a:t>
            </a:r>
            <a:r>
              <a:rPr lang="en-US" altLang="ko-KR" sz="1000" spc="-100" dirty="0">
                <a:solidFill>
                  <a:srgbClr val="2287FF"/>
                </a:solidFill>
                <a:latin typeface="+mn-ea"/>
              </a:rPr>
              <a:t>1000</a:t>
            </a:r>
            <a:r>
              <a:rPr lang="ko-KR" altLang="en-US" sz="1000" spc="-100" dirty="0">
                <a:solidFill>
                  <a:srgbClr val="2287FF"/>
                </a:solidFill>
                <a:latin typeface="+mn-ea"/>
              </a:rPr>
              <a:t>만원</a:t>
            </a:r>
            <a:endParaRPr lang="en-US" altLang="ko-KR" sz="1000" spc="-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525F1B-70E7-A8B2-EE30-F873BEC4B1F4}"/>
              </a:ext>
            </a:extLst>
          </p:cNvPr>
          <p:cNvSpPr txBox="1"/>
          <p:nvPr/>
        </p:nvSpPr>
        <p:spPr>
          <a:xfrm>
            <a:off x="8069352" y="3376367"/>
            <a:ext cx="26390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100" dirty="0">
                <a:latin typeface="+mn-ea"/>
              </a:rPr>
              <a:t>주요 보장을 이렇게 대비 했어요</a:t>
            </a:r>
            <a:endParaRPr lang="en-US" altLang="ko-KR" sz="1200" b="1" spc="-100" dirty="0">
              <a:latin typeface="+mn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087250-888D-FC9C-07B3-F8D4F75AA42E}"/>
              </a:ext>
            </a:extLst>
          </p:cNvPr>
          <p:cNvSpPr txBox="1"/>
          <p:nvPr/>
        </p:nvSpPr>
        <p:spPr>
          <a:xfrm>
            <a:off x="9030638" y="6384703"/>
            <a:ext cx="16586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pc="-100" dirty="0">
                <a:latin typeface="+mn-ea"/>
              </a:rPr>
              <a:t>설계 내용 상세보기 </a:t>
            </a:r>
            <a:r>
              <a:rPr lang="en-US" altLang="ko-KR" sz="1200" spc="-100" dirty="0">
                <a:latin typeface="+mn-ea"/>
              </a:rPr>
              <a:t>&gt;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E5BE2369-E05B-8E71-D7D9-D8E4BCB94CFC}"/>
              </a:ext>
            </a:extLst>
          </p:cNvPr>
          <p:cNvSpPr/>
          <p:nvPr/>
        </p:nvSpPr>
        <p:spPr>
          <a:xfrm>
            <a:off x="8019195" y="5290305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설계 항목 조정하기</a:t>
            </a:r>
          </a:p>
        </p:txBody>
      </p:sp>
    </p:spTree>
    <p:extLst>
      <p:ext uri="{BB962C8B-B14F-4D97-AF65-F5344CB8AC3E}">
        <p14:creationId xmlns:p14="http://schemas.microsoft.com/office/powerpoint/2010/main" val="2538371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34BFFF4-307F-2DD5-076F-ABBA9E993D6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6" b="11112"/>
          <a:stretch>
            <a:fillRect/>
          </a:stretch>
        </p:blipFill>
        <p:spPr>
          <a:xfrm>
            <a:off x="-2670736" y="575731"/>
            <a:ext cx="3165231" cy="546946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3" name="사각형: 둥근 위쪽 모서리 2">
            <a:extLst>
              <a:ext uri="{FF2B5EF4-FFF2-40B4-BE49-F238E27FC236}">
                <a16:creationId xmlns:a16="http://schemas.microsoft.com/office/drawing/2014/main" id="{BDAA3402-DEED-BA03-F2BF-E5252F2E2087}"/>
              </a:ext>
            </a:extLst>
          </p:cNvPr>
          <p:cNvSpPr/>
          <p:nvPr/>
        </p:nvSpPr>
        <p:spPr>
          <a:xfrm>
            <a:off x="-2670736" y="1500959"/>
            <a:ext cx="3165231" cy="4544242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0100E55-CC89-39B5-0B45-2E96894837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-2519940" y="1757876"/>
            <a:ext cx="310284" cy="2866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3698DD-13EE-D263-7EB1-8BF9A413CEBC}"/>
              </a:ext>
            </a:extLst>
          </p:cNvPr>
          <p:cNvSpPr txBox="1"/>
          <p:nvPr/>
        </p:nvSpPr>
        <p:spPr>
          <a:xfrm>
            <a:off x="-2209656" y="1780621"/>
            <a:ext cx="23408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대 여성을 위한</a:t>
            </a:r>
            <a:r>
              <a:rPr lang="ko-KR" altLang="en-US" sz="1050" b="1" spc="-100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AI 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보험설계</a:t>
            </a:r>
            <a:endParaRPr lang="ko-KR" altLang="en-US" sz="1050" spc="-100" dirty="0">
              <a:latin typeface="+mn-ea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995CD6C-D829-B6D7-62DF-8FD8D88FB77E}"/>
              </a:ext>
            </a:extLst>
          </p:cNvPr>
          <p:cNvSpPr/>
          <p:nvPr/>
        </p:nvSpPr>
        <p:spPr>
          <a:xfrm>
            <a:off x="-2421948" y="2896178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3~5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707A1FC-5C96-23BA-E43E-02389A48FB37}"/>
              </a:ext>
            </a:extLst>
          </p:cNvPr>
          <p:cNvSpPr/>
          <p:nvPr/>
        </p:nvSpPr>
        <p:spPr>
          <a:xfrm>
            <a:off x="-2421948" y="3511390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5~10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CE0CEC9-5130-46E5-EBB2-DC039B3C4CD2}"/>
              </a:ext>
            </a:extLst>
          </p:cNvPr>
          <p:cNvSpPr/>
          <p:nvPr/>
        </p:nvSpPr>
        <p:spPr>
          <a:xfrm>
            <a:off x="-2421948" y="4126602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만원이상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CFD1F4-C1B5-7CB5-0E2F-282B986486EB}"/>
              </a:ext>
            </a:extLst>
          </p:cNvPr>
          <p:cNvSpPr txBox="1"/>
          <p:nvPr/>
        </p:nvSpPr>
        <p:spPr>
          <a:xfrm>
            <a:off x="-2421948" y="2147992"/>
            <a:ext cx="2695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100" dirty="0">
                <a:latin typeface="+mn-ea"/>
              </a:rPr>
              <a:t>매월 보험료는</a:t>
            </a:r>
            <a:endParaRPr lang="en-US" altLang="ko-KR" sz="1600" b="1" spc="-100" dirty="0">
              <a:latin typeface="+mn-ea"/>
            </a:endParaRPr>
          </a:p>
          <a:p>
            <a:r>
              <a:rPr lang="ko-KR" altLang="en-US" sz="1600" b="1" spc="-100" dirty="0">
                <a:latin typeface="+mn-ea"/>
              </a:rPr>
              <a:t>얼마정도 생각하세요</a:t>
            </a:r>
            <a:r>
              <a:rPr lang="en-US" altLang="ko-KR" sz="1600" b="1" spc="-100" dirty="0">
                <a:latin typeface="+mn-ea"/>
              </a:rPr>
              <a:t>?</a:t>
            </a:r>
            <a:endParaRPr lang="ko-KR" altLang="en-US" sz="1600" b="1" spc="-100" dirty="0"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37C5AF-86D4-B895-7F9C-02D46A12488A}"/>
              </a:ext>
            </a:extLst>
          </p:cNvPr>
          <p:cNvSpPr txBox="1"/>
          <p:nvPr/>
        </p:nvSpPr>
        <p:spPr>
          <a:xfrm>
            <a:off x="-1818450" y="5493063"/>
            <a:ext cx="1285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</a:t>
            </a:r>
            <a:r>
              <a:rPr lang="en-US" altLang="ko-KR" sz="2400" b="1" spc="-15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 .</a:t>
            </a:r>
            <a:endParaRPr lang="ko-KR" altLang="en-US" sz="2400" b="1" spc="-15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2E18456-C0B5-08B0-C9BD-B9F18CBA24CB}"/>
              </a:ext>
            </a:extLst>
          </p:cNvPr>
          <p:cNvSpPr/>
          <p:nvPr/>
        </p:nvSpPr>
        <p:spPr>
          <a:xfrm>
            <a:off x="-1297668" y="3642424"/>
            <a:ext cx="1428858" cy="231984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65%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고객님이 선택했어요</a:t>
            </a:r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A4A4C299-E21F-D5D8-88F9-EF07D309FF8B}"/>
              </a:ext>
            </a:extLst>
          </p:cNvPr>
          <p:cNvSpPr/>
          <p:nvPr/>
        </p:nvSpPr>
        <p:spPr>
          <a:xfrm>
            <a:off x="869645" y="1511300"/>
            <a:ext cx="3165231" cy="4544242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C0829B7-7D49-1377-AA28-19E9C758C1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987378" y="1757876"/>
            <a:ext cx="310284" cy="286607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7E9C4B2-9DA7-C9BD-7F8C-40FA725606BE}"/>
              </a:ext>
            </a:extLst>
          </p:cNvPr>
          <p:cNvSpPr/>
          <p:nvPr/>
        </p:nvSpPr>
        <p:spPr>
          <a:xfrm>
            <a:off x="1104420" y="2896178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암에 대한 걱정이 제일 커요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3AABEF2-E90B-0278-8028-4F08D66D133A}"/>
              </a:ext>
            </a:extLst>
          </p:cNvPr>
          <p:cNvSpPr/>
          <p:nvPr/>
        </p:nvSpPr>
        <p:spPr>
          <a:xfrm>
            <a:off x="1104420" y="3469778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뇌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심장 혈관질환이 가장 걱정돼요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A01D3CF-6CFC-A0FC-D6CE-CCABB87D33CF}"/>
              </a:ext>
            </a:extLst>
          </p:cNvPr>
          <p:cNvSpPr/>
          <p:nvPr/>
        </p:nvSpPr>
        <p:spPr>
          <a:xfrm>
            <a:off x="1104420" y="4043378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치매가 정말 염려돼요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2FE964-E122-902E-B8A2-2945517CE601}"/>
              </a:ext>
            </a:extLst>
          </p:cNvPr>
          <p:cNvSpPr txBox="1"/>
          <p:nvPr/>
        </p:nvSpPr>
        <p:spPr>
          <a:xfrm>
            <a:off x="1077244" y="2147992"/>
            <a:ext cx="2695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100" dirty="0">
                <a:latin typeface="+mn-ea"/>
              </a:rPr>
              <a:t>어떤 상황을</a:t>
            </a:r>
            <a:endParaRPr lang="en-US" altLang="ko-KR" sz="1600" b="1" spc="-100" dirty="0">
              <a:latin typeface="+mn-ea"/>
            </a:endParaRPr>
          </a:p>
          <a:p>
            <a:r>
              <a:rPr lang="ko-KR" altLang="en-US" sz="1600" b="1" spc="-100" dirty="0">
                <a:latin typeface="+mn-ea"/>
              </a:rPr>
              <a:t>가장 대비하고 </a:t>
            </a:r>
            <a:r>
              <a:rPr lang="ko-KR" altLang="en-US" sz="1600" b="1" spc="-100" dirty="0" err="1">
                <a:latin typeface="+mn-ea"/>
              </a:rPr>
              <a:t>싶으세요</a:t>
            </a:r>
            <a:r>
              <a:rPr lang="en-US" altLang="ko-KR" sz="1600" b="1" spc="-100" dirty="0">
                <a:latin typeface="+mn-ea"/>
              </a:rPr>
              <a:t>?</a:t>
            </a:r>
            <a:r>
              <a:rPr lang="ko-KR" altLang="en-US" sz="1600" b="1" spc="-100" dirty="0">
                <a:latin typeface="+mn-ea"/>
              </a:rPr>
              <a:t> 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A29047F-ABAF-E02F-DBE7-2558FBDEC9F0}"/>
              </a:ext>
            </a:extLst>
          </p:cNvPr>
          <p:cNvSpPr/>
          <p:nvPr/>
        </p:nvSpPr>
        <p:spPr>
          <a:xfrm>
            <a:off x="1104420" y="461697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골고루 대비하고 싶어요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BAF5C2-4BF6-7F6F-8E5B-F01DCA507EC7}"/>
              </a:ext>
            </a:extLst>
          </p:cNvPr>
          <p:cNvSpPr txBox="1"/>
          <p:nvPr/>
        </p:nvSpPr>
        <p:spPr>
          <a:xfrm>
            <a:off x="1782349" y="5493063"/>
            <a:ext cx="1285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. </a:t>
            </a:r>
            <a:r>
              <a:rPr lang="en-US" altLang="ko-KR" sz="2400" b="1" spc="-15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</a:t>
            </a:r>
            <a:endParaRPr lang="ko-KR" altLang="en-US" sz="2400" b="1" spc="-15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3ABF15-5D1B-AD4D-6EEF-464C2F96BB57}"/>
              </a:ext>
            </a:extLst>
          </p:cNvPr>
          <p:cNvSpPr txBox="1"/>
          <p:nvPr/>
        </p:nvSpPr>
        <p:spPr>
          <a:xfrm>
            <a:off x="1269033" y="1780621"/>
            <a:ext cx="23408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대 여성을 위한</a:t>
            </a:r>
            <a:r>
              <a:rPr lang="ko-KR" altLang="en-US" sz="1050" b="1" spc="-100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AI 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보험설계</a:t>
            </a:r>
            <a:endParaRPr lang="ko-KR" altLang="en-US" sz="1050" spc="-100" dirty="0">
              <a:latin typeface="+mn-ea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95EAF878-7318-28A1-942F-173CCAF72A8A}"/>
              </a:ext>
            </a:extLst>
          </p:cNvPr>
          <p:cNvGrpSpPr/>
          <p:nvPr/>
        </p:nvGrpSpPr>
        <p:grpSpPr>
          <a:xfrm>
            <a:off x="4410026" y="2163380"/>
            <a:ext cx="2314575" cy="2751095"/>
            <a:chOff x="8172450" y="2163380"/>
            <a:chExt cx="2314575" cy="2751095"/>
          </a:xfrm>
        </p:grpSpPr>
        <p:sp>
          <p:nvSpPr>
            <p:cNvPr id="70" name="사각형: 둥근 모서리 69">
              <a:extLst>
                <a:ext uri="{FF2B5EF4-FFF2-40B4-BE49-F238E27FC236}">
                  <a16:creationId xmlns:a16="http://schemas.microsoft.com/office/drawing/2014/main" id="{858FEF27-C52B-B81E-AD46-95C6E6AACD9C}"/>
                </a:ext>
              </a:extLst>
            </p:cNvPr>
            <p:cNvSpPr/>
            <p:nvPr/>
          </p:nvSpPr>
          <p:spPr>
            <a:xfrm>
              <a:off x="8172450" y="2581275"/>
              <a:ext cx="2314575" cy="23332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94E0A9C-C1AE-AB02-51D1-2B4D3A27212F}"/>
                </a:ext>
              </a:extLst>
            </p:cNvPr>
            <p:cNvSpPr txBox="1"/>
            <p:nvPr/>
          </p:nvSpPr>
          <p:spPr>
            <a:xfrm>
              <a:off x="8637458" y="2163380"/>
              <a:ext cx="13761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spc="-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로딩 </a:t>
              </a:r>
              <a:r>
                <a:rPr lang="ko-KR" altLang="en-US" sz="1200" spc="-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에니메이션</a:t>
              </a:r>
              <a:endParaRPr lang="en-US" altLang="ko-KR" sz="1200" spc="-100" dirty="0">
                <a:latin typeface="+mn-ea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3FB1F1E-2511-925A-9999-88007F4C368C}"/>
                </a:ext>
              </a:extLst>
            </p:cNvPr>
            <p:cNvSpPr txBox="1"/>
            <p:nvPr/>
          </p:nvSpPr>
          <p:spPr>
            <a:xfrm>
              <a:off x="8728128" y="2493150"/>
              <a:ext cx="128547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spc="-150" dirty="0">
                  <a:solidFill>
                    <a:schemeClr val="bg1">
                      <a:lumMod val="85000"/>
                    </a:schemeClr>
                  </a:solidFill>
                  <a:latin typeface="+mn-ea"/>
                </a:rPr>
                <a:t> … </a:t>
              </a:r>
              <a:r>
                <a:rPr lang="en-US" altLang="ko-KR" sz="4000" b="1" spc="-150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.</a:t>
              </a:r>
              <a:endParaRPr lang="ko-KR" altLang="en-US" sz="4000" b="1" spc="-150" dirty="0">
                <a:solidFill>
                  <a:schemeClr val="bg1">
                    <a:lumMod val="85000"/>
                  </a:schemeClr>
                </a:solidFill>
                <a:latin typeface="+mn-ea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6208B57-6331-E91B-E480-6E95C5911BE8}"/>
                </a:ext>
              </a:extLst>
            </p:cNvPr>
            <p:cNvSpPr txBox="1"/>
            <p:nvPr/>
          </p:nvSpPr>
          <p:spPr>
            <a:xfrm>
              <a:off x="8291914" y="3222927"/>
              <a:ext cx="2075643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800" dirty="0">
                  <a:solidFill>
                    <a:schemeClr val="bg1"/>
                  </a:solidFill>
                </a:rPr>
                <a:t>월 5~10만원내에서 40대 남성에게 암보장에 </a:t>
              </a:r>
              <a:r>
                <a:rPr lang="ko-KR" altLang="en-US" sz="1800" dirty="0" err="1">
                  <a:solidFill>
                    <a:schemeClr val="bg1"/>
                  </a:solidFill>
                </a:rPr>
                <a:t>딱맞게</a:t>
              </a:r>
              <a:r>
                <a:rPr lang="ko-KR" altLang="en-US" sz="1800" dirty="0">
                  <a:solidFill>
                    <a:schemeClr val="bg1"/>
                  </a:solidFill>
                </a:rPr>
                <a:t> </a:t>
              </a:r>
              <a:r>
                <a:rPr lang="ko-KR" altLang="en-US" sz="1800" dirty="0" err="1">
                  <a:solidFill>
                    <a:schemeClr val="bg1"/>
                  </a:solidFill>
                </a:rPr>
                <a:t>설계중이에요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06CCCB22-F7C2-1C77-8015-7B420D6C22F6}"/>
              </a:ext>
            </a:extLst>
          </p:cNvPr>
          <p:cNvGrpSpPr/>
          <p:nvPr/>
        </p:nvGrpSpPr>
        <p:grpSpPr>
          <a:xfrm>
            <a:off x="6965603" y="1511300"/>
            <a:ext cx="3165231" cy="4544242"/>
            <a:chOff x="6965603" y="1511300"/>
            <a:chExt cx="3165231" cy="4544242"/>
          </a:xfrm>
        </p:grpSpPr>
        <p:sp>
          <p:nvSpPr>
            <p:cNvPr id="25" name="사각형: 둥근 위쪽 모서리 24">
              <a:extLst>
                <a:ext uri="{FF2B5EF4-FFF2-40B4-BE49-F238E27FC236}">
                  <a16:creationId xmlns:a16="http://schemas.microsoft.com/office/drawing/2014/main" id="{24191267-74C7-A905-9484-218D178494B0}"/>
                </a:ext>
              </a:extLst>
            </p:cNvPr>
            <p:cNvSpPr/>
            <p:nvPr/>
          </p:nvSpPr>
          <p:spPr>
            <a:xfrm>
              <a:off x="6965603" y="1511300"/>
              <a:ext cx="3165231" cy="4544242"/>
            </a:xfrm>
            <a:prstGeom prst="round2SameRect">
              <a:avLst>
                <a:gd name="adj1" fmla="val 9445"/>
                <a:gd name="adj2" fmla="val 0"/>
              </a:avLst>
            </a:prstGeom>
            <a:solidFill>
              <a:schemeClr val="bg1"/>
            </a:solidFill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3B14B87E-9D56-DE5A-6C2A-A527290C0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4701" t="14395" r="2456" b="11531"/>
            <a:stretch>
              <a:fillRect/>
            </a:stretch>
          </p:blipFill>
          <p:spPr>
            <a:xfrm>
              <a:off x="7083336" y="1757876"/>
              <a:ext cx="310284" cy="286607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328CD1D-F2C8-A647-4513-95D0B27BAD69}"/>
                </a:ext>
              </a:extLst>
            </p:cNvPr>
            <p:cNvSpPr txBox="1"/>
            <p:nvPr/>
          </p:nvSpPr>
          <p:spPr>
            <a:xfrm>
              <a:off x="7364991" y="1780621"/>
              <a:ext cx="234084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spc="-100" dirty="0">
                  <a:solidFill>
                    <a:srgbClr val="0070C0"/>
                  </a:solidFill>
                  <a:latin typeface="+mn-ea"/>
                </a:rPr>
                <a:t>30</a:t>
              </a:r>
              <a:r>
                <a:rPr lang="ko-KR" altLang="en-US" sz="1050" spc="-100" dirty="0">
                  <a:solidFill>
                    <a:srgbClr val="0070C0"/>
                  </a:solidFill>
                  <a:latin typeface="+mn-ea"/>
                </a:rPr>
                <a:t>대 여성을 위한</a:t>
              </a:r>
              <a:r>
                <a:rPr lang="ko-KR" altLang="en-US" sz="1050" b="1" spc="-100" dirty="0">
                  <a:solidFill>
                    <a:srgbClr val="0070C0"/>
                  </a:solidFill>
                  <a:latin typeface="+mn-ea"/>
                </a:rPr>
                <a:t> </a:t>
              </a:r>
              <a:r>
                <a:rPr lang="en-US" altLang="ko-KR" sz="1050" spc="-100" dirty="0">
                  <a:solidFill>
                    <a:srgbClr val="0070C0"/>
                  </a:solidFill>
                  <a:latin typeface="+mn-ea"/>
                </a:rPr>
                <a:t>AI </a:t>
              </a:r>
              <a:r>
                <a:rPr lang="ko-KR" altLang="en-US" sz="1050" spc="-100" dirty="0">
                  <a:solidFill>
                    <a:srgbClr val="0070C0"/>
                  </a:solidFill>
                  <a:latin typeface="+mn-ea"/>
                </a:rPr>
                <a:t>보험설계</a:t>
              </a:r>
              <a:endParaRPr lang="ko-KR" altLang="en-US" sz="1050" spc="-100" dirty="0">
                <a:latin typeface="+mn-ea"/>
              </a:endParaRP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A91273DA-E860-BEF3-73E1-44D679445BCD}"/>
                </a:ext>
              </a:extLst>
            </p:cNvPr>
            <p:cNvGrpSpPr/>
            <p:nvPr/>
          </p:nvGrpSpPr>
          <p:grpSpPr>
            <a:xfrm>
              <a:off x="7200378" y="2827913"/>
              <a:ext cx="2670072" cy="746246"/>
              <a:chOff x="4821224" y="3155702"/>
              <a:chExt cx="2670072" cy="746246"/>
            </a:xfrm>
          </p:grpSpPr>
          <p:sp>
            <p:nvSpPr>
              <p:cNvPr id="41" name="사각형: 둥근 모서리 40">
                <a:extLst>
                  <a:ext uri="{FF2B5EF4-FFF2-40B4-BE49-F238E27FC236}">
                    <a16:creationId xmlns:a16="http://schemas.microsoft.com/office/drawing/2014/main" id="{5F08D693-ED08-97FB-01FA-DB40CE99DCC4}"/>
                  </a:ext>
                </a:extLst>
              </p:cNvPr>
              <p:cNvSpPr/>
              <p:nvPr/>
            </p:nvSpPr>
            <p:spPr>
              <a:xfrm>
                <a:off x="4821224" y="3155702"/>
                <a:ext cx="2670072" cy="74624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40000" rtlCol="0" anchor="ctr"/>
              <a:lstStyle/>
              <a:p>
                <a:r>
                  <a:rPr lang="ko-KR" altLang="en-US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월 </a:t>
                </a:r>
                <a:r>
                  <a:rPr lang="en-US" altLang="ko-K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95,072</a:t>
                </a:r>
              </a:p>
              <a:p>
                <a:endPara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endPara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248CE477-80AA-8504-1448-DE2041D3B407}"/>
                  </a:ext>
                </a:extLst>
              </p:cNvPr>
              <p:cNvSpPr/>
              <p:nvPr/>
            </p:nvSpPr>
            <p:spPr>
              <a:xfrm>
                <a:off x="4859324" y="3250396"/>
                <a:ext cx="395734" cy="22816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050" dirty="0"/>
                  <a:t>추천</a:t>
                </a:r>
                <a:r>
                  <a:rPr lang="en-US" altLang="ko-KR" sz="1050" dirty="0"/>
                  <a:t>1</a:t>
                </a:r>
                <a:endParaRPr lang="ko-KR" altLang="en-US" sz="1050" dirty="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0D8F12B-22FE-2474-3EED-9A6066DFA9E2}"/>
                  </a:ext>
                </a:extLst>
              </p:cNvPr>
              <p:cNvSpPr txBox="1"/>
              <p:nvPr/>
            </p:nvSpPr>
            <p:spPr>
              <a:xfrm>
                <a:off x="5293158" y="3471061"/>
                <a:ext cx="2150683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50" spc="-100" dirty="0">
                    <a:latin typeface="+mn-ea"/>
                  </a:rPr>
                  <a:t>암진단과 항암치료에 집중적으로</a:t>
                </a:r>
                <a:endParaRPr lang="en-US" altLang="ko-KR" sz="1050" spc="-100" dirty="0">
                  <a:latin typeface="+mn-ea"/>
                </a:endParaRPr>
              </a:p>
              <a:p>
                <a:r>
                  <a:rPr lang="ko-KR" altLang="en-US" sz="1050" spc="-100" dirty="0">
                    <a:latin typeface="+mn-ea"/>
                  </a:rPr>
                  <a:t>보장을 많이 받을 수 있도록 했어요</a:t>
                </a:r>
                <a:endParaRPr lang="en-US" altLang="ko-KR" sz="1050" spc="-100" dirty="0">
                  <a:latin typeface="+mn-ea"/>
                </a:endParaRP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90B90EFC-D967-05C4-E357-7E369D56F239}"/>
                </a:ext>
              </a:extLst>
            </p:cNvPr>
            <p:cNvGrpSpPr/>
            <p:nvPr/>
          </p:nvGrpSpPr>
          <p:grpSpPr>
            <a:xfrm>
              <a:off x="7200378" y="3692399"/>
              <a:ext cx="2670072" cy="746246"/>
              <a:chOff x="4821224" y="4020188"/>
              <a:chExt cx="2670072" cy="746246"/>
            </a:xfrm>
          </p:grpSpPr>
          <p:sp>
            <p:nvSpPr>
              <p:cNvPr id="57" name="사각형: 둥근 모서리 56">
                <a:extLst>
                  <a:ext uri="{FF2B5EF4-FFF2-40B4-BE49-F238E27FC236}">
                    <a16:creationId xmlns:a16="http://schemas.microsoft.com/office/drawing/2014/main" id="{E997693C-A450-72FC-BB70-277E97121FD0}"/>
                  </a:ext>
                </a:extLst>
              </p:cNvPr>
              <p:cNvSpPr/>
              <p:nvPr/>
            </p:nvSpPr>
            <p:spPr>
              <a:xfrm>
                <a:off x="4821224" y="4020188"/>
                <a:ext cx="2670072" cy="74624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40000" rtlCol="0" anchor="ctr"/>
              <a:lstStyle/>
              <a:p>
                <a:r>
                  <a:rPr lang="ko-KR" altLang="en-US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월 </a:t>
                </a:r>
                <a:r>
                  <a:rPr lang="en-US" altLang="ko-K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88,527</a:t>
                </a:r>
              </a:p>
              <a:p>
                <a:endPara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endPara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8" name="사각형: 둥근 모서리 57">
                <a:extLst>
                  <a:ext uri="{FF2B5EF4-FFF2-40B4-BE49-F238E27FC236}">
                    <a16:creationId xmlns:a16="http://schemas.microsoft.com/office/drawing/2014/main" id="{CF221ED7-E63A-DFFA-61ED-B8F160414B3F}"/>
                  </a:ext>
                </a:extLst>
              </p:cNvPr>
              <p:cNvSpPr/>
              <p:nvPr/>
            </p:nvSpPr>
            <p:spPr>
              <a:xfrm>
                <a:off x="4859324" y="4114882"/>
                <a:ext cx="395734" cy="22816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050" dirty="0"/>
                  <a:t>추천</a:t>
                </a:r>
                <a:r>
                  <a:rPr lang="en-US" altLang="ko-KR" sz="1050" dirty="0"/>
                  <a:t>1</a:t>
                </a:r>
                <a:endParaRPr lang="ko-KR" altLang="en-US" sz="1050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3E837AC-0F7D-19DF-DD1C-EEBF770065D1}"/>
                  </a:ext>
                </a:extLst>
              </p:cNvPr>
              <p:cNvSpPr txBox="1"/>
              <p:nvPr/>
            </p:nvSpPr>
            <p:spPr>
              <a:xfrm>
                <a:off x="5293158" y="4335547"/>
                <a:ext cx="2150683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50" spc="-100" dirty="0" err="1">
                    <a:latin typeface="+mn-ea"/>
                  </a:rPr>
                  <a:t>암진단</a:t>
                </a:r>
                <a:r>
                  <a:rPr lang="en-US" altLang="ko-KR" sz="1050" spc="-100" dirty="0">
                    <a:latin typeface="+mn-ea"/>
                  </a:rPr>
                  <a:t>, </a:t>
                </a:r>
                <a:r>
                  <a:rPr lang="ko-KR" altLang="en-US" sz="1050" spc="-100" dirty="0">
                    <a:latin typeface="+mn-ea"/>
                  </a:rPr>
                  <a:t>치료는 기본보장으로 하고</a:t>
                </a:r>
                <a:endParaRPr lang="en-US" altLang="ko-KR" sz="1050" spc="-100" dirty="0">
                  <a:latin typeface="+mn-ea"/>
                </a:endParaRPr>
              </a:p>
              <a:p>
                <a:r>
                  <a:rPr lang="ko-KR" altLang="en-US" sz="1050" spc="-100" dirty="0">
                    <a:latin typeface="+mn-ea"/>
                  </a:rPr>
                  <a:t>타 보장도 균형을 맞췄어요</a:t>
                </a:r>
                <a:endParaRPr lang="en-US" altLang="ko-KR" sz="1050" spc="-100" dirty="0">
                  <a:latin typeface="+mn-ea"/>
                </a:endParaRPr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46DBD24A-23DE-4FAE-951E-0E97B58A507D}"/>
                </a:ext>
              </a:extLst>
            </p:cNvPr>
            <p:cNvGrpSpPr/>
            <p:nvPr/>
          </p:nvGrpSpPr>
          <p:grpSpPr>
            <a:xfrm>
              <a:off x="7200378" y="4541352"/>
              <a:ext cx="2670072" cy="746246"/>
              <a:chOff x="4821224" y="4869141"/>
              <a:chExt cx="2670072" cy="746246"/>
            </a:xfrm>
          </p:grpSpPr>
          <p:sp>
            <p:nvSpPr>
              <p:cNvPr id="60" name="사각형: 둥근 모서리 59">
                <a:extLst>
                  <a:ext uri="{FF2B5EF4-FFF2-40B4-BE49-F238E27FC236}">
                    <a16:creationId xmlns:a16="http://schemas.microsoft.com/office/drawing/2014/main" id="{71AD942F-3352-2D9B-EE72-25E2C0830BF5}"/>
                  </a:ext>
                </a:extLst>
              </p:cNvPr>
              <p:cNvSpPr/>
              <p:nvPr/>
            </p:nvSpPr>
            <p:spPr>
              <a:xfrm>
                <a:off x="4821224" y="4869141"/>
                <a:ext cx="2670072" cy="74624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40000" rtlCol="0" anchor="ctr"/>
              <a:lstStyle/>
              <a:p>
                <a:r>
                  <a:rPr lang="ko-KR" altLang="en-US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월 </a:t>
                </a:r>
                <a:r>
                  <a:rPr lang="en-US" altLang="ko-K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63,996</a:t>
                </a:r>
              </a:p>
              <a:p>
                <a:endPara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endPara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61" name="사각형: 둥근 모서리 60">
                <a:extLst>
                  <a:ext uri="{FF2B5EF4-FFF2-40B4-BE49-F238E27FC236}">
                    <a16:creationId xmlns:a16="http://schemas.microsoft.com/office/drawing/2014/main" id="{CC113183-758C-C6B2-5656-201D963047D4}"/>
                  </a:ext>
                </a:extLst>
              </p:cNvPr>
              <p:cNvSpPr/>
              <p:nvPr/>
            </p:nvSpPr>
            <p:spPr>
              <a:xfrm>
                <a:off x="4859324" y="4963835"/>
                <a:ext cx="395734" cy="22816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050" dirty="0"/>
                  <a:t>추천</a:t>
                </a:r>
                <a:r>
                  <a:rPr lang="en-US" altLang="ko-KR" sz="1050" dirty="0"/>
                  <a:t>1</a:t>
                </a:r>
                <a:endParaRPr lang="ko-KR" altLang="en-US" sz="1050" dirty="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E1683E5-E6CC-1E37-0DCC-CA48F64AEB73}"/>
                  </a:ext>
                </a:extLst>
              </p:cNvPr>
              <p:cNvSpPr txBox="1"/>
              <p:nvPr/>
            </p:nvSpPr>
            <p:spPr>
              <a:xfrm>
                <a:off x="5293158" y="5184500"/>
                <a:ext cx="2150683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50" spc="-100" dirty="0" err="1">
                    <a:latin typeface="+mn-ea"/>
                  </a:rPr>
                  <a:t>암진단</a:t>
                </a:r>
                <a:r>
                  <a:rPr lang="en-US" altLang="ko-KR" sz="1050" spc="-100" dirty="0">
                    <a:latin typeface="+mn-ea"/>
                  </a:rPr>
                  <a:t>, </a:t>
                </a:r>
                <a:r>
                  <a:rPr lang="ko-KR" altLang="en-US" sz="1050" spc="-100" dirty="0">
                    <a:latin typeface="+mn-ea"/>
                  </a:rPr>
                  <a:t>필수 치료보장 중심으로</a:t>
                </a:r>
                <a:endParaRPr lang="en-US" altLang="ko-KR" sz="1050" spc="-100" dirty="0">
                  <a:latin typeface="+mn-ea"/>
                </a:endParaRPr>
              </a:p>
              <a:p>
                <a:r>
                  <a:rPr lang="ko-KR" altLang="en-US" sz="1050" spc="-100" dirty="0">
                    <a:latin typeface="+mn-ea"/>
                  </a:rPr>
                  <a:t>가성비를 높였어요</a:t>
                </a:r>
                <a:endParaRPr lang="en-US" altLang="ko-KR" sz="1050" spc="-100" dirty="0">
                  <a:latin typeface="+mn-ea"/>
                </a:endParaRPr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E7CA28A-6940-8756-698C-342C4143ECA8}"/>
                </a:ext>
              </a:extLst>
            </p:cNvPr>
            <p:cNvSpPr txBox="1"/>
            <p:nvPr/>
          </p:nvSpPr>
          <p:spPr>
            <a:xfrm>
              <a:off x="7174767" y="2147992"/>
              <a:ext cx="269568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spc="-100" dirty="0">
                  <a:latin typeface="+mn-ea"/>
                </a:rPr>
                <a:t>고객님의 상황에 맞게</a:t>
              </a:r>
              <a:endParaRPr lang="en-US" altLang="ko-KR" sz="1600" b="1" spc="-100" dirty="0">
                <a:latin typeface="+mn-ea"/>
              </a:endParaRPr>
            </a:p>
            <a:p>
              <a:r>
                <a:rPr lang="en-US" altLang="ko-KR" sz="1600" b="1" spc="-100" dirty="0">
                  <a:latin typeface="+mn-ea"/>
                </a:rPr>
                <a:t>3</a:t>
              </a:r>
              <a:r>
                <a:rPr lang="ko-KR" altLang="en-US" sz="1600" b="1" spc="-100" dirty="0">
                  <a:latin typeface="+mn-ea"/>
                </a:rPr>
                <a:t>개 설계를 </a:t>
              </a:r>
              <a:r>
                <a:rPr lang="ko-KR" altLang="en-US" sz="1600" b="1" spc="-100" dirty="0" err="1">
                  <a:latin typeface="+mn-ea"/>
                </a:rPr>
                <a:t>제안드려</a:t>
              </a:r>
              <a:r>
                <a:rPr lang="ko-KR" altLang="en-US" sz="1600" b="1" spc="-100" dirty="0">
                  <a:latin typeface="+mn-ea"/>
                </a:rPr>
                <a:t> </a:t>
              </a:r>
              <a:r>
                <a:rPr lang="ko-KR" altLang="en-US" sz="1600" b="1" spc="-100" dirty="0" err="1">
                  <a:latin typeface="+mn-ea"/>
                </a:rPr>
                <a:t>볼게요</a:t>
              </a:r>
              <a:endParaRPr lang="ko-KR" altLang="en-US" sz="1600" b="1" spc="-100" dirty="0">
                <a:latin typeface="+mn-ea"/>
              </a:endParaRPr>
            </a:p>
          </p:txBody>
        </p:sp>
        <p:sp>
          <p:nvSpPr>
            <p:cNvPr id="74" name="사각형: 둥근 모서리 73">
              <a:extLst>
                <a:ext uri="{FF2B5EF4-FFF2-40B4-BE49-F238E27FC236}">
                  <a16:creationId xmlns:a16="http://schemas.microsoft.com/office/drawing/2014/main" id="{716121A6-6C42-9E6B-5AB6-5034BE3693E2}"/>
                </a:ext>
              </a:extLst>
            </p:cNvPr>
            <p:cNvSpPr/>
            <p:nvPr/>
          </p:nvSpPr>
          <p:spPr>
            <a:xfrm>
              <a:off x="7200378" y="5408022"/>
              <a:ext cx="2670072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직접 </a:t>
              </a:r>
              <a:r>
                <a:rPr lang="ko-KR" altLang="en-US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설계할게요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ED6370A1-0A9F-8D3A-F852-294E543A603C}"/>
              </a:ext>
            </a:extLst>
          </p:cNvPr>
          <p:cNvSpPr txBox="1"/>
          <p:nvPr/>
        </p:nvSpPr>
        <p:spPr>
          <a:xfrm>
            <a:off x="-2421948" y="208260"/>
            <a:ext cx="2529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1</a:t>
            </a:r>
            <a:r>
              <a:rPr lang="ko-KR" altLang="en-US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단계</a:t>
            </a:r>
            <a:r>
              <a:rPr lang="en-US" altLang="ko-KR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 </a:t>
            </a:r>
            <a:r>
              <a:rPr lang="ko-KR" altLang="en-US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상품상세페이지</a:t>
            </a:r>
            <a:r>
              <a:rPr lang="en-US" altLang="ko-KR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_ </a:t>
            </a:r>
            <a:r>
              <a:rPr lang="ko-KR" altLang="en-US" sz="1200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바텀시트</a:t>
            </a:r>
            <a:endParaRPr lang="en-US" altLang="ko-KR" sz="1200" spc="-100" dirty="0">
              <a:latin typeface="+mn-ea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E636EB2-2CFD-89ED-5121-FE316DCE8F49}"/>
              </a:ext>
            </a:extLst>
          </p:cNvPr>
          <p:cNvSpPr txBox="1"/>
          <p:nvPr/>
        </p:nvSpPr>
        <p:spPr>
          <a:xfrm>
            <a:off x="-4764850" y="208260"/>
            <a:ext cx="1818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1</a:t>
            </a:r>
            <a:r>
              <a:rPr lang="ko-KR" altLang="en-US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단계</a:t>
            </a:r>
            <a:r>
              <a:rPr lang="en-US" altLang="ko-KR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 </a:t>
            </a:r>
            <a:r>
              <a:rPr lang="ko-KR" altLang="en-US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상품상세페이지</a:t>
            </a:r>
            <a:endParaRPr lang="en-US" altLang="ko-KR" sz="1200" spc="-100" dirty="0">
              <a:latin typeface="+mn-ea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9A91132-D472-A2AD-1ADB-B5809DD37E89}"/>
              </a:ext>
            </a:extLst>
          </p:cNvPr>
          <p:cNvSpPr txBox="1"/>
          <p:nvPr/>
        </p:nvSpPr>
        <p:spPr>
          <a:xfrm>
            <a:off x="11250052" y="575731"/>
            <a:ext cx="2529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2</a:t>
            </a:r>
            <a:r>
              <a:rPr lang="ko-KR" altLang="en-US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단계</a:t>
            </a:r>
            <a:r>
              <a:rPr lang="en-US" altLang="ko-KR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 </a:t>
            </a:r>
            <a:r>
              <a:rPr lang="ko-KR" altLang="en-US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계산결과화면</a:t>
            </a:r>
            <a:r>
              <a:rPr lang="en-US" altLang="ko-KR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_1</a:t>
            </a:r>
            <a:endParaRPr lang="en-US" altLang="ko-KR" sz="1200" spc="-100" dirty="0">
              <a:latin typeface="+mn-ea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D586B03-1B49-01E2-3DD7-31730EDF11F4}"/>
              </a:ext>
            </a:extLst>
          </p:cNvPr>
          <p:cNvSpPr txBox="1"/>
          <p:nvPr/>
        </p:nvSpPr>
        <p:spPr>
          <a:xfrm>
            <a:off x="13779703" y="575731"/>
            <a:ext cx="2529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2</a:t>
            </a:r>
            <a:r>
              <a:rPr lang="ko-KR" altLang="en-US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단계</a:t>
            </a:r>
            <a:r>
              <a:rPr lang="en-US" altLang="ko-KR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 </a:t>
            </a:r>
            <a:r>
              <a:rPr lang="ko-KR" altLang="en-US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계산결과화면</a:t>
            </a:r>
            <a:r>
              <a:rPr lang="en-US" altLang="ko-KR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_2</a:t>
            </a:r>
            <a:endParaRPr lang="en-US" altLang="ko-KR" sz="1200" spc="-100" dirty="0">
              <a:latin typeface="+mn-ea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3B9D242-1E33-E427-F22A-E4F279871CD4}"/>
              </a:ext>
            </a:extLst>
          </p:cNvPr>
          <p:cNvSpPr txBox="1"/>
          <p:nvPr/>
        </p:nvSpPr>
        <p:spPr>
          <a:xfrm>
            <a:off x="16289313" y="575731"/>
            <a:ext cx="2529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2</a:t>
            </a:r>
            <a:r>
              <a:rPr lang="ko-KR" altLang="en-US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단계</a:t>
            </a:r>
            <a:r>
              <a:rPr lang="en-US" altLang="ko-KR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 </a:t>
            </a:r>
            <a:r>
              <a:rPr lang="ko-KR" altLang="en-US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계산결과화면</a:t>
            </a:r>
            <a:r>
              <a:rPr lang="en-US" altLang="ko-KR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_3</a:t>
            </a:r>
            <a:endParaRPr lang="en-US" altLang="ko-KR" sz="1200" spc="-100" dirty="0">
              <a:latin typeface="+mn-ea"/>
            </a:endParaRP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D3675C81-069A-C188-2AEF-C16358D53E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38748" y="615757"/>
            <a:ext cx="2386411" cy="5170557"/>
          </a:xfrm>
          <a:prstGeom prst="rect">
            <a:avLst/>
          </a:prstGeom>
        </p:spPr>
      </p:pic>
      <p:pic>
        <p:nvPicPr>
          <p:cNvPr id="85" name="그림 84">
            <a:extLst>
              <a:ext uri="{FF2B5EF4-FFF2-40B4-BE49-F238E27FC236}">
                <a16:creationId xmlns:a16="http://schemas.microsoft.com/office/drawing/2014/main" id="{1E8E1356-6719-5694-608B-E58C7F7CE1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2388" y="988880"/>
            <a:ext cx="2386411" cy="5170557"/>
          </a:xfrm>
          <a:prstGeom prst="rect">
            <a:avLst/>
          </a:prstGeom>
        </p:spPr>
      </p:pic>
      <p:pic>
        <p:nvPicPr>
          <p:cNvPr id="87" name="그림 86">
            <a:extLst>
              <a:ext uri="{FF2B5EF4-FFF2-40B4-BE49-F238E27FC236}">
                <a16:creationId xmlns:a16="http://schemas.microsoft.com/office/drawing/2014/main" id="{E416530A-57F7-0344-E192-72FBE6D99F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5127" y="988880"/>
            <a:ext cx="2386411" cy="5170557"/>
          </a:xfrm>
          <a:prstGeom prst="rect">
            <a:avLst/>
          </a:prstGeom>
        </p:spPr>
      </p:pic>
      <p:pic>
        <p:nvPicPr>
          <p:cNvPr id="89" name="그림 88">
            <a:extLst>
              <a:ext uri="{FF2B5EF4-FFF2-40B4-BE49-F238E27FC236}">
                <a16:creationId xmlns:a16="http://schemas.microsoft.com/office/drawing/2014/main" id="{D377988A-D652-1E61-B10B-7D1AE77190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7866" y="988880"/>
            <a:ext cx="2386411" cy="5170557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8E4C01DC-F41F-EB50-F671-06FE41658436}"/>
              </a:ext>
            </a:extLst>
          </p:cNvPr>
          <p:cNvSpPr txBox="1"/>
          <p:nvPr/>
        </p:nvSpPr>
        <p:spPr>
          <a:xfrm>
            <a:off x="19445468" y="575731"/>
            <a:ext cx="2529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2</a:t>
            </a:r>
            <a:r>
              <a:rPr lang="ko-KR" altLang="en-US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단계</a:t>
            </a:r>
            <a:r>
              <a:rPr lang="en-US" altLang="ko-KR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 </a:t>
            </a:r>
            <a:r>
              <a:rPr lang="ko-KR" altLang="en-US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계산결과화면</a:t>
            </a:r>
            <a:r>
              <a:rPr lang="en-US" altLang="ko-KR" sz="12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_3</a:t>
            </a:r>
            <a:endParaRPr lang="en-US" altLang="ko-KR" sz="1200" spc="-1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7327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365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34BFFF4-307F-2DD5-076F-ABBA9E993D6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6" b="11112"/>
          <a:stretch>
            <a:fillRect/>
          </a:stretch>
        </p:blipFill>
        <p:spPr>
          <a:xfrm>
            <a:off x="522407" y="575731"/>
            <a:ext cx="3165231" cy="546946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3" name="사각형: 둥근 위쪽 모서리 2">
            <a:extLst>
              <a:ext uri="{FF2B5EF4-FFF2-40B4-BE49-F238E27FC236}">
                <a16:creationId xmlns:a16="http://schemas.microsoft.com/office/drawing/2014/main" id="{BDAA3402-DEED-BA03-F2BF-E5252F2E2087}"/>
              </a:ext>
            </a:extLst>
          </p:cNvPr>
          <p:cNvSpPr/>
          <p:nvPr/>
        </p:nvSpPr>
        <p:spPr>
          <a:xfrm>
            <a:off x="522407" y="1923235"/>
            <a:ext cx="3165231" cy="4121966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0100E55-CC89-39B5-0B45-2E96894837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673203" y="2099764"/>
            <a:ext cx="310284" cy="2866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3698DD-13EE-D263-7EB1-8BF9A413CEBC}"/>
              </a:ext>
            </a:extLst>
          </p:cNvPr>
          <p:cNvSpPr txBox="1"/>
          <p:nvPr/>
        </p:nvSpPr>
        <p:spPr>
          <a:xfrm>
            <a:off x="991954" y="2026282"/>
            <a:ext cx="2695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200" b="1" spc="-100" dirty="0">
                <a:solidFill>
                  <a:srgbClr val="0070C0"/>
                </a:solidFill>
                <a:latin typeface="+mn-ea"/>
              </a:rPr>
              <a:t>대 여성 고객님 </a:t>
            </a:r>
            <a:r>
              <a:rPr lang="ko-KR" altLang="en-US" sz="1200" spc="-100" dirty="0">
                <a:latin typeface="+mn-ea"/>
              </a:rPr>
              <a:t>에게 </a:t>
            </a:r>
            <a:r>
              <a:rPr lang="ko-KR" altLang="en-US" sz="1200" spc="-100" dirty="0" err="1">
                <a:latin typeface="+mn-ea"/>
              </a:rPr>
              <a:t>딱맞는</a:t>
            </a:r>
            <a:endParaRPr lang="en-US" altLang="ko-KR" sz="1200" spc="-100" dirty="0">
              <a:latin typeface="+mn-ea"/>
            </a:endParaRPr>
          </a:p>
          <a:p>
            <a:r>
              <a:rPr lang="ko-KR" altLang="en-US" sz="1200" spc="-100" dirty="0">
                <a:latin typeface="+mn-ea"/>
              </a:rPr>
              <a:t>합리적인 보험료를 같이 알아볼까요</a:t>
            </a:r>
            <a:r>
              <a:rPr lang="en-US" altLang="ko-KR" sz="1200" spc="-100" dirty="0">
                <a:latin typeface="+mn-ea"/>
              </a:rPr>
              <a:t>?</a:t>
            </a:r>
            <a:endParaRPr lang="ko-KR" altLang="en-US" sz="1200" spc="-100" dirty="0">
              <a:latin typeface="+mn-ea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995CD6C-D829-B6D7-62DF-8FD8D88FB77E}"/>
              </a:ext>
            </a:extLst>
          </p:cNvPr>
          <p:cNvSpPr/>
          <p:nvPr/>
        </p:nvSpPr>
        <p:spPr>
          <a:xfrm>
            <a:off x="771195" y="337636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3~5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707A1FC-5C96-23BA-E43E-02389A48FB37}"/>
              </a:ext>
            </a:extLst>
          </p:cNvPr>
          <p:cNvSpPr/>
          <p:nvPr/>
        </p:nvSpPr>
        <p:spPr>
          <a:xfrm>
            <a:off x="771195" y="3991579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5~10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CE0CEC9-5130-46E5-EBB2-DC039B3C4CD2}"/>
              </a:ext>
            </a:extLst>
          </p:cNvPr>
          <p:cNvSpPr/>
          <p:nvPr/>
        </p:nvSpPr>
        <p:spPr>
          <a:xfrm>
            <a:off x="771195" y="4606791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만원이상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CFD1F4-C1B5-7CB5-0E2F-282B986486EB}"/>
              </a:ext>
            </a:extLst>
          </p:cNvPr>
          <p:cNvSpPr txBox="1"/>
          <p:nvPr/>
        </p:nvSpPr>
        <p:spPr>
          <a:xfrm>
            <a:off x="771195" y="2747143"/>
            <a:ext cx="2695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100" dirty="0">
                <a:latin typeface="+mn-ea"/>
              </a:rPr>
              <a:t>매월 보험료는</a:t>
            </a:r>
            <a:endParaRPr lang="en-US" altLang="ko-KR" sz="1600" b="1" spc="-100" dirty="0">
              <a:latin typeface="+mn-ea"/>
            </a:endParaRPr>
          </a:p>
          <a:p>
            <a:r>
              <a:rPr lang="ko-KR" altLang="en-US" sz="1600" b="1" spc="-100" dirty="0">
                <a:latin typeface="+mn-ea"/>
              </a:rPr>
              <a:t>얼마정도 생각하세요</a:t>
            </a:r>
            <a:r>
              <a:rPr lang="en-US" altLang="ko-KR" sz="1600" b="1" spc="-100" dirty="0">
                <a:latin typeface="+mn-ea"/>
              </a:rPr>
              <a:t>?</a:t>
            </a:r>
            <a:endParaRPr lang="ko-KR" altLang="en-US" sz="1600" b="1" spc="-100" dirty="0"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37C5AF-86D4-B895-7F9C-02D46A12488A}"/>
              </a:ext>
            </a:extLst>
          </p:cNvPr>
          <p:cNvSpPr txBox="1"/>
          <p:nvPr/>
        </p:nvSpPr>
        <p:spPr>
          <a:xfrm>
            <a:off x="1374693" y="5493063"/>
            <a:ext cx="1285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</a:t>
            </a:r>
            <a:r>
              <a:rPr lang="en-US" altLang="ko-KR" sz="2400" b="1" spc="-15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 . .</a:t>
            </a:r>
            <a:endParaRPr lang="ko-KR" altLang="en-US" sz="2400" b="1" spc="-15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2E18456-C0B5-08B0-C9BD-B9F18CBA24CB}"/>
              </a:ext>
            </a:extLst>
          </p:cNvPr>
          <p:cNvSpPr/>
          <p:nvPr/>
        </p:nvSpPr>
        <p:spPr>
          <a:xfrm>
            <a:off x="2293735" y="4149516"/>
            <a:ext cx="1030598" cy="211171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900" b="1" dirty="0"/>
              <a:t>65% </a:t>
            </a:r>
            <a:r>
              <a:rPr lang="ko-KR" altLang="en-US" sz="900" b="1" dirty="0"/>
              <a:t>고객의 선택</a:t>
            </a:r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A4A4C299-E21F-D5D8-88F9-EF07D309FF8B}"/>
              </a:ext>
            </a:extLst>
          </p:cNvPr>
          <p:cNvSpPr/>
          <p:nvPr/>
        </p:nvSpPr>
        <p:spPr>
          <a:xfrm>
            <a:off x="4062788" y="1933576"/>
            <a:ext cx="3165231" cy="4121966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C0829B7-7D49-1377-AA28-19E9C758C1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4180521" y="2099764"/>
            <a:ext cx="310284" cy="286607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7E9C4B2-9DA7-C9BD-7F8C-40FA725606BE}"/>
              </a:ext>
            </a:extLst>
          </p:cNvPr>
          <p:cNvSpPr/>
          <p:nvPr/>
        </p:nvSpPr>
        <p:spPr>
          <a:xfrm>
            <a:off x="4297563" y="337636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암에 </a:t>
            </a:r>
            <a:r>
              <a:rPr lang="ko-KR" alt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걸릴까봐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걱정돼요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3AABEF2-E90B-0278-8028-4F08D66D133A}"/>
              </a:ext>
            </a:extLst>
          </p:cNvPr>
          <p:cNvSpPr/>
          <p:nvPr/>
        </p:nvSpPr>
        <p:spPr>
          <a:xfrm>
            <a:off x="4297563" y="394996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뇌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심장의 혈관 질환이 불안해요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A01D3CF-6CFC-A0FC-D6CE-CCABB87D33CF}"/>
              </a:ext>
            </a:extLst>
          </p:cNvPr>
          <p:cNvSpPr/>
          <p:nvPr/>
        </p:nvSpPr>
        <p:spPr>
          <a:xfrm>
            <a:off x="4297563" y="452356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나이들어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치매가 염려돼요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2FE964-E122-902E-B8A2-2945517CE601}"/>
              </a:ext>
            </a:extLst>
          </p:cNvPr>
          <p:cNvSpPr txBox="1"/>
          <p:nvPr/>
        </p:nvSpPr>
        <p:spPr>
          <a:xfrm>
            <a:off x="4297563" y="2747143"/>
            <a:ext cx="2695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100" dirty="0">
                <a:latin typeface="+mn-ea"/>
              </a:rPr>
              <a:t>어떤 상황을</a:t>
            </a:r>
            <a:endParaRPr lang="en-US" altLang="ko-KR" sz="1600" b="1" spc="-100" dirty="0">
              <a:latin typeface="+mn-ea"/>
            </a:endParaRPr>
          </a:p>
          <a:p>
            <a:r>
              <a:rPr lang="ko-KR" altLang="en-US" sz="1600" b="1" spc="-100" dirty="0">
                <a:latin typeface="+mn-ea"/>
              </a:rPr>
              <a:t>가장 대비하고 </a:t>
            </a:r>
            <a:r>
              <a:rPr lang="ko-KR" altLang="en-US" sz="1600" b="1" spc="-100" dirty="0" err="1">
                <a:latin typeface="+mn-ea"/>
              </a:rPr>
              <a:t>싶으세요</a:t>
            </a:r>
            <a:r>
              <a:rPr lang="en-US" altLang="ko-KR" sz="1600" b="1" spc="-100" dirty="0">
                <a:latin typeface="+mn-ea"/>
              </a:rPr>
              <a:t>?</a:t>
            </a:r>
            <a:r>
              <a:rPr lang="ko-KR" altLang="en-US" sz="1600" b="1" spc="-100" dirty="0">
                <a:latin typeface="+mn-ea"/>
              </a:rPr>
              <a:t> 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A29047F-ABAF-E02F-DBE7-2558FBDEC9F0}"/>
              </a:ext>
            </a:extLst>
          </p:cNvPr>
          <p:cNvSpPr/>
          <p:nvPr/>
        </p:nvSpPr>
        <p:spPr>
          <a:xfrm>
            <a:off x="4297563" y="5097166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만원이상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BAF5C2-4BF6-7F6F-8E5B-F01DCA507EC7}"/>
              </a:ext>
            </a:extLst>
          </p:cNvPr>
          <p:cNvSpPr txBox="1"/>
          <p:nvPr/>
        </p:nvSpPr>
        <p:spPr>
          <a:xfrm>
            <a:off x="4975492" y="5493063"/>
            <a:ext cx="1285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</a:t>
            </a:r>
            <a:r>
              <a:rPr lang="en-US" altLang="ko-KR" sz="2400" b="1" spc="-15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 </a:t>
            </a:r>
            <a:r>
              <a:rPr lang="en-US" altLang="ko-KR" sz="2400" b="1" spc="-15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</a:t>
            </a:r>
            <a:r>
              <a:rPr lang="en-US" altLang="ko-KR" sz="2400" b="1" spc="-15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 .</a:t>
            </a:r>
            <a:endParaRPr lang="ko-KR" altLang="en-US" sz="2400" b="1" spc="-15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28" name="사각형: 둥근 위쪽 모서리 27">
            <a:extLst>
              <a:ext uri="{FF2B5EF4-FFF2-40B4-BE49-F238E27FC236}">
                <a16:creationId xmlns:a16="http://schemas.microsoft.com/office/drawing/2014/main" id="{2033833E-9073-7567-62A7-9B538E119A36}"/>
              </a:ext>
            </a:extLst>
          </p:cNvPr>
          <p:cNvSpPr/>
          <p:nvPr/>
        </p:nvSpPr>
        <p:spPr>
          <a:xfrm>
            <a:off x="7603169" y="1933576"/>
            <a:ext cx="3165231" cy="4121966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27B812C5-5D18-5BA3-4D65-217892D9BB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7720902" y="2099764"/>
            <a:ext cx="310284" cy="28660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CE8E9C6-FE26-0F78-68C2-5B9B120906D4}"/>
              </a:ext>
            </a:extLst>
          </p:cNvPr>
          <p:cNvSpPr txBox="1"/>
          <p:nvPr/>
        </p:nvSpPr>
        <p:spPr>
          <a:xfrm>
            <a:off x="7837944" y="2747143"/>
            <a:ext cx="26956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100" dirty="0">
                <a:solidFill>
                  <a:srgbClr val="0070C0"/>
                </a:solidFill>
                <a:latin typeface="+mn-ea"/>
              </a:rPr>
              <a:t>생각하신 보험료 수준에서</a:t>
            </a:r>
            <a:endParaRPr lang="en-US" altLang="ko-KR" sz="1600" b="1" spc="-100" dirty="0">
              <a:solidFill>
                <a:srgbClr val="0070C0"/>
              </a:solidFill>
              <a:latin typeface="+mn-ea"/>
            </a:endParaRPr>
          </a:p>
          <a:p>
            <a:r>
              <a:rPr lang="ko-KR" altLang="en-US" sz="1600" b="1" spc="-100" dirty="0">
                <a:solidFill>
                  <a:srgbClr val="0070C0"/>
                </a:solidFill>
                <a:latin typeface="+mn-ea"/>
              </a:rPr>
              <a:t>암 진단</a:t>
            </a:r>
            <a:r>
              <a:rPr lang="ko-KR" altLang="en-US" sz="1600" b="1" spc="-100" dirty="0">
                <a:latin typeface="+mn-ea"/>
              </a:rPr>
              <a:t> 받았을 때</a:t>
            </a:r>
            <a:r>
              <a:rPr lang="en-US" altLang="ko-KR" sz="1600" b="1" spc="-100" dirty="0">
                <a:latin typeface="+mn-ea"/>
              </a:rPr>
              <a:t>, </a:t>
            </a:r>
          </a:p>
          <a:p>
            <a:r>
              <a:rPr lang="ko-KR" altLang="en-US" sz="1600" b="1" spc="-100" dirty="0">
                <a:solidFill>
                  <a:srgbClr val="0070C0"/>
                </a:solidFill>
                <a:latin typeface="+mn-ea"/>
              </a:rPr>
              <a:t>암 치료 </a:t>
            </a:r>
            <a:r>
              <a:rPr lang="ko-KR" altLang="en-US" sz="1600" b="1" spc="-100" dirty="0">
                <a:latin typeface="+mn-ea"/>
              </a:rPr>
              <a:t>잘 받기위해</a:t>
            </a:r>
            <a:endParaRPr lang="en-US" altLang="ko-KR" sz="1600" b="1" spc="-100" dirty="0">
              <a:latin typeface="+mn-ea"/>
            </a:endParaRPr>
          </a:p>
          <a:p>
            <a:endParaRPr lang="en-US" altLang="ko-KR" sz="1600" b="1" spc="-100" dirty="0">
              <a:latin typeface="+mn-ea"/>
            </a:endParaRPr>
          </a:p>
          <a:p>
            <a:r>
              <a:rPr lang="ko-KR" altLang="en-US" sz="1600" b="1" spc="-100" dirty="0">
                <a:latin typeface="+mn-ea"/>
              </a:rPr>
              <a:t>더 많은 보험금을 받으실 수</a:t>
            </a:r>
            <a:endParaRPr lang="en-US" altLang="ko-KR" sz="1600" b="1" spc="-100" dirty="0">
              <a:latin typeface="+mn-ea"/>
            </a:endParaRPr>
          </a:p>
          <a:p>
            <a:r>
              <a:rPr lang="ko-KR" altLang="en-US" sz="1600" b="1" spc="-100" dirty="0">
                <a:latin typeface="+mn-ea"/>
              </a:rPr>
              <a:t>있도록 설계해 보았어요 </a:t>
            </a:r>
            <a:endParaRPr lang="en-US" altLang="ko-KR" sz="1600" b="1" spc="-100" dirty="0">
              <a:latin typeface="+mn-ea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76F43C5-4079-E951-5FF6-1B916CFD299F}"/>
              </a:ext>
            </a:extLst>
          </p:cNvPr>
          <p:cNvSpPr/>
          <p:nvPr/>
        </p:nvSpPr>
        <p:spPr>
          <a:xfrm>
            <a:off x="7837944" y="4757567"/>
            <a:ext cx="2670072" cy="468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보험료 확인하고 바로 가입하기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38A35B-A206-2659-8511-F62A50369CBE}"/>
              </a:ext>
            </a:extLst>
          </p:cNvPr>
          <p:cNvSpPr txBox="1"/>
          <p:nvPr/>
        </p:nvSpPr>
        <p:spPr>
          <a:xfrm>
            <a:off x="7812333" y="4459579"/>
            <a:ext cx="26956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pc="-100" dirty="0" err="1">
                <a:solidFill>
                  <a:srgbClr val="7030A0"/>
                </a:solidFill>
                <a:latin typeface="+mn-ea"/>
              </a:rPr>
              <a:t>가입후</a:t>
            </a:r>
            <a:r>
              <a:rPr lang="ko-KR" altLang="en-US" sz="1100" spc="-100" dirty="0">
                <a:solidFill>
                  <a:srgbClr val="7030A0"/>
                </a:solidFill>
                <a:latin typeface="+mn-ea"/>
              </a:rPr>
              <a:t> </a:t>
            </a:r>
            <a:r>
              <a:rPr lang="en-US" altLang="ko-KR" sz="1100" spc="-100" dirty="0">
                <a:solidFill>
                  <a:srgbClr val="7030A0"/>
                </a:solidFill>
                <a:latin typeface="+mn-ea"/>
              </a:rPr>
              <a:t>30</a:t>
            </a:r>
            <a:r>
              <a:rPr lang="ko-KR" altLang="en-US" sz="1100" spc="-100" dirty="0">
                <a:solidFill>
                  <a:srgbClr val="7030A0"/>
                </a:solidFill>
                <a:latin typeface="+mn-ea"/>
              </a:rPr>
              <a:t>일 내 언제든 무료취소가 가능해요</a:t>
            </a:r>
            <a:r>
              <a:rPr lang="en-US" altLang="ko-KR" sz="1100" spc="-100" dirty="0">
                <a:solidFill>
                  <a:srgbClr val="7030A0"/>
                </a:solidFill>
                <a:latin typeface="+mn-ea"/>
              </a:rPr>
              <a:t>!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588B2F12-C257-0B71-B49E-08E048573D94}"/>
              </a:ext>
            </a:extLst>
          </p:cNvPr>
          <p:cNvSpPr/>
          <p:nvPr/>
        </p:nvSpPr>
        <p:spPr>
          <a:xfrm>
            <a:off x="7837944" y="5337482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설계내용 상세보기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95A426-0649-68CF-7815-5D2179BFF6EF}"/>
              </a:ext>
            </a:extLst>
          </p:cNvPr>
          <p:cNvSpPr txBox="1"/>
          <p:nvPr/>
        </p:nvSpPr>
        <p:spPr>
          <a:xfrm>
            <a:off x="4511570" y="2026282"/>
            <a:ext cx="2695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200" b="1" spc="-100" dirty="0">
                <a:solidFill>
                  <a:srgbClr val="0070C0"/>
                </a:solidFill>
                <a:latin typeface="+mn-ea"/>
              </a:rPr>
              <a:t>대 여성 고객님 </a:t>
            </a:r>
            <a:r>
              <a:rPr lang="ko-KR" altLang="en-US" sz="1200" spc="-100" dirty="0">
                <a:latin typeface="+mn-ea"/>
              </a:rPr>
              <a:t>에게 </a:t>
            </a:r>
            <a:r>
              <a:rPr lang="ko-KR" altLang="en-US" sz="1200" spc="-100" dirty="0" err="1">
                <a:latin typeface="+mn-ea"/>
              </a:rPr>
              <a:t>딱맞는</a:t>
            </a:r>
            <a:endParaRPr lang="en-US" altLang="ko-KR" sz="1200" spc="-100" dirty="0">
              <a:latin typeface="+mn-ea"/>
            </a:endParaRPr>
          </a:p>
          <a:p>
            <a:r>
              <a:rPr lang="ko-KR" altLang="en-US" sz="1200" spc="-100" dirty="0">
                <a:latin typeface="+mn-ea"/>
              </a:rPr>
              <a:t>합리적인 보험료를 같이 알아볼까요</a:t>
            </a:r>
            <a:r>
              <a:rPr lang="en-US" altLang="ko-KR" sz="1200" spc="-100" dirty="0">
                <a:latin typeface="+mn-ea"/>
              </a:rPr>
              <a:t>?</a:t>
            </a:r>
            <a:endParaRPr lang="ko-KR" altLang="en-US" sz="1200" spc="-100" dirty="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CBE8AB-E569-87B8-FE9F-4ACF6C97C824}"/>
              </a:ext>
            </a:extLst>
          </p:cNvPr>
          <p:cNvSpPr txBox="1"/>
          <p:nvPr/>
        </p:nvSpPr>
        <p:spPr>
          <a:xfrm>
            <a:off x="8051951" y="2026282"/>
            <a:ext cx="2695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200" b="1" spc="-100" dirty="0">
                <a:solidFill>
                  <a:srgbClr val="0070C0"/>
                </a:solidFill>
                <a:latin typeface="+mn-ea"/>
              </a:rPr>
              <a:t>대 여성 고객님 </a:t>
            </a:r>
            <a:r>
              <a:rPr lang="ko-KR" altLang="en-US" sz="1200" spc="-100" dirty="0">
                <a:latin typeface="+mn-ea"/>
              </a:rPr>
              <a:t>에게 </a:t>
            </a:r>
            <a:r>
              <a:rPr lang="ko-KR" altLang="en-US" sz="1200" spc="-100" dirty="0" err="1">
                <a:latin typeface="+mn-ea"/>
              </a:rPr>
              <a:t>딱맞는</a:t>
            </a:r>
            <a:endParaRPr lang="en-US" altLang="ko-KR" sz="1200" spc="-100" dirty="0">
              <a:latin typeface="+mn-ea"/>
            </a:endParaRPr>
          </a:p>
          <a:p>
            <a:r>
              <a:rPr lang="ko-KR" altLang="en-US" sz="1200" spc="-100" dirty="0">
                <a:latin typeface="+mn-ea"/>
              </a:rPr>
              <a:t>합리적인 보험료를 같이 알아볼까요</a:t>
            </a:r>
            <a:r>
              <a:rPr lang="en-US" altLang="ko-KR" sz="1200" spc="-100" dirty="0">
                <a:latin typeface="+mn-ea"/>
              </a:rPr>
              <a:t>?</a:t>
            </a:r>
            <a:endParaRPr lang="ko-KR" altLang="en-US" sz="1200" spc="-1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83488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34BFFF4-307F-2DD5-076F-ABBA9E993D6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6" b="11112"/>
          <a:stretch>
            <a:fillRect/>
          </a:stretch>
        </p:blipFill>
        <p:spPr>
          <a:xfrm>
            <a:off x="217607" y="642406"/>
            <a:ext cx="3165231" cy="546946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3" name="사각형: 둥근 위쪽 모서리 2">
            <a:extLst>
              <a:ext uri="{FF2B5EF4-FFF2-40B4-BE49-F238E27FC236}">
                <a16:creationId xmlns:a16="http://schemas.microsoft.com/office/drawing/2014/main" id="{BDAA3402-DEED-BA03-F2BF-E5252F2E2087}"/>
              </a:ext>
            </a:extLst>
          </p:cNvPr>
          <p:cNvSpPr/>
          <p:nvPr/>
        </p:nvSpPr>
        <p:spPr>
          <a:xfrm>
            <a:off x="217607" y="1989910"/>
            <a:ext cx="3165231" cy="4121966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0100E55-CC89-39B5-0B45-2E96894837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368403" y="2166439"/>
            <a:ext cx="310284" cy="2866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3698DD-13EE-D263-7EB1-8BF9A413CEBC}"/>
              </a:ext>
            </a:extLst>
          </p:cNvPr>
          <p:cNvSpPr txBox="1"/>
          <p:nvPr/>
        </p:nvSpPr>
        <p:spPr>
          <a:xfrm>
            <a:off x="687154" y="2092957"/>
            <a:ext cx="2695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200" b="1" spc="-100" dirty="0">
                <a:solidFill>
                  <a:srgbClr val="0070C0"/>
                </a:solidFill>
                <a:latin typeface="+mn-ea"/>
              </a:rPr>
              <a:t>대 여성 고객님 </a:t>
            </a:r>
            <a:r>
              <a:rPr lang="ko-KR" altLang="en-US" sz="1200" spc="-100" dirty="0">
                <a:latin typeface="+mn-ea"/>
              </a:rPr>
              <a:t>에게 </a:t>
            </a:r>
            <a:r>
              <a:rPr lang="ko-KR" altLang="en-US" sz="1200" spc="-100" dirty="0" err="1">
                <a:latin typeface="+mn-ea"/>
              </a:rPr>
              <a:t>딱맞는</a:t>
            </a:r>
            <a:endParaRPr lang="en-US" altLang="ko-KR" sz="1200" spc="-100" dirty="0">
              <a:latin typeface="+mn-ea"/>
            </a:endParaRPr>
          </a:p>
          <a:p>
            <a:r>
              <a:rPr lang="ko-KR" altLang="en-US" sz="1200" spc="-100" dirty="0">
                <a:latin typeface="+mn-ea"/>
              </a:rPr>
              <a:t>합리적인 보험료를 같이 알아볼까요</a:t>
            </a:r>
            <a:r>
              <a:rPr lang="en-US" altLang="ko-KR" sz="1200" spc="-100" dirty="0">
                <a:latin typeface="+mn-ea"/>
              </a:rPr>
              <a:t>?</a:t>
            </a:r>
            <a:endParaRPr lang="ko-KR" altLang="en-US" sz="1200" spc="-100" dirty="0">
              <a:latin typeface="+mn-ea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995CD6C-D829-B6D7-62DF-8FD8D88FB77E}"/>
              </a:ext>
            </a:extLst>
          </p:cNvPr>
          <p:cNvSpPr/>
          <p:nvPr/>
        </p:nvSpPr>
        <p:spPr>
          <a:xfrm>
            <a:off x="466395" y="3443042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3~5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707A1FC-5C96-23BA-E43E-02389A48FB37}"/>
              </a:ext>
            </a:extLst>
          </p:cNvPr>
          <p:cNvSpPr/>
          <p:nvPr/>
        </p:nvSpPr>
        <p:spPr>
          <a:xfrm>
            <a:off x="466395" y="4058254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5~10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CE0CEC9-5130-46E5-EBB2-DC039B3C4CD2}"/>
              </a:ext>
            </a:extLst>
          </p:cNvPr>
          <p:cNvSpPr/>
          <p:nvPr/>
        </p:nvSpPr>
        <p:spPr>
          <a:xfrm>
            <a:off x="466395" y="4673466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만원이상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CFD1F4-C1B5-7CB5-0E2F-282B986486EB}"/>
              </a:ext>
            </a:extLst>
          </p:cNvPr>
          <p:cNvSpPr txBox="1"/>
          <p:nvPr/>
        </p:nvSpPr>
        <p:spPr>
          <a:xfrm>
            <a:off x="466395" y="2813818"/>
            <a:ext cx="2695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100" dirty="0">
                <a:latin typeface="+mn-ea"/>
              </a:rPr>
              <a:t>매월 보험료는</a:t>
            </a:r>
            <a:endParaRPr lang="en-US" altLang="ko-KR" sz="1600" b="1" spc="-100" dirty="0">
              <a:latin typeface="+mn-ea"/>
            </a:endParaRPr>
          </a:p>
          <a:p>
            <a:r>
              <a:rPr lang="ko-KR" altLang="en-US" sz="1600" b="1" spc="-100" dirty="0">
                <a:latin typeface="+mn-ea"/>
              </a:rPr>
              <a:t>얼마정도 생각하세요</a:t>
            </a:r>
            <a:r>
              <a:rPr lang="en-US" altLang="ko-KR" sz="1600" b="1" spc="-100" dirty="0">
                <a:latin typeface="+mn-ea"/>
              </a:rPr>
              <a:t>?</a:t>
            </a:r>
            <a:endParaRPr lang="ko-KR" altLang="en-US" sz="1600" b="1" spc="-100" dirty="0"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37C5AF-86D4-B895-7F9C-02D46A12488A}"/>
              </a:ext>
            </a:extLst>
          </p:cNvPr>
          <p:cNvSpPr txBox="1"/>
          <p:nvPr/>
        </p:nvSpPr>
        <p:spPr>
          <a:xfrm>
            <a:off x="1069893" y="5559738"/>
            <a:ext cx="1285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</a:t>
            </a:r>
            <a:r>
              <a:rPr lang="en-US" altLang="ko-KR" sz="2400" b="1" spc="-15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 . .</a:t>
            </a:r>
            <a:endParaRPr lang="ko-KR" altLang="en-US" sz="2400" b="1" spc="-15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2E18456-C0B5-08B0-C9BD-B9F18CBA24CB}"/>
              </a:ext>
            </a:extLst>
          </p:cNvPr>
          <p:cNvSpPr/>
          <p:nvPr/>
        </p:nvSpPr>
        <p:spPr>
          <a:xfrm>
            <a:off x="1988935" y="4216191"/>
            <a:ext cx="1030598" cy="211171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900" b="1" dirty="0"/>
              <a:t>65% </a:t>
            </a:r>
            <a:r>
              <a:rPr lang="ko-KR" altLang="en-US" sz="900" b="1" dirty="0"/>
              <a:t>고객의 선택</a:t>
            </a:r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A4A4C299-E21F-D5D8-88F9-EF07D309FF8B}"/>
              </a:ext>
            </a:extLst>
          </p:cNvPr>
          <p:cNvSpPr/>
          <p:nvPr/>
        </p:nvSpPr>
        <p:spPr>
          <a:xfrm>
            <a:off x="3757988" y="2000251"/>
            <a:ext cx="3165231" cy="4121966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C0829B7-7D49-1377-AA28-19E9C758C1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3875721" y="2166439"/>
            <a:ext cx="310284" cy="286607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7E9C4B2-9DA7-C9BD-7F8C-40FA725606BE}"/>
              </a:ext>
            </a:extLst>
          </p:cNvPr>
          <p:cNvSpPr/>
          <p:nvPr/>
        </p:nvSpPr>
        <p:spPr>
          <a:xfrm>
            <a:off x="3992763" y="3443042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암에 </a:t>
            </a:r>
            <a:r>
              <a:rPr lang="ko-KR" alt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걸릴까봐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걱정돼요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3AABEF2-E90B-0278-8028-4F08D66D133A}"/>
              </a:ext>
            </a:extLst>
          </p:cNvPr>
          <p:cNvSpPr/>
          <p:nvPr/>
        </p:nvSpPr>
        <p:spPr>
          <a:xfrm>
            <a:off x="3992763" y="4016642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뇌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심장의 혈관 질환이 불안해요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A01D3CF-6CFC-A0FC-D6CE-CCABB87D33CF}"/>
              </a:ext>
            </a:extLst>
          </p:cNvPr>
          <p:cNvSpPr/>
          <p:nvPr/>
        </p:nvSpPr>
        <p:spPr>
          <a:xfrm>
            <a:off x="3992763" y="4590242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나이들어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치매가 염려돼요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2FE964-E122-902E-B8A2-2945517CE601}"/>
              </a:ext>
            </a:extLst>
          </p:cNvPr>
          <p:cNvSpPr txBox="1"/>
          <p:nvPr/>
        </p:nvSpPr>
        <p:spPr>
          <a:xfrm>
            <a:off x="3992763" y="2813818"/>
            <a:ext cx="2695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100" dirty="0">
                <a:latin typeface="+mn-ea"/>
              </a:rPr>
              <a:t>어떤 상황을</a:t>
            </a:r>
            <a:endParaRPr lang="en-US" altLang="ko-KR" sz="1600" b="1" spc="-100" dirty="0">
              <a:latin typeface="+mn-ea"/>
            </a:endParaRPr>
          </a:p>
          <a:p>
            <a:r>
              <a:rPr lang="ko-KR" altLang="en-US" sz="1600" b="1" spc="-100" dirty="0">
                <a:latin typeface="+mn-ea"/>
              </a:rPr>
              <a:t>가장 대비하고 </a:t>
            </a:r>
            <a:r>
              <a:rPr lang="ko-KR" altLang="en-US" sz="1600" b="1" spc="-100" dirty="0" err="1">
                <a:latin typeface="+mn-ea"/>
              </a:rPr>
              <a:t>싶으세요</a:t>
            </a:r>
            <a:r>
              <a:rPr lang="en-US" altLang="ko-KR" sz="1600" b="1" spc="-100" dirty="0">
                <a:latin typeface="+mn-ea"/>
              </a:rPr>
              <a:t>?</a:t>
            </a:r>
            <a:r>
              <a:rPr lang="ko-KR" altLang="en-US" sz="1600" b="1" spc="-100" dirty="0">
                <a:latin typeface="+mn-ea"/>
              </a:rPr>
              <a:t> 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A29047F-ABAF-E02F-DBE7-2558FBDEC9F0}"/>
              </a:ext>
            </a:extLst>
          </p:cNvPr>
          <p:cNvSpPr/>
          <p:nvPr/>
        </p:nvSpPr>
        <p:spPr>
          <a:xfrm>
            <a:off x="3992763" y="5163841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만원이상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BAF5C2-4BF6-7F6F-8E5B-F01DCA507EC7}"/>
              </a:ext>
            </a:extLst>
          </p:cNvPr>
          <p:cNvSpPr txBox="1"/>
          <p:nvPr/>
        </p:nvSpPr>
        <p:spPr>
          <a:xfrm>
            <a:off x="4670692" y="5559738"/>
            <a:ext cx="1285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</a:t>
            </a:r>
            <a:r>
              <a:rPr lang="en-US" altLang="ko-KR" sz="2400" b="1" spc="-15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 </a:t>
            </a:r>
            <a:r>
              <a:rPr lang="en-US" altLang="ko-KR" sz="2400" b="1" spc="-15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</a:t>
            </a:r>
            <a:r>
              <a:rPr lang="en-US" altLang="ko-KR" sz="2400" b="1" spc="-15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 .</a:t>
            </a:r>
            <a:endParaRPr lang="ko-KR" altLang="en-US" sz="2400" b="1" spc="-15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28" name="사각형: 둥근 위쪽 모서리 27">
            <a:extLst>
              <a:ext uri="{FF2B5EF4-FFF2-40B4-BE49-F238E27FC236}">
                <a16:creationId xmlns:a16="http://schemas.microsoft.com/office/drawing/2014/main" id="{2033833E-9073-7567-62A7-9B538E119A36}"/>
              </a:ext>
            </a:extLst>
          </p:cNvPr>
          <p:cNvSpPr/>
          <p:nvPr/>
        </p:nvSpPr>
        <p:spPr>
          <a:xfrm>
            <a:off x="7298369" y="2000251"/>
            <a:ext cx="3165231" cy="4121966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27B812C5-5D18-5BA3-4D65-217892D9BB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7416102" y="2166439"/>
            <a:ext cx="310284" cy="28660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CE8E9C6-FE26-0F78-68C2-5B9B120906D4}"/>
              </a:ext>
            </a:extLst>
          </p:cNvPr>
          <p:cNvSpPr txBox="1"/>
          <p:nvPr/>
        </p:nvSpPr>
        <p:spPr>
          <a:xfrm>
            <a:off x="7533144" y="2813818"/>
            <a:ext cx="269568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spc="-100" dirty="0">
                <a:solidFill>
                  <a:srgbClr val="0070C0"/>
                </a:solidFill>
                <a:latin typeface="+mn-ea"/>
              </a:rPr>
              <a:t>월 </a:t>
            </a:r>
            <a:r>
              <a:rPr lang="en-US" altLang="ko-KR" sz="1400" b="1" spc="-100" dirty="0">
                <a:solidFill>
                  <a:srgbClr val="0070C0"/>
                </a:solidFill>
                <a:latin typeface="+mn-ea"/>
              </a:rPr>
              <a:t>5~10</a:t>
            </a:r>
            <a:r>
              <a:rPr lang="ko-KR" altLang="en-US" sz="1400" b="1" spc="-100" dirty="0">
                <a:solidFill>
                  <a:srgbClr val="0070C0"/>
                </a:solidFill>
                <a:latin typeface="+mn-ea"/>
              </a:rPr>
              <a:t>만원의 보험료를 내고</a:t>
            </a:r>
            <a:endParaRPr lang="en-US" altLang="ko-KR" sz="1400" b="1" spc="-100" dirty="0">
              <a:solidFill>
                <a:srgbClr val="0070C0"/>
              </a:solidFill>
              <a:latin typeface="+mn-ea"/>
            </a:endParaRPr>
          </a:p>
          <a:p>
            <a:endParaRPr lang="en-US" altLang="ko-KR" sz="1400" b="1" spc="-100" dirty="0">
              <a:solidFill>
                <a:srgbClr val="0070C0"/>
              </a:solidFill>
              <a:latin typeface="+mn-ea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ko-KR" altLang="en-US" sz="1400" b="1" spc="-100" dirty="0">
                <a:solidFill>
                  <a:srgbClr val="0070C0"/>
                </a:solidFill>
                <a:latin typeface="+mn-ea"/>
              </a:rPr>
              <a:t>암 이라고 진단 </a:t>
            </a:r>
            <a:r>
              <a:rPr lang="ko-KR" altLang="en-US" sz="1400" b="1" spc="-100" dirty="0">
                <a:latin typeface="+mn-ea"/>
              </a:rPr>
              <a:t>받았을 때</a:t>
            </a:r>
            <a:r>
              <a:rPr lang="en-US" altLang="ko-KR" sz="1400" b="1" spc="-100" dirty="0">
                <a:latin typeface="+mn-ea"/>
              </a:rPr>
              <a:t>, 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ko-KR" altLang="en-US" sz="1400" b="1" spc="-100" dirty="0">
                <a:solidFill>
                  <a:srgbClr val="0070C0"/>
                </a:solidFill>
                <a:latin typeface="+mn-ea"/>
              </a:rPr>
              <a:t>암 치료 잘 </a:t>
            </a:r>
            <a:r>
              <a:rPr lang="ko-KR" altLang="en-US" sz="1400" b="1" spc="-100" dirty="0">
                <a:latin typeface="+mn-ea"/>
              </a:rPr>
              <a:t>받기위해</a:t>
            </a:r>
            <a:endParaRPr lang="en-US" altLang="ko-KR" sz="1400" b="1" spc="-100" dirty="0">
              <a:latin typeface="+mn-ea"/>
            </a:endParaRPr>
          </a:p>
          <a:p>
            <a:endParaRPr lang="en-US" altLang="ko-KR" sz="1400" b="1" spc="-100" dirty="0">
              <a:latin typeface="+mn-ea"/>
            </a:endParaRPr>
          </a:p>
          <a:p>
            <a:r>
              <a:rPr lang="ko-KR" altLang="en-US" sz="1400" b="1" spc="-100" dirty="0">
                <a:latin typeface="+mn-ea"/>
              </a:rPr>
              <a:t>더 많은 보험금을 받으실 수</a:t>
            </a:r>
            <a:endParaRPr lang="en-US" altLang="ko-KR" sz="1400" b="1" spc="-100" dirty="0">
              <a:latin typeface="+mn-ea"/>
            </a:endParaRPr>
          </a:p>
          <a:p>
            <a:r>
              <a:rPr lang="ko-KR" altLang="en-US" sz="1400" b="1" spc="-100" dirty="0">
                <a:latin typeface="+mn-ea"/>
              </a:rPr>
              <a:t>있도록 설계해 보았어요 </a:t>
            </a:r>
            <a:endParaRPr lang="en-US" altLang="ko-KR" sz="1400" b="1" spc="-100" dirty="0">
              <a:latin typeface="+mn-ea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76F43C5-4079-E951-5FF6-1B916CFD299F}"/>
              </a:ext>
            </a:extLst>
          </p:cNvPr>
          <p:cNvSpPr/>
          <p:nvPr/>
        </p:nvSpPr>
        <p:spPr>
          <a:xfrm>
            <a:off x="7533144" y="4824242"/>
            <a:ext cx="2670072" cy="468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보험료 확인하고 바로 가입하기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38A35B-A206-2659-8511-F62A50369CBE}"/>
              </a:ext>
            </a:extLst>
          </p:cNvPr>
          <p:cNvSpPr txBox="1"/>
          <p:nvPr/>
        </p:nvSpPr>
        <p:spPr>
          <a:xfrm>
            <a:off x="7507533" y="4526254"/>
            <a:ext cx="26956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pc="-100" dirty="0" err="1">
                <a:solidFill>
                  <a:srgbClr val="7030A0"/>
                </a:solidFill>
                <a:latin typeface="+mn-ea"/>
              </a:rPr>
              <a:t>가입후</a:t>
            </a:r>
            <a:r>
              <a:rPr lang="ko-KR" altLang="en-US" sz="1100" spc="-100" dirty="0">
                <a:solidFill>
                  <a:srgbClr val="7030A0"/>
                </a:solidFill>
                <a:latin typeface="+mn-ea"/>
              </a:rPr>
              <a:t> </a:t>
            </a:r>
            <a:r>
              <a:rPr lang="en-US" altLang="ko-KR" sz="1100" spc="-100" dirty="0">
                <a:solidFill>
                  <a:srgbClr val="7030A0"/>
                </a:solidFill>
                <a:latin typeface="+mn-ea"/>
              </a:rPr>
              <a:t>30</a:t>
            </a:r>
            <a:r>
              <a:rPr lang="ko-KR" altLang="en-US" sz="1100" spc="-100" dirty="0">
                <a:solidFill>
                  <a:srgbClr val="7030A0"/>
                </a:solidFill>
                <a:latin typeface="+mn-ea"/>
              </a:rPr>
              <a:t>일 내 언제든 무료취소가 가능해요</a:t>
            </a:r>
            <a:r>
              <a:rPr lang="en-US" altLang="ko-KR" sz="1100" spc="-100" dirty="0">
                <a:solidFill>
                  <a:srgbClr val="7030A0"/>
                </a:solidFill>
                <a:latin typeface="+mn-ea"/>
              </a:rPr>
              <a:t>!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588B2F12-C257-0B71-B49E-08E048573D94}"/>
              </a:ext>
            </a:extLst>
          </p:cNvPr>
          <p:cNvSpPr/>
          <p:nvPr/>
        </p:nvSpPr>
        <p:spPr>
          <a:xfrm>
            <a:off x="7533144" y="540415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설계내용 상세보기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95A426-0649-68CF-7815-5D2179BFF6EF}"/>
              </a:ext>
            </a:extLst>
          </p:cNvPr>
          <p:cNvSpPr txBox="1"/>
          <p:nvPr/>
        </p:nvSpPr>
        <p:spPr>
          <a:xfrm>
            <a:off x="4206770" y="2092957"/>
            <a:ext cx="2695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200" b="1" spc="-100" dirty="0">
                <a:solidFill>
                  <a:srgbClr val="0070C0"/>
                </a:solidFill>
                <a:latin typeface="+mn-ea"/>
              </a:rPr>
              <a:t>대 여성 고객님 </a:t>
            </a:r>
            <a:r>
              <a:rPr lang="ko-KR" altLang="en-US" sz="1200" spc="-100" dirty="0">
                <a:latin typeface="+mn-ea"/>
              </a:rPr>
              <a:t>에게 </a:t>
            </a:r>
            <a:r>
              <a:rPr lang="ko-KR" altLang="en-US" sz="1200" spc="-100" dirty="0" err="1">
                <a:latin typeface="+mn-ea"/>
              </a:rPr>
              <a:t>딱맞는</a:t>
            </a:r>
            <a:endParaRPr lang="en-US" altLang="ko-KR" sz="1200" spc="-100" dirty="0">
              <a:latin typeface="+mn-ea"/>
            </a:endParaRPr>
          </a:p>
          <a:p>
            <a:r>
              <a:rPr lang="ko-KR" altLang="en-US" sz="1200" spc="-100" dirty="0">
                <a:latin typeface="+mn-ea"/>
              </a:rPr>
              <a:t>합리적인 보험료를 같이 알아볼까요</a:t>
            </a:r>
            <a:r>
              <a:rPr lang="en-US" altLang="ko-KR" sz="1200" spc="-100" dirty="0">
                <a:latin typeface="+mn-ea"/>
              </a:rPr>
              <a:t>?</a:t>
            </a:r>
            <a:endParaRPr lang="ko-KR" altLang="en-US" sz="1200" spc="-100" dirty="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CBE8AB-E569-87B8-FE9F-4ACF6C97C824}"/>
              </a:ext>
            </a:extLst>
          </p:cNvPr>
          <p:cNvSpPr txBox="1"/>
          <p:nvPr/>
        </p:nvSpPr>
        <p:spPr>
          <a:xfrm>
            <a:off x="7747151" y="2092957"/>
            <a:ext cx="2695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200" b="1" spc="-100" dirty="0">
                <a:solidFill>
                  <a:srgbClr val="0070C0"/>
                </a:solidFill>
                <a:latin typeface="+mn-ea"/>
              </a:rPr>
              <a:t>대 여성 고객님 </a:t>
            </a:r>
            <a:r>
              <a:rPr lang="ko-KR" altLang="en-US" sz="1200" spc="-100" dirty="0">
                <a:latin typeface="+mn-ea"/>
              </a:rPr>
              <a:t>에게 </a:t>
            </a:r>
            <a:r>
              <a:rPr lang="ko-KR" altLang="en-US" sz="1200" spc="-100" dirty="0" err="1">
                <a:latin typeface="+mn-ea"/>
              </a:rPr>
              <a:t>딱맞는</a:t>
            </a:r>
            <a:endParaRPr lang="en-US" altLang="ko-KR" sz="1200" spc="-100" dirty="0">
              <a:latin typeface="+mn-ea"/>
            </a:endParaRPr>
          </a:p>
          <a:p>
            <a:r>
              <a:rPr lang="ko-KR" altLang="en-US" sz="1200" spc="-100" dirty="0">
                <a:latin typeface="+mn-ea"/>
              </a:rPr>
              <a:t>합리적인 보험료를 같이 알아볼까요</a:t>
            </a:r>
            <a:r>
              <a:rPr lang="en-US" altLang="ko-KR" sz="1200" spc="-100" dirty="0">
                <a:latin typeface="+mn-ea"/>
              </a:rPr>
              <a:t>?</a:t>
            </a:r>
            <a:endParaRPr lang="ko-KR" altLang="en-US" sz="1200" spc="-1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80709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34BFFF4-307F-2DD5-076F-ABBA9E993D6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6" b="11112"/>
          <a:stretch>
            <a:fillRect/>
          </a:stretch>
        </p:blipFill>
        <p:spPr>
          <a:xfrm>
            <a:off x="598607" y="575731"/>
            <a:ext cx="3165231" cy="546946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3" name="사각형: 둥근 위쪽 모서리 2">
            <a:extLst>
              <a:ext uri="{FF2B5EF4-FFF2-40B4-BE49-F238E27FC236}">
                <a16:creationId xmlns:a16="http://schemas.microsoft.com/office/drawing/2014/main" id="{BDAA3402-DEED-BA03-F2BF-E5252F2E2087}"/>
              </a:ext>
            </a:extLst>
          </p:cNvPr>
          <p:cNvSpPr/>
          <p:nvPr/>
        </p:nvSpPr>
        <p:spPr>
          <a:xfrm>
            <a:off x="598607" y="1895475"/>
            <a:ext cx="3165231" cy="4149725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0100E55-CC89-39B5-0B45-2E96894837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749403" y="2094321"/>
            <a:ext cx="310284" cy="2866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3698DD-13EE-D263-7EB1-8BF9A413CEBC}"/>
              </a:ext>
            </a:extLst>
          </p:cNvPr>
          <p:cNvSpPr txBox="1"/>
          <p:nvPr/>
        </p:nvSpPr>
        <p:spPr>
          <a:xfrm>
            <a:off x="1068154" y="2020839"/>
            <a:ext cx="2695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200" b="1" spc="-100" dirty="0">
                <a:solidFill>
                  <a:srgbClr val="0070C0"/>
                </a:solidFill>
                <a:latin typeface="+mn-ea"/>
              </a:rPr>
              <a:t>대 여성 고객님 에게 </a:t>
            </a:r>
            <a:r>
              <a:rPr lang="ko-KR" altLang="en-US" sz="1200" b="1" spc="-100" dirty="0" err="1">
                <a:solidFill>
                  <a:srgbClr val="0070C0"/>
                </a:solidFill>
                <a:latin typeface="+mn-ea"/>
              </a:rPr>
              <a:t>딱맞는</a:t>
            </a:r>
            <a:endParaRPr lang="en-US" altLang="ko-KR" sz="1200" b="1" spc="-100" dirty="0">
              <a:solidFill>
                <a:srgbClr val="0070C0"/>
              </a:solidFill>
              <a:latin typeface="+mn-ea"/>
            </a:endParaRPr>
          </a:p>
          <a:p>
            <a:r>
              <a:rPr lang="ko-KR" altLang="en-US" sz="1200" b="1" spc="-100" dirty="0">
                <a:latin typeface="+mn-ea"/>
              </a:rPr>
              <a:t>합리적인 보험료를 같이 알아볼까요</a:t>
            </a:r>
            <a:r>
              <a:rPr lang="en-US" altLang="ko-KR" sz="1200" b="1" spc="-100" dirty="0">
                <a:latin typeface="+mn-ea"/>
              </a:rPr>
              <a:t>?</a:t>
            </a:r>
            <a:endParaRPr lang="ko-KR" altLang="en-US" sz="1200" b="1" spc="-100" dirty="0">
              <a:latin typeface="+mn-ea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995CD6C-D829-B6D7-62DF-8FD8D88FB77E}"/>
              </a:ext>
            </a:extLst>
          </p:cNvPr>
          <p:cNvSpPr/>
          <p:nvPr/>
        </p:nvSpPr>
        <p:spPr>
          <a:xfrm>
            <a:off x="866445" y="3596559"/>
            <a:ext cx="2670072" cy="62501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3~5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707A1FC-5C96-23BA-E43E-02389A48FB37}"/>
              </a:ext>
            </a:extLst>
          </p:cNvPr>
          <p:cNvSpPr/>
          <p:nvPr/>
        </p:nvSpPr>
        <p:spPr>
          <a:xfrm>
            <a:off x="866445" y="4316546"/>
            <a:ext cx="2670072" cy="62501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5~10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CE0CEC9-5130-46E5-EBB2-DC039B3C4CD2}"/>
              </a:ext>
            </a:extLst>
          </p:cNvPr>
          <p:cNvSpPr/>
          <p:nvPr/>
        </p:nvSpPr>
        <p:spPr>
          <a:xfrm>
            <a:off x="866445" y="5036533"/>
            <a:ext cx="2670072" cy="62501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만원이상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CFD1F4-C1B5-7CB5-0E2F-282B986486EB}"/>
              </a:ext>
            </a:extLst>
          </p:cNvPr>
          <p:cNvSpPr txBox="1"/>
          <p:nvPr/>
        </p:nvSpPr>
        <p:spPr>
          <a:xfrm>
            <a:off x="866445" y="2967335"/>
            <a:ext cx="2695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100" dirty="0">
                <a:latin typeface="+mn-ea"/>
              </a:rPr>
              <a:t>매월 보험료는</a:t>
            </a:r>
            <a:endParaRPr lang="en-US" altLang="ko-KR" sz="1600" b="1" spc="-100" dirty="0">
              <a:latin typeface="+mn-ea"/>
            </a:endParaRPr>
          </a:p>
          <a:p>
            <a:r>
              <a:rPr lang="ko-KR" altLang="en-US" sz="1600" b="1" spc="-100" dirty="0">
                <a:latin typeface="+mn-ea"/>
              </a:rPr>
              <a:t>최대 얼마정도 생각하세요</a:t>
            </a:r>
            <a:r>
              <a:rPr lang="en-US" altLang="ko-KR" sz="1600" b="1" spc="-100" dirty="0">
                <a:latin typeface="+mn-ea"/>
              </a:rPr>
              <a:t>?</a:t>
            </a:r>
            <a:endParaRPr lang="ko-KR" altLang="en-US" sz="1600" b="1" spc="-100" dirty="0"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37C5AF-86D4-B895-7F9C-02D46A12488A}"/>
              </a:ext>
            </a:extLst>
          </p:cNvPr>
          <p:cNvSpPr txBox="1"/>
          <p:nvPr/>
        </p:nvSpPr>
        <p:spPr>
          <a:xfrm>
            <a:off x="1905400" y="5544530"/>
            <a:ext cx="1285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pc="-15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</a:t>
            </a:r>
            <a:r>
              <a:rPr lang="en-US" altLang="ko-KR" sz="2400" b="1" spc="-15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 . .</a:t>
            </a:r>
            <a:endParaRPr lang="ko-KR" altLang="en-US" sz="2400" b="1" spc="-15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2E18456-C0B5-08B0-C9BD-B9F18CBA24CB}"/>
              </a:ext>
            </a:extLst>
          </p:cNvPr>
          <p:cNvSpPr/>
          <p:nvPr/>
        </p:nvSpPr>
        <p:spPr>
          <a:xfrm>
            <a:off x="2314576" y="4528243"/>
            <a:ext cx="1030598" cy="211171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900" b="1" dirty="0"/>
              <a:t>65% </a:t>
            </a:r>
            <a:r>
              <a:rPr lang="ko-KR" altLang="en-US" sz="900" b="1" dirty="0"/>
              <a:t>고객의 선택</a:t>
            </a:r>
          </a:p>
        </p:txBody>
      </p:sp>
    </p:spTree>
    <p:extLst>
      <p:ext uri="{BB962C8B-B14F-4D97-AF65-F5344CB8AC3E}">
        <p14:creationId xmlns:p14="http://schemas.microsoft.com/office/powerpoint/2010/main" val="497428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34BFFF4-307F-2DD5-076F-ABBA9E993D6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6" b="11112"/>
          <a:stretch>
            <a:fillRect/>
          </a:stretch>
        </p:blipFill>
        <p:spPr>
          <a:xfrm>
            <a:off x="-2670736" y="575731"/>
            <a:ext cx="3165231" cy="546946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3" name="사각형: 둥근 위쪽 모서리 2">
            <a:extLst>
              <a:ext uri="{FF2B5EF4-FFF2-40B4-BE49-F238E27FC236}">
                <a16:creationId xmlns:a16="http://schemas.microsoft.com/office/drawing/2014/main" id="{BDAA3402-DEED-BA03-F2BF-E5252F2E2087}"/>
              </a:ext>
            </a:extLst>
          </p:cNvPr>
          <p:cNvSpPr/>
          <p:nvPr/>
        </p:nvSpPr>
        <p:spPr>
          <a:xfrm>
            <a:off x="-2670736" y="1923235"/>
            <a:ext cx="3165231" cy="4121966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0100E55-CC89-39B5-0B45-2E96894837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-2519940" y="2099764"/>
            <a:ext cx="310284" cy="2866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3698DD-13EE-D263-7EB1-8BF9A413CEBC}"/>
              </a:ext>
            </a:extLst>
          </p:cNvPr>
          <p:cNvSpPr txBox="1"/>
          <p:nvPr/>
        </p:nvSpPr>
        <p:spPr>
          <a:xfrm>
            <a:off x="-2209656" y="2122509"/>
            <a:ext cx="23408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대 여성을 위한</a:t>
            </a:r>
            <a:r>
              <a:rPr lang="ko-KR" altLang="en-US" sz="1050" b="1" spc="-100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AI 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보험설계</a:t>
            </a:r>
            <a:endParaRPr lang="ko-KR" altLang="en-US" sz="1050" spc="-100" dirty="0">
              <a:latin typeface="+mn-ea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995CD6C-D829-B6D7-62DF-8FD8D88FB77E}"/>
              </a:ext>
            </a:extLst>
          </p:cNvPr>
          <p:cNvSpPr/>
          <p:nvPr/>
        </p:nvSpPr>
        <p:spPr>
          <a:xfrm>
            <a:off x="-2421948" y="337636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3~5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707A1FC-5C96-23BA-E43E-02389A48FB37}"/>
              </a:ext>
            </a:extLst>
          </p:cNvPr>
          <p:cNvSpPr/>
          <p:nvPr/>
        </p:nvSpPr>
        <p:spPr>
          <a:xfrm>
            <a:off x="-2421948" y="3991579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5~10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CE0CEC9-5130-46E5-EBB2-DC039B3C4CD2}"/>
              </a:ext>
            </a:extLst>
          </p:cNvPr>
          <p:cNvSpPr/>
          <p:nvPr/>
        </p:nvSpPr>
        <p:spPr>
          <a:xfrm>
            <a:off x="-2421948" y="4606791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만원이상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CFD1F4-C1B5-7CB5-0E2F-282B986486EB}"/>
              </a:ext>
            </a:extLst>
          </p:cNvPr>
          <p:cNvSpPr txBox="1"/>
          <p:nvPr/>
        </p:nvSpPr>
        <p:spPr>
          <a:xfrm>
            <a:off x="-2421948" y="2489880"/>
            <a:ext cx="2695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100" dirty="0">
                <a:latin typeface="+mn-ea"/>
              </a:rPr>
              <a:t>매월 보험료는</a:t>
            </a:r>
            <a:endParaRPr lang="en-US" altLang="ko-KR" sz="1600" b="1" spc="-100" dirty="0">
              <a:latin typeface="+mn-ea"/>
            </a:endParaRPr>
          </a:p>
          <a:p>
            <a:r>
              <a:rPr lang="ko-KR" altLang="en-US" sz="1600" b="1" spc="-100" dirty="0">
                <a:latin typeface="+mn-ea"/>
              </a:rPr>
              <a:t>얼마정도 생각하세요</a:t>
            </a:r>
            <a:r>
              <a:rPr lang="en-US" altLang="ko-KR" sz="1600" b="1" spc="-100" dirty="0">
                <a:latin typeface="+mn-ea"/>
              </a:rPr>
              <a:t>?</a:t>
            </a:r>
            <a:endParaRPr lang="ko-KR" altLang="en-US" sz="1600" b="1" spc="-100" dirty="0"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37C5AF-86D4-B895-7F9C-02D46A12488A}"/>
              </a:ext>
            </a:extLst>
          </p:cNvPr>
          <p:cNvSpPr txBox="1"/>
          <p:nvPr/>
        </p:nvSpPr>
        <p:spPr>
          <a:xfrm>
            <a:off x="-1818450" y="5493063"/>
            <a:ext cx="1285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</a:t>
            </a:r>
            <a:r>
              <a:rPr lang="en-US" altLang="ko-KR" sz="2400" b="1" spc="-15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 .</a:t>
            </a:r>
            <a:endParaRPr lang="ko-KR" altLang="en-US" sz="2400" b="1" spc="-15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2E18456-C0B5-08B0-C9BD-B9F18CBA24CB}"/>
              </a:ext>
            </a:extLst>
          </p:cNvPr>
          <p:cNvSpPr/>
          <p:nvPr/>
        </p:nvSpPr>
        <p:spPr>
          <a:xfrm>
            <a:off x="-1297668" y="4122613"/>
            <a:ext cx="1428858" cy="231984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accent1">
                    <a:lumMod val="50000"/>
                  </a:schemeClr>
                </a:solidFill>
              </a:rPr>
              <a:t>65% 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</a:rPr>
              <a:t>고객님이 선택했어요</a:t>
            </a:r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A4A4C299-E21F-D5D8-88F9-EF07D309FF8B}"/>
              </a:ext>
            </a:extLst>
          </p:cNvPr>
          <p:cNvSpPr/>
          <p:nvPr/>
        </p:nvSpPr>
        <p:spPr>
          <a:xfrm>
            <a:off x="869645" y="1933576"/>
            <a:ext cx="3165231" cy="4121966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C0829B7-7D49-1377-AA28-19E9C758C1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987378" y="2099764"/>
            <a:ext cx="310284" cy="286607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7E9C4B2-9DA7-C9BD-7F8C-40FA725606BE}"/>
              </a:ext>
            </a:extLst>
          </p:cNvPr>
          <p:cNvSpPr/>
          <p:nvPr/>
        </p:nvSpPr>
        <p:spPr>
          <a:xfrm>
            <a:off x="1104420" y="337636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암에 대한 걱정이 제일 커요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3AABEF2-E90B-0278-8028-4F08D66D133A}"/>
              </a:ext>
            </a:extLst>
          </p:cNvPr>
          <p:cNvSpPr/>
          <p:nvPr/>
        </p:nvSpPr>
        <p:spPr>
          <a:xfrm>
            <a:off x="1104420" y="394996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뇌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심장 혈관질환이 가장 걱정돼요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A01D3CF-6CFC-A0FC-D6CE-CCABB87D33CF}"/>
              </a:ext>
            </a:extLst>
          </p:cNvPr>
          <p:cNvSpPr/>
          <p:nvPr/>
        </p:nvSpPr>
        <p:spPr>
          <a:xfrm>
            <a:off x="1104420" y="4523567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치매가 정말 염려돼요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2FE964-E122-902E-B8A2-2945517CE601}"/>
              </a:ext>
            </a:extLst>
          </p:cNvPr>
          <p:cNvSpPr txBox="1"/>
          <p:nvPr/>
        </p:nvSpPr>
        <p:spPr>
          <a:xfrm>
            <a:off x="1077244" y="2489880"/>
            <a:ext cx="2695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pc="-100" dirty="0">
                <a:latin typeface="+mn-ea"/>
              </a:rPr>
              <a:t>어떤 상황을</a:t>
            </a:r>
            <a:endParaRPr lang="en-US" altLang="ko-KR" sz="1600" b="1" spc="-100" dirty="0">
              <a:latin typeface="+mn-ea"/>
            </a:endParaRPr>
          </a:p>
          <a:p>
            <a:r>
              <a:rPr lang="ko-KR" altLang="en-US" sz="1600" b="1" spc="-100" dirty="0">
                <a:latin typeface="+mn-ea"/>
              </a:rPr>
              <a:t>가장 대비하고 </a:t>
            </a:r>
            <a:r>
              <a:rPr lang="ko-KR" altLang="en-US" sz="1600" b="1" spc="-100" dirty="0" err="1">
                <a:latin typeface="+mn-ea"/>
              </a:rPr>
              <a:t>싶으세요</a:t>
            </a:r>
            <a:r>
              <a:rPr lang="en-US" altLang="ko-KR" sz="1600" b="1" spc="-100" dirty="0">
                <a:latin typeface="+mn-ea"/>
              </a:rPr>
              <a:t>?</a:t>
            </a:r>
            <a:r>
              <a:rPr lang="ko-KR" altLang="en-US" sz="1600" b="1" spc="-100" dirty="0">
                <a:latin typeface="+mn-ea"/>
              </a:rPr>
              <a:t> 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A29047F-ABAF-E02F-DBE7-2558FBDEC9F0}"/>
              </a:ext>
            </a:extLst>
          </p:cNvPr>
          <p:cNvSpPr/>
          <p:nvPr/>
        </p:nvSpPr>
        <p:spPr>
          <a:xfrm>
            <a:off x="1104420" y="5097166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골고루 대비하고 싶어요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BAF5C2-4BF6-7F6F-8E5B-F01DCA507EC7}"/>
              </a:ext>
            </a:extLst>
          </p:cNvPr>
          <p:cNvSpPr txBox="1"/>
          <p:nvPr/>
        </p:nvSpPr>
        <p:spPr>
          <a:xfrm>
            <a:off x="1782349" y="5493063"/>
            <a:ext cx="1285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. </a:t>
            </a:r>
            <a:r>
              <a:rPr lang="en-US" altLang="ko-KR" sz="2400" b="1" spc="-15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.</a:t>
            </a:r>
            <a:endParaRPr lang="ko-KR" altLang="en-US" sz="2400" b="1" spc="-15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C6859115-4ECB-3AA8-A016-498A3A82F7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5"/>
          <a:stretch>
            <a:fillRect/>
          </a:stretch>
        </p:blipFill>
        <p:spPr>
          <a:xfrm>
            <a:off x="8284126" y="-541625"/>
            <a:ext cx="3165231" cy="412196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3ABF15-5D1B-AD4D-6EEF-464C2F96BB57}"/>
              </a:ext>
            </a:extLst>
          </p:cNvPr>
          <p:cNvSpPr txBox="1"/>
          <p:nvPr/>
        </p:nvSpPr>
        <p:spPr>
          <a:xfrm>
            <a:off x="1269033" y="2122509"/>
            <a:ext cx="23408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대 여성을 위한</a:t>
            </a:r>
            <a:r>
              <a:rPr lang="ko-KR" altLang="en-US" sz="1050" b="1" spc="-100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AI 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보험설계</a:t>
            </a:r>
            <a:endParaRPr lang="ko-KR" altLang="en-US" sz="1050" spc="-100" dirty="0">
              <a:latin typeface="+mn-ea"/>
            </a:endParaRPr>
          </a:p>
        </p:txBody>
      </p:sp>
      <p:sp>
        <p:nvSpPr>
          <p:cNvPr id="4" name="사각형: 둥근 위쪽 모서리 3">
            <a:extLst>
              <a:ext uri="{FF2B5EF4-FFF2-40B4-BE49-F238E27FC236}">
                <a16:creationId xmlns:a16="http://schemas.microsoft.com/office/drawing/2014/main" id="{D0307946-D7FF-DBF0-437F-C030C4167035}"/>
              </a:ext>
            </a:extLst>
          </p:cNvPr>
          <p:cNvSpPr/>
          <p:nvPr/>
        </p:nvSpPr>
        <p:spPr>
          <a:xfrm>
            <a:off x="4287808" y="1933576"/>
            <a:ext cx="3165231" cy="4121966"/>
          </a:xfrm>
          <a:prstGeom prst="round2SameRect">
            <a:avLst>
              <a:gd name="adj1" fmla="val 9445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A53B9DD-C50D-F5BE-25F2-DF6B62330D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1" t="14395" r="2456" b="11531"/>
          <a:stretch>
            <a:fillRect/>
          </a:stretch>
        </p:blipFill>
        <p:spPr>
          <a:xfrm>
            <a:off x="4405541" y="2099764"/>
            <a:ext cx="310284" cy="28660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A195BD4-0F13-C5DB-D277-7A68BF3873BC}"/>
              </a:ext>
            </a:extLst>
          </p:cNvPr>
          <p:cNvSpPr txBox="1"/>
          <p:nvPr/>
        </p:nvSpPr>
        <p:spPr>
          <a:xfrm>
            <a:off x="4509777" y="2499922"/>
            <a:ext cx="2695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생각하신 보험료 </a:t>
            </a:r>
            <a:r>
              <a:rPr lang="en-US" altLang="ko-KR" sz="1200" b="1" spc="-100" dirty="0">
                <a:solidFill>
                  <a:srgbClr val="00B0F0"/>
                </a:solidFill>
                <a:latin typeface="+mn-ea"/>
              </a:rPr>
              <a:t>5~10</a:t>
            </a:r>
            <a:r>
              <a:rPr lang="ko-KR" altLang="en-US" sz="1200" b="1" spc="-100" dirty="0">
                <a:solidFill>
                  <a:srgbClr val="00B0F0"/>
                </a:solidFill>
                <a:latin typeface="+mn-ea"/>
              </a:rPr>
              <a:t>만원 </a:t>
            </a:r>
            <a:r>
              <a:rPr lang="ko-KR" altLang="en-US" sz="12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내에서</a:t>
            </a:r>
            <a:endParaRPr lang="en-US" altLang="ko-KR" sz="1200" b="1" spc="-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r>
              <a:rPr lang="ko-KR" altLang="en-US" sz="12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가장 걱정이 큰 </a:t>
            </a:r>
            <a:r>
              <a:rPr lang="ko-KR" altLang="en-US" sz="1200" b="1" spc="-100" dirty="0">
                <a:solidFill>
                  <a:srgbClr val="00B0F0"/>
                </a:solidFill>
                <a:latin typeface="+mn-ea"/>
              </a:rPr>
              <a:t>암을</a:t>
            </a:r>
            <a:endParaRPr lang="en-US" altLang="ko-KR" sz="1200" b="1" spc="-100" dirty="0">
              <a:solidFill>
                <a:srgbClr val="00B0F0"/>
              </a:solidFill>
              <a:latin typeface="+mn-ea"/>
            </a:endParaRPr>
          </a:p>
          <a:p>
            <a:r>
              <a:rPr lang="ko-KR" altLang="en-US" sz="1200" b="1" spc="-100" dirty="0">
                <a:solidFill>
                  <a:srgbClr val="00B0F0"/>
                </a:solidFill>
                <a:latin typeface="+mn-ea"/>
              </a:rPr>
              <a:t>집중적으로 대비할 수 있게 </a:t>
            </a:r>
            <a:r>
              <a:rPr lang="ko-KR" altLang="en-US" sz="12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설계했어요</a:t>
            </a:r>
            <a:endParaRPr lang="en-US" altLang="ko-KR" sz="1200" b="1" spc="-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167C9A9-B8CF-D5B1-65E3-4B9CF7E4FBE7}"/>
              </a:ext>
            </a:extLst>
          </p:cNvPr>
          <p:cNvSpPr/>
          <p:nvPr/>
        </p:nvSpPr>
        <p:spPr>
          <a:xfrm>
            <a:off x="4509777" y="4718290"/>
            <a:ext cx="2670072" cy="468000"/>
          </a:xfrm>
          <a:prstGeom prst="roundRect">
            <a:avLst/>
          </a:prstGeom>
          <a:solidFill>
            <a:srgbClr val="228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보험료 확인 후 가입하기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6B51A4-9211-03BA-D1E5-1D605A2633B9}"/>
              </a:ext>
            </a:extLst>
          </p:cNvPr>
          <p:cNvSpPr txBox="1"/>
          <p:nvPr/>
        </p:nvSpPr>
        <p:spPr>
          <a:xfrm>
            <a:off x="4715825" y="2122509"/>
            <a:ext cx="23408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30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대 여성을 위한</a:t>
            </a:r>
            <a:r>
              <a:rPr lang="ko-KR" altLang="en-US" sz="1050" b="1" spc="-100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1050" spc="-100" dirty="0">
                <a:solidFill>
                  <a:srgbClr val="0070C0"/>
                </a:solidFill>
                <a:latin typeface="+mn-ea"/>
              </a:rPr>
              <a:t>AI </a:t>
            </a:r>
            <a:r>
              <a:rPr lang="ko-KR" altLang="en-US" sz="1050" spc="-100" dirty="0">
                <a:solidFill>
                  <a:srgbClr val="0070C0"/>
                </a:solidFill>
                <a:latin typeface="+mn-ea"/>
              </a:rPr>
              <a:t>보험설계</a:t>
            </a:r>
            <a:endParaRPr lang="ko-KR" altLang="en-US" sz="1050" spc="-100" dirty="0">
              <a:latin typeface="+mn-ea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D572A6A-3AEF-BDA1-4490-5EC0D8DD9955}"/>
              </a:ext>
            </a:extLst>
          </p:cNvPr>
          <p:cNvSpPr/>
          <p:nvPr/>
        </p:nvSpPr>
        <p:spPr>
          <a:xfrm>
            <a:off x="4480413" y="3310465"/>
            <a:ext cx="2798293" cy="1278222"/>
          </a:xfrm>
          <a:prstGeom prst="roundRect">
            <a:avLst>
              <a:gd name="adj" fmla="val 6522"/>
            </a:avLst>
          </a:prstGeom>
          <a:solidFill>
            <a:srgbClr val="ECF3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DB4E52-9EAB-8BB9-6034-A4FF5BEB6F17}"/>
              </a:ext>
            </a:extLst>
          </p:cNvPr>
          <p:cNvSpPr txBox="1"/>
          <p:nvPr/>
        </p:nvSpPr>
        <p:spPr>
          <a:xfrm>
            <a:off x="4570323" y="3674068"/>
            <a:ext cx="2695683" cy="812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indent="-8572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암진단시 최대 </a:t>
            </a:r>
            <a:r>
              <a:rPr lang="en-US" altLang="ko-KR" sz="1000" spc="-100" dirty="0">
                <a:solidFill>
                  <a:srgbClr val="2287FF"/>
                </a:solidFill>
                <a:latin typeface="+mn-ea"/>
              </a:rPr>
              <a:t>1000</a:t>
            </a:r>
            <a:r>
              <a:rPr lang="ko-KR" altLang="en-US" sz="1000" spc="-100" dirty="0">
                <a:solidFill>
                  <a:srgbClr val="2287FF"/>
                </a:solidFill>
                <a:latin typeface="+mn-ea"/>
              </a:rPr>
              <a:t>만원</a:t>
            </a:r>
            <a:endParaRPr lang="en-US" altLang="ko-KR" sz="1000" spc="-100" dirty="0">
              <a:solidFill>
                <a:srgbClr val="2287FF"/>
              </a:solidFill>
              <a:latin typeface="+mn-ea"/>
            </a:endParaRPr>
          </a:p>
          <a:p>
            <a:pPr marL="85725" indent="-8572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항암중입자</a:t>
            </a: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000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치료시</a:t>
            </a: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최대 </a:t>
            </a:r>
            <a:r>
              <a:rPr lang="en-US" altLang="ko-KR" sz="1000" spc="-100" dirty="0">
                <a:solidFill>
                  <a:srgbClr val="2287FF"/>
                </a:solidFill>
                <a:latin typeface="+mn-ea"/>
              </a:rPr>
              <a:t>5000</a:t>
            </a:r>
            <a:r>
              <a:rPr lang="ko-KR" altLang="en-US" sz="1000" spc="-100" dirty="0">
                <a:solidFill>
                  <a:srgbClr val="2287FF"/>
                </a:solidFill>
                <a:latin typeface="+mn-ea"/>
              </a:rPr>
              <a:t>만원</a:t>
            </a:r>
            <a:endParaRPr lang="en-US" altLang="ko-KR" sz="1000" spc="-100" dirty="0">
              <a:solidFill>
                <a:srgbClr val="2287FF"/>
              </a:solidFill>
              <a:latin typeface="+mn-ea"/>
            </a:endParaRPr>
          </a:p>
          <a:p>
            <a:pPr marL="85725" indent="-8572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표적약물</a:t>
            </a:r>
            <a:r>
              <a:rPr lang="en-US" altLang="ko-KR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방사선치료 시 </a:t>
            </a:r>
            <a:r>
              <a:rPr lang="ko-KR" altLang="en-US" sz="1000" spc="-100" dirty="0">
                <a:solidFill>
                  <a:srgbClr val="2287FF"/>
                </a:solidFill>
                <a:latin typeface="+mn-ea"/>
              </a:rPr>
              <a:t>최대 </a:t>
            </a:r>
            <a:r>
              <a:rPr lang="en-US" altLang="ko-KR" sz="1000" spc="-100" dirty="0">
                <a:solidFill>
                  <a:srgbClr val="2287FF"/>
                </a:solidFill>
                <a:latin typeface="+mn-ea"/>
              </a:rPr>
              <a:t>5000</a:t>
            </a:r>
            <a:r>
              <a:rPr lang="ko-KR" altLang="en-US" sz="1000" spc="-100" dirty="0">
                <a:solidFill>
                  <a:srgbClr val="2287FF"/>
                </a:solidFill>
                <a:latin typeface="+mn-ea"/>
              </a:rPr>
              <a:t>만원</a:t>
            </a:r>
            <a:endParaRPr lang="en-US" altLang="ko-KR" sz="1000" spc="-100" dirty="0">
              <a:solidFill>
                <a:srgbClr val="2287FF"/>
              </a:solidFill>
              <a:latin typeface="+mn-ea"/>
            </a:endParaRPr>
          </a:p>
          <a:p>
            <a:pPr marL="85725" indent="-8572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뇌혈관 질환 </a:t>
            </a:r>
            <a:r>
              <a:rPr lang="ko-KR" altLang="en-US" sz="1000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진단시</a:t>
            </a:r>
            <a:r>
              <a:rPr lang="ko-KR" altLang="en-US" sz="1000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최대 </a:t>
            </a:r>
            <a:r>
              <a:rPr lang="en-US" altLang="ko-KR" sz="1000" spc="-100" dirty="0">
                <a:solidFill>
                  <a:srgbClr val="2287FF"/>
                </a:solidFill>
                <a:latin typeface="+mn-ea"/>
              </a:rPr>
              <a:t>1000</a:t>
            </a:r>
            <a:r>
              <a:rPr lang="ko-KR" altLang="en-US" sz="1000" spc="-100" dirty="0">
                <a:solidFill>
                  <a:srgbClr val="2287FF"/>
                </a:solidFill>
                <a:latin typeface="+mn-ea"/>
              </a:rPr>
              <a:t>만원</a:t>
            </a:r>
            <a:endParaRPr lang="en-US" altLang="ko-KR" sz="1000" spc="-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525F1B-70E7-A8B2-EE30-F873BEC4B1F4}"/>
              </a:ext>
            </a:extLst>
          </p:cNvPr>
          <p:cNvSpPr txBox="1"/>
          <p:nvPr/>
        </p:nvSpPr>
        <p:spPr>
          <a:xfrm>
            <a:off x="4559934" y="3376367"/>
            <a:ext cx="26390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100" dirty="0">
                <a:latin typeface="+mn-ea"/>
              </a:rPr>
              <a:t>주요 보장을 이렇게 대비 했어요</a:t>
            </a:r>
            <a:endParaRPr lang="en-US" altLang="ko-KR" sz="1200" b="1" spc="-100" dirty="0">
              <a:latin typeface="+mn-ea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E5BE2369-E05B-8E71-D7D9-D8E4BCB94CFC}"/>
              </a:ext>
            </a:extLst>
          </p:cNvPr>
          <p:cNvSpPr/>
          <p:nvPr/>
        </p:nvSpPr>
        <p:spPr>
          <a:xfrm>
            <a:off x="4509777" y="5290305"/>
            <a:ext cx="2670072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ct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설계 항목 조정하기</a:t>
            </a:r>
          </a:p>
        </p:txBody>
      </p:sp>
    </p:spTree>
    <p:extLst>
      <p:ext uri="{BB962C8B-B14F-4D97-AF65-F5344CB8AC3E}">
        <p14:creationId xmlns:p14="http://schemas.microsoft.com/office/powerpoint/2010/main" val="3541691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1241</Words>
  <Application>Microsoft Office PowerPoint</Application>
  <PresentationFormat>와이드스크린</PresentationFormat>
  <Paragraphs>310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30</cp:revision>
  <dcterms:created xsi:type="dcterms:W3CDTF">2026-06-12T06:17:47Z</dcterms:created>
  <dcterms:modified xsi:type="dcterms:W3CDTF">2026-06-17T01:25:36Z</dcterms:modified>
</cp:coreProperties>
</file>