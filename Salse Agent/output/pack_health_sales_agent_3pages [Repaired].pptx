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F43CCAB7-DE9E-48EF-B890-57A3024416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944"/>
            </a:avLst>
          </a:prstGeom>
          <a:solidFill>
            <a:srgbClr val="F6F8FB"/>
          </a:solidFill>
          <a:ln w="0">
            <a:solidFill>
              <a:srgbClr val="F6F8FB"/>
            </a:solidFill>
            <a:prstDash val="solid"/>
          </a:ln>
        </p:spPr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786F1A54-8857-46CF-A520-5AE552A61B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695700" cy="6858000"/>
          </a:xfrm>
          <a:prstGeom prst="roundRect">
            <a:avLst>
              <a:gd name="adj" fmla="val 3608"/>
            </a:avLst>
          </a:prstGeom>
          <a:solidFill>
            <a:srgbClr val="071C3A"/>
          </a:solidFill>
          <a:ln w="0">
            <a:solidFill>
              <a:srgbClr val="071C3A"/>
            </a:solidFill>
            <a:prstDash val="solid"/>
          </a:ln>
        </p:spPr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563A2603-1DD3-4284-9E65-C563A29BC87A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2000250" cy="323850"/>
          </a:xfrm>
          <a:prstGeom prst="roundRect">
            <a:avLst>
              <a:gd name="adj" fmla="val 50000"/>
            </a:avLst>
          </a:prstGeom>
          <a:solidFill>
            <a:srgbClr val="16375F"/>
          </a:solidFill>
          <a:ln w="9525">
            <a:solidFill>
              <a:srgbClr val="2A4E7A"/>
            </a:solidFill>
            <a:prstDash val="solid"/>
          </a:ln>
        </p:spPr>
        <p:txBody>
          <a:bodyPr lIns="76200" tIns="28575" rIns="76200" bIns="28575" anchor="ctr">
            <a:normAutofit/>
          </a:bodyPr>
          <a:lstStyle/>
          <a:p>
            <a:pPr algn="ctr">
              <a:defRPr sz="975" b="1">
                <a:solidFill>
                  <a:srgbClr val="DCEB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DCEBFF"/>
                </a:solidFill>
                <a:latin typeface="Noto Sans KR"/>
                <a:ea typeface="Noto Sans KR"/>
                <a:cs typeface="Noto Sans KR"/>
              </a:rPr>
              <a:t>팩건강보험 가입자수 확대 전략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37AAF37-B73B-4B96-95F3-D331CB5CDB7E}"/>
              </a:ext>
            </a:extLst>
          </p:cNvPr>
          <p:cNvSpPr>
            <a:spLocks noGrp="1"/>
          </p:cNvSpPr>
          <p:nvPr/>
        </p:nvSpPr>
        <p:spPr>
          <a:xfrm>
            <a:off x="590550" y="1295400"/>
            <a:ext cx="2619375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95000"/>
              </a:lnSpc>
              <a:buNone/>
              <a:defRPr sz="3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Sales</a:t>
            </a:r>
          </a:p>
          <a:p>
            <a:pPr algn="l">
              <a:lnSpc>
                <a:spcPct val="95000"/>
              </a:lnSpc>
              <a:buNone/>
              <a:defRPr sz="3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Agent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3752B86-D9B1-419C-8759-AAF8D185BC45}"/>
              </a:ext>
            </a:extLst>
          </p:cNvPr>
          <p:cNvSpPr>
            <a:spLocks noGrp="1"/>
          </p:cNvSpPr>
          <p:nvPr/>
        </p:nvSpPr>
        <p:spPr>
          <a:xfrm>
            <a:off x="609600" y="2724150"/>
            <a:ext cx="2476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4162"/>
          </a:bodyPr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D6E5F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6E5FA"/>
                </a:solidFill>
                <a:latin typeface="Noto Sans KR"/>
                <a:ea typeface="Noto Sans KR"/>
                <a:cs typeface="Noto Sans KR"/>
              </a:rPr>
              <a:t>AI 기술 도입이 아니라,</a:t>
            </a:r>
          </a:p>
          <a:p>
            <a:pPr algn="l">
              <a:lnSpc>
                <a:spcPct val="118000"/>
              </a:lnSpc>
              <a:buNone/>
              <a:defRPr sz="1575" b="0">
                <a:solidFill>
                  <a:srgbClr val="D6E5F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6E5FA"/>
                </a:solidFill>
                <a:latin typeface="Noto Sans KR"/>
                <a:ea typeface="Noto Sans KR"/>
                <a:cs typeface="Noto Sans KR"/>
              </a:rPr>
              <a:t>고객별 니즈에 맞춘 가입 경험의 변화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30738C9-E54C-40BD-9A5A-8DE3908FAB57}"/>
              </a:ext>
            </a:extLst>
          </p:cNvPr>
          <p:cNvSpPr>
            <a:spLocks noGrp="1"/>
          </p:cNvSpPr>
          <p:nvPr/>
        </p:nvSpPr>
        <p:spPr>
          <a:xfrm>
            <a:off x="4171950" y="68580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86054"/>
          </a:bodyPr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탐색부터 청약 완주까지, 고객이 막히는 순간을 Agent가 먼저 줄인다.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B7DE4C3-2AD9-413F-826D-BC406222C38F}"/>
              </a:ext>
            </a:extLst>
          </p:cNvPr>
          <p:cNvSpPr>
            <a:spLocks noGrp="1"/>
          </p:cNvSpPr>
          <p:nvPr/>
        </p:nvSpPr>
        <p:spPr>
          <a:xfrm>
            <a:off x="4171950" y="13525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72464"/>
          </a:bodyPr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1167D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67D8"/>
                </a:solidFill>
                <a:latin typeface="Noto Sans KR"/>
                <a:ea typeface="Noto Sans KR"/>
                <a:cs typeface="Noto Sans KR"/>
              </a:rPr>
              <a:t>핵심 전환 가설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BB0F2F2-CC77-4507-AC06-03B8B6060368}"/>
              </a:ext>
            </a:extLst>
          </p:cNvPr>
          <p:cNvSpPr>
            <a:spLocks noGrp="1"/>
          </p:cNvSpPr>
          <p:nvPr/>
        </p:nvSpPr>
        <p:spPr>
          <a:xfrm>
            <a:off x="4171950" y="1619250"/>
            <a:ext cx="68961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2100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210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고객이 보험을 포기하는 이유는 </a:t>
            </a:r>
            <a:r>
              <a:rPr sz="2100" b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관심 부족</a:t>
            </a:r>
            <a:r>
              <a:rPr sz="210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보다 </a:t>
            </a:r>
            <a:r>
              <a:rPr sz="2100" b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설계 탐색·용어 이해·청약 진행의 마찰</a:t>
            </a:r>
            <a:r>
              <a:rPr sz="210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일 가능성이 크다.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D9958A7-B613-463E-8995-112C7996446C}"/>
              </a:ext>
            </a:extLst>
          </p:cNvPr>
          <p:cNvSpPr>
            <a:spLocks noGrp="1"/>
          </p:cNvSpPr>
          <p:nvPr/>
        </p:nvSpPr>
        <p:spPr>
          <a:xfrm>
            <a:off x="4171950" y="2781300"/>
            <a:ext cx="20764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E0E6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CC8DE25-1E75-45E7-B0EE-4886167AC63F}"/>
              </a:ext>
            </a:extLst>
          </p:cNvPr>
          <p:cNvSpPr>
            <a:spLocks noGrp="1"/>
          </p:cNvSpPr>
          <p:nvPr/>
        </p:nvSpPr>
        <p:spPr>
          <a:xfrm>
            <a:off x="4362450" y="2971800"/>
            <a:ext cx="438150" cy="266700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 w="9525">
            <a:solidFill>
              <a:srgbClr val="DCEBFF"/>
            </a:solidFill>
            <a:prstDash val="solid"/>
          </a:ln>
        </p:spPr>
        <p:txBody>
          <a:bodyPr lIns="76200" tIns="28575" rIns="76200" bIns="28575" anchor="ctr">
            <a:normAutofit fontScale="88456"/>
          </a:bodyPr>
          <a:lstStyle/>
          <a:p>
            <a:pPr algn="ctr">
              <a:defRPr sz="975" b="1">
                <a:solidFill>
                  <a:srgbClr val="1167D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dirty="0">
                <a:solidFill>
                  <a:srgbClr val="1167D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B3EDC00-BC7C-4E24-B4D8-F8AED70A20FF}"/>
              </a:ext>
            </a:extLst>
          </p:cNvPr>
          <p:cNvSpPr>
            <a:spLocks noGrp="1"/>
          </p:cNvSpPr>
          <p:nvPr/>
        </p:nvSpPr>
        <p:spPr>
          <a:xfrm>
            <a:off x="4362450" y="3352800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6890"/>
          </a:bodyPr>
          <a:lstStyle/>
          <a:p>
            <a:pPr algn="l">
              <a:lnSpc>
                <a:spcPct val="115000"/>
              </a:lnSpc>
              <a:buNone/>
              <a:defRPr sz="1950" b="1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탐색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15D7ACD-FD9F-4E37-848D-C7C746AB6393}"/>
              </a:ext>
            </a:extLst>
          </p:cNvPr>
          <p:cNvSpPr>
            <a:spLocks noGrp="1"/>
          </p:cNvSpPr>
          <p:nvPr/>
        </p:nvSpPr>
        <p:spPr>
          <a:xfrm>
            <a:off x="4362450" y="3771900"/>
            <a:ext cx="1619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5708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57084"/>
                </a:solidFill>
                <a:latin typeface="Noto Sans KR"/>
                <a:ea typeface="Noto Sans KR"/>
                <a:cs typeface="Noto Sans KR"/>
              </a:rPr>
              <a:t>나에게 맞는 보장과 보험료가 불명확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A105998-B162-402C-AA41-564AABF53F39}"/>
              </a:ext>
            </a:extLst>
          </p:cNvPr>
          <p:cNvSpPr>
            <a:spLocks noGrp="1"/>
          </p:cNvSpPr>
          <p:nvPr/>
        </p:nvSpPr>
        <p:spPr>
          <a:xfrm>
            <a:off x="6534150" y="2781300"/>
            <a:ext cx="20764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E0E6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CC961FA-1573-43A9-BE42-BBC6C94F2F8A}"/>
              </a:ext>
            </a:extLst>
          </p:cNvPr>
          <p:cNvSpPr>
            <a:spLocks noGrp="1"/>
          </p:cNvSpPr>
          <p:nvPr/>
        </p:nvSpPr>
        <p:spPr>
          <a:xfrm>
            <a:off x="6724650" y="2971800"/>
            <a:ext cx="438150" cy="266700"/>
          </a:xfrm>
          <a:prstGeom prst="roundRect">
            <a:avLst>
              <a:gd name="adj" fmla="val 50000"/>
            </a:avLst>
          </a:prstGeom>
          <a:solidFill>
            <a:srgbClr val="DDF7F2"/>
          </a:solidFill>
          <a:ln w="9525">
            <a:solidFill>
              <a:srgbClr val="DDF7F2"/>
            </a:solidFill>
            <a:prstDash val="solid"/>
          </a:ln>
        </p:spPr>
        <p:txBody>
          <a:bodyPr lIns="76200" tIns="28575" rIns="76200" bIns="28575" anchor="ctr">
            <a:normAutofit fontScale="88456"/>
          </a:bodyPr>
          <a:lstStyle/>
          <a:p>
            <a:pPr algn="ctr">
              <a:defRPr sz="975" b="1">
                <a:solidFill>
                  <a:srgbClr val="00A88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0A88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FE99753-DCD4-4410-9644-357BF08B7254}"/>
              </a:ext>
            </a:extLst>
          </p:cNvPr>
          <p:cNvSpPr>
            <a:spLocks noGrp="1"/>
          </p:cNvSpPr>
          <p:nvPr/>
        </p:nvSpPr>
        <p:spPr>
          <a:xfrm>
            <a:off x="6724650" y="3352800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6890"/>
          </a:bodyPr>
          <a:lstStyle/>
          <a:p>
            <a:pPr algn="l">
              <a:lnSpc>
                <a:spcPct val="115000"/>
              </a:lnSpc>
              <a:buNone/>
              <a:defRPr sz="1950" b="1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판단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F747A4F-722C-4977-98C2-CF4AE02E6DB3}"/>
              </a:ext>
            </a:extLst>
          </p:cNvPr>
          <p:cNvSpPr>
            <a:spLocks noGrp="1"/>
          </p:cNvSpPr>
          <p:nvPr/>
        </p:nvSpPr>
        <p:spPr>
          <a:xfrm>
            <a:off x="6724650" y="3771900"/>
            <a:ext cx="1619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5708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57084"/>
                </a:solidFill>
                <a:latin typeface="Noto Sans KR"/>
                <a:ea typeface="Noto Sans KR"/>
                <a:cs typeface="Noto Sans KR"/>
              </a:rPr>
              <a:t>보장항목·보험용어가 어려워 확신 부족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ABCBE47-2654-4D91-B3CB-6FABDFD1CDAA}"/>
              </a:ext>
            </a:extLst>
          </p:cNvPr>
          <p:cNvSpPr>
            <a:spLocks noGrp="1"/>
          </p:cNvSpPr>
          <p:nvPr/>
        </p:nvSpPr>
        <p:spPr>
          <a:xfrm>
            <a:off x="8896350" y="2781300"/>
            <a:ext cx="20764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E0E6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653D811-E84B-4A51-803C-F635D84518F7}"/>
              </a:ext>
            </a:extLst>
          </p:cNvPr>
          <p:cNvSpPr>
            <a:spLocks noGrp="1"/>
          </p:cNvSpPr>
          <p:nvPr/>
        </p:nvSpPr>
        <p:spPr>
          <a:xfrm>
            <a:off x="9086850" y="2971800"/>
            <a:ext cx="438150" cy="266700"/>
          </a:xfrm>
          <a:prstGeom prst="roundRect">
            <a:avLst>
              <a:gd name="adj" fmla="val 50000"/>
            </a:avLst>
          </a:prstGeom>
          <a:solidFill>
            <a:srgbClr val="FFF1CF"/>
          </a:solidFill>
          <a:ln w="9525">
            <a:solidFill>
              <a:srgbClr val="FFF1CF"/>
            </a:solidFill>
            <a:prstDash val="solid"/>
          </a:ln>
        </p:spPr>
        <p:txBody>
          <a:bodyPr lIns="76200" tIns="28575" rIns="76200" bIns="28575" anchor="ctr">
            <a:normAutofit fontScale="88456"/>
          </a:bodyPr>
          <a:lstStyle/>
          <a:p>
            <a:pPr algn="ctr">
              <a:defRPr sz="975" b="1">
                <a:solidFill>
                  <a:srgbClr val="A86E00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A86E00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D8D7A7D-C154-4070-A45A-9CE1CC5A9E79}"/>
              </a:ext>
            </a:extLst>
          </p:cNvPr>
          <p:cNvSpPr>
            <a:spLocks noGrp="1"/>
          </p:cNvSpPr>
          <p:nvPr/>
        </p:nvSpPr>
        <p:spPr>
          <a:xfrm>
            <a:off x="9086850" y="3352800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6890"/>
          </a:bodyPr>
          <a:lstStyle/>
          <a:p>
            <a:pPr algn="l">
              <a:lnSpc>
                <a:spcPct val="115000"/>
              </a:lnSpc>
              <a:buNone/>
              <a:defRPr sz="1950" b="1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청약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4ADD9C4-9CBB-446D-A123-B2CB46E017C4}"/>
              </a:ext>
            </a:extLst>
          </p:cNvPr>
          <p:cNvSpPr>
            <a:spLocks noGrp="1"/>
          </p:cNvSpPr>
          <p:nvPr/>
        </p:nvSpPr>
        <p:spPr>
          <a:xfrm>
            <a:off x="9086850" y="3771900"/>
            <a:ext cx="1619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88809"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5708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57084"/>
                </a:solidFill>
                <a:latin typeface="Noto Sans KR"/>
                <a:ea typeface="Noto Sans KR"/>
                <a:cs typeface="Noto Sans KR"/>
              </a:rPr>
              <a:t>입력·동의·인증 단계에서 피로와 이탈 발생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3AE6A686-A275-4340-857A-E620631ED515}"/>
              </a:ext>
            </a:extLst>
          </p:cNvPr>
          <p:cNvSpPr>
            <a:spLocks noGrp="1"/>
          </p:cNvSpPr>
          <p:nvPr/>
        </p:nvSpPr>
        <p:spPr>
          <a:xfrm>
            <a:off x="4171950" y="4857750"/>
            <a:ext cx="6877050" cy="838200"/>
          </a:xfrm>
          <a:prstGeom prst="roundRect">
            <a:avLst>
              <a:gd name="adj" fmla="val 15909"/>
            </a:avLst>
          </a:prstGeom>
          <a:solidFill>
            <a:srgbClr val="EDF5FF"/>
          </a:solidFill>
          <a:ln w="9525">
            <a:solidFill>
              <a:srgbClr val="CFE2FF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D82481E-FAD4-45E0-AFC5-CA3E498BFDAE}"/>
              </a:ext>
            </a:extLst>
          </p:cNvPr>
          <p:cNvSpPr>
            <a:spLocks noGrp="1"/>
          </p:cNvSpPr>
          <p:nvPr/>
        </p:nvSpPr>
        <p:spPr>
          <a:xfrm>
            <a:off x="4438650" y="4991100"/>
            <a:ext cx="6267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82847"/>
          </a:bodyPr>
          <a:lstStyle/>
          <a:p>
            <a:pPr algn="l">
              <a:lnSpc>
                <a:spcPct val="122000"/>
              </a:lnSpc>
              <a:buNone/>
              <a:defRPr sz="1350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dirty="0" err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추천</a:t>
            </a:r>
            <a:r>
              <a:rPr sz="1350" b="1" dirty="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1" dirty="0" err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방향</a:t>
            </a:r>
            <a:r>
              <a:rPr sz="1350" b="1" dirty="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: </a:t>
            </a:r>
            <a:r>
              <a:rPr sz="1350" dirty="0" err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하나의</a:t>
            </a:r>
            <a:r>
              <a:rPr sz="1350" dirty="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dirty="0" err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만능</a:t>
            </a:r>
            <a:r>
              <a:rPr sz="1350" dirty="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dirty="0" err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챗봇이</a:t>
            </a:r>
            <a:r>
              <a:rPr sz="1350" dirty="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dirty="0" err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아니라</a:t>
            </a:r>
            <a:r>
              <a:rPr sz="1350" dirty="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350" dirty="0" err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전환</a:t>
            </a:r>
            <a:r>
              <a:rPr sz="1350" dirty="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dirty="0" err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여정의</a:t>
            </a:r>
            <a:r>
              <a:rPr sz="1350" dirty="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dirty="0" err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마찰</a:t>
            </a:r>
            <a:r>
              <a:rPr sz="1350" dirty="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dirty="0" err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지점별로</a:t>
            </a:r>
            <a:r>
              <a:rPr sz="1350" dirty="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dirty="0" err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역할이</a:t>
            </a:r>
            <a:r>
              <a:rPr sz="1350" dirty="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dirty="0" err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분리된</a:t>
            </a:r>
            <a:r>
              <a:rPr sz="1350" dirty="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 3단계 </a:t>
            </a:r>
            <a:r>
              <a:rPr sz="1350" dirty="0" err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Agent로</a:t>
            </a:r>
            <a:r>
              <a:rPr sz="1350" dirty="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dirty="0" err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설계</a:t>
            </a:r>
            <a:endParaRPr sz="1350" dirty="0">
              <a:solidFill>
                <a:srgbClr val="162033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22000"/>
              </a:lnSpc>
              <a:buNone/>
              <a:defRPr sz="1350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dirty="0" err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기대효과</a:t>
            </a:r>
            <a:r>
              <a:rPr sz="1350" b="1" dirty="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: </a:t>
            </a:r>
            <a:r>
              <a:rPr sz="1350" dirty="0" err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보험료</a:t>
            </a:r>
            <a:r>
              <a:rPr sz="1350" dirty="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dirty="0" err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확인</a:t>
            </a:r>
            <a:r>
              <a:rPr sz="1350" dirty="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dirty="0" err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완료율</a:t>
            </a:r>
            <a:r>
              <a:rPr sz="1350" dirty="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350" dirty="0" err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가입</a:t>
            </a:r>
            <a:r>
              <a:rPr sz="1350" dirty="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dirty="0" err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시작률</a:t>
            </a:r>
            <a:r>
              <a:rPr sz="1350" dirty="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350" dirty="0" err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청약</a:t>
            </a:r>
            <a:r>
              <a:rPr sz="1350" dirty="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dirty="0" err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완료율을</a:t>
            </a:r>
            <a:r>
              <a:rPr sz="1350" dirty="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dirty="0" err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단계별로</a:t>
            </a:r>
            <a:r>
              <a:rPr sz="1350" dirty="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dirty="0" err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끌어올리는</a:t>
            </a:r>
            <a:r>
              <a:rPr sz="1350" dirty="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dirty="0" err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구조</a:t>
            </a:r>
            <a:endParaRPr sz="1350" dirty="0">
              <a:solidFill>
                <a:srgbClr val="16203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0D9B2E8-C1C5-42AA-928E-41858634974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695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2227"/>
          </a:bodyPr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7A8494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A8494"/>
                </a:solidFill>
                <a:latin typeface="Noto Sans KR"/>
                <a:ea typeface="Noto Sans KR"/>
                <a:cs typeface="Noto Sans KR"/>
              </a:rPr>
              <a:t>보고용 컨셉안 | 팩건강보험 가입자수 확대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F1A1882-D459-4AF1-A764-4DE5D2E29C57}"/>
              </a:ext>
            </a:extLst>
          </p:cNvPr>
          <p:cNvSpPr>
            <a:spLocks noGrp="1"/>
          </p:cNvSpPr>
          <p:nvPr/>
        </p:nvSpPr>
        <p:spPr>
          <a:xfrm>
            <a:off x="11087100" y="630555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6618"/>
          </a:bodyPr>
          <a:lstStyle/>
          <a:p>
            <a:pPr algn="r">
              <a:lnSpc>
                <a:spcPct val="115000"/>
              </a:lnSpc>
              <a:buNone/>
              <a:defRPr sz="1350" b="1">
                <a:solidFill>
                  <a:srgbClr val="A1A9B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A1A9B7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24075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직사각형 44">
            <a:extLst>
              <a:ext uri="{FF2B5EF4-FFF2-40B4-BE49-F238E27FC236}">
                <a16:creationId xmlns:a16="http://schemas.microsoft.com/office/drawing/2014/main" id="{1D186ED2-703D-4066-9C23-BF7893355F03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495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72464"/>
          </a:bodyPr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Sales Agent 서비스 구성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DF08C44-8DA3-4B51-81D8-46C1D56E8C02}"/>
              </a:ext>
            </a:extLst>
          </p:cNvPr>
          <p:cNvSpPr>
            <a:spLocks noGrp="1"/>
          </p:cNvSpPr>
          <p:nvPr/>
        </p:nvSpPr>
        <p:spPr>
          <a:xfrm>
            <a:off x="609600" y="1009650"/>
            <a:ext cx="609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88567"/>
          </a:bodyPr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65708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57084"/>
                </a:solidFill>
                <a:latin typeface="Noto Sans KR"/>
                <a:ea typeface="Noto Sans KR"/>
                <a:cs typeface="Noto Sans KR"/>
              </a:rPr>
              <a:t>3개 Agent가 고객의 가입 여정에서 각각 다른 ‘막힘’을 줄인다.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F3A3857E-6135-4987-9F8F-1000164357AA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3276600" cy="3714750"/>
          </a:xfrm>
          <a:prstGeom prst="roundRect">
            <a:avLst>
              <a:gd name="adj" fmla="val 4651"/>
            </a:avLst>
          </a:prstGeom>
          <a:solidFill>
            <a:srgbClr val="F1F7FF"/>
          </a:solidFill>
          <a:ln w="9525">
            <a:solidFill>
              <a:srgbClr val="DCE3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B9AC9F85-9DB3-45C4-9E8E-70A197BB445F}"/>
              </a:ext>
            </a:extLst>
          </p:cNvPr>
          <p:cNvSpPr>
            <a:spLocks noGrp="1"/>
          </p:cNvSpPr>
          <p:nvPr/>
        </p:nvSpPr>
        <p:spPr>
          <a:xfrm>
            <a:off x="876300" y="1962150"/>
            <a:ext cx="666750" cy="6667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4EAF2"/>
            </a:solidFill>
            <a:prstDash val="solid"/>
          </a:ln>
        </p:spPr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711B6D7C-FF67-4D6F-BA8F-B1AC0859E9E7}"/>
              </a:ext>
            </a:extLst>
          </p:cNvPr>
          <p:cNvSpPr>
            <a:spLocks noGrp="1"/>
          </p:cNvSpPr>
          <p:nvPr/>
        </p:nvSpPr>
        <p:spPr>
          <a:xfrm>
            <a:off x="1019175" y="2105025"/>
            <a:ext cx="381000" cy="381000"/>
          </a:xfrm>
          <a:prstGeom prst="ellipse">
            <a:avLst/>
          </a:prstGeom>
          <a:noFill/>
          <a:ln w="28575">
            <a:solidFill>
              <a:srgbClr val="1167D8"/>
            </a:solidFill>
            <a:prstDash val="solid"/>
          </a:ln>
        </p:spPr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A27B0CF2-4A32-47F8-BE20-440F39C833BB}"/>
              </a:ext>
            </a:extLst>
          </p:cNvPr>
          <p:cNvSpPr>
            <a:spLocks noGrp="1"/>
          </p:cNvSpPr>
          <p:nvPr/>
        </p:nvSpPr>
        <p:spPr>
          <a:xfrm>
            <a:off x="1123950" y="2209800"/>
            <a:ext cx="171450" cy="171450"/>
          </a:xfrm>
          <a:prstGeom prst="ellipse">
            <a:avLst/>
          </a:prstGeom>
          <a:solidFill>
            <a:srgbClr val="1167D8"/>
          </a:solidFill>
          <a:ln w="9525">
            <a:solidFill>
              <a:srgbClr val="1167D8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7FC54BF-50C8-472B-91B5-663B07505A07}"/>
              </a:ext>
            </a:extLst>
          </p:cNvPr>
          <p:cNvSpPr>
            <a:spLocks noGrp="1"/>
          </p:cNvSpPr>
          <p:nvPr/>
        </p:nvSpPr>
        <p:spPr>
          <a:xfrm>
            <a:off x="2724150" y="2038350"/>
            <a:ext cx="8382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  <p:txBody>
          <a:bodyPr lIns="76200" tIns="28575" rIns="76200" bIns="28575" anchor="ctr">
            <a:normAutofit fontScale="88456"/>
          </a:bodyPr>
          <a:lstStyle/>
          <a:p>
            <a:pPr algn="ctr">
              <a:defRPr sz="975" b="1">
                <a:solidFill>
                  <a:srgbClr val="1167D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167D8"/>
                </a:solidFill>
                <a:latin typeface="Noto Sans KR"/>
                <a:ea typeface="Noto Sans KR"/>
                <a:cs typeface="Noto Sans KR"/>
              </a:rPr>
              <a:t>탐색 단축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5E0CE1D-4AB2-44AE-9E72-6B719903635F}"/>
              </a:ext>
            </a:extLst>
          </p:cNvPr>
          <p:cNvSpPr>
            <a:spLocks noGrp="1"/>
          </p:cNvSpPr>
          <p:nvPr/>
        </p:nvSpPr>
        <p:spPr>
          <a:xfrm>
            <a:off x="876300" y="2876550"/>
            <a:ext cx="2743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89186"/>
          </a:bodyPr>
          <a:lstStyle/>
          <a:p>
            <a:pPr algn="l">
              <a:lnSpc>
                <a:spcPct val="115000"/>
              </a:lnSpc>
              <a:buNone/>
              <a:defRPr sz="1950" b="1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맞춤설계 Agent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185C73-B4BB-454B-8D69-FB4F66F2BD7A}"/>
              </a:ext>
            </a:extLst>
          </p:cNvPr>
          <p:cNvSpPr>
            <a:spLocks noGrp="1"/>
          </p:cNvSpPr>
          <p:nvPr/>
        </p:nvSpPr>
        <p:spPr>
          <a:xfrm>
            <a:off x="876300" y="3467100"/>
            <a:ext cx="87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72464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1167D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167D8"/>
                </a:solidFill>
                <a:latin typeface="Noto Sans KR"/>
                <a:ea typeface="Noto Sans KR"/>
                <a:cs typeface="Noto Sans KR"/>
              </a:rPr>
              <a:t>고객 입력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6362FFF-3AD3-4627-8E9A-B0616A1C79B6}"/>
              </a:ext>
            </a:extLst>
          </p:cNvPr>
          <p:cNvSpPr>
            <a:spLocks noGrp="1"/>
          </p:cNvSpPr>
          <p:nvPr/>
        </p:nvSpPr>
        <p:spPr>
          <a:xfrm>
            <a:off x="876300" y="3695700"/>
            <a:ext cx="2724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나이·성별·월보험료·집중 보장 니즈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33A6014-8C84-4910-90A2-ABB8A686F61C}"/>
              </a:ext>
            </a:extLst>
          </p:cNvPr>
          <p:cNvSpPr>
            <a:spLocks noGrp="1"/>
          </p:cNvSpPr>
          <p:nvPr/>
        </p:nvSpPr>
        <p:spPr>
          <a:xfrm>
            <a:off x="876300" y="426720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72464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1167D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167D8"/>
                </a:solidFill>
                <a:latin typeface="Noto Sans KR"/>
                <a:ea typeface="Noto Sans KR"/>
                <a:cs typeface="Noto Sans KR"/>
              </a:rPr>
              <a:t>Agent 개입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B9E631B-C65E-4F39-8620-20D66D8CDE78}"/>
              </a:ext>
            </a:extLst>
          </p:cNvPr>
          <p:cNvSpPr>
            <a:spLocks noGrp="1"/>
          </p:cNvSpPr>
          <p:nvPr/>
        </p:nvSpPr>
        <p:spPr>
          <a:xfrm>
            <a:off x="876300" y="4495800"/>
            <a:ext cx="2743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추천 설계안 3개 제시</a:t>
            </a:r>
          </a:p>
          <a:p>
            <a:pPr algn="l">
              <a:lnSpc>
                <a:spcPct val="116000"/>
              </a:lnSpc>
              <a:buNone/>
              <a:defRPr sz="1275" b="0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셀프계산 단계 부담 축소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F915B61-F5C9-4F26-A9CD-4B0E3A1F1E35}"/>
              </a:ext>
            </a:extLst>
          </p:cNvPr>
          <p:cNvSpPr>
            <a:spLocks noGrp="1"/>
          </p:cNvSpPr>
          <p:nvPr/>
        </p:nvSpPr>
        <p:spPr>
          <a:xfrm>
            <a:off x="876300" y="5219700"/>
            <a:ext cx="2743200" cy="51435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9525">
            <a:solidFill>
              <a:srgbClr val="E2E8F2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4282BDD-6376-4DB8-A100-EFAAFB161CBE}"/>
              </a:ext>
            </a:extLst>
          </p:cNvPr>
          <p:cNvSpPr>
            <a:spLocks noGrp="1"/>
          </p:cNvSpPr>
          <p:nvPr/>
        </p:nvSpPr>
        <p:spPr>
          <a:xfrm>
            <a:off x="1028700" y="5314950"/>
            <a:ext cx="2438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1167D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167D8"/>
                </a:solidFill>
                <a:latin typeface="Noto Sans KR"/>
                <a:ea typeface="Noto Sans KR"/>
                <a:cs typeface="Noto Sans KR"/>
              </a:rPr>
              <a:t>보험료 확인까지의 진입 장벽 감소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3CD4449-2BA3-46B8-BF5B-EFFD93507A09}"/>
              </a:ext>
            </a:extLst>
          </p:cNvPr>
          <p:cNvSpPr>
            <a:spLocks noGrp="1"/>
          </p:cNvSpPr>
          <p:nvPr/>
        </p:nvSpPr>
        <p:spPr>
          <a:xfrm>
            <a:off x="4343400" y="1657350"/>
            <a:ext cx="3276600" cy="3714750"/>
          </a:xfrm>
          <a:prstGeom prst="roundRect">
            <a:avLst>
              <a:gd name="adj" fmla="val 4651"/>
            </a:avLst>
          </a:prstGeom>
          <a:solidFill>
            <a:srgbClr val="EFFBF8"/>
          </a:solidFill>
          <a:ln w="9525">
            <a:solidFill>
              <a:srgbClr val="DCE3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2FCFC7C2-4E84-4767-A4F7-380FAD4E64FC}"/>
              </a:ext>
            </a:extLst>
          </p:cNvPr>
          <p:cNvSpPr>
            <a:spLocks noGrp="1"/>
          </p:cNvSpPr>
          <p:nvPr/>
        </p:nvSpPr>
        <p:spPr>
          <a:xfrm>
            <a:off x="4610100" y="1962150"/>
            <a:ext cx="666750" cy="6667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4EAF2"/>
            </a:solidFill>
            <a:prstDash val="solid"/>
          </a:ln>
        </p:spPr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F73CF65-4719-43C9-AA20-967E279AF952}"/>
              </a:ext>
            </a:extLst>
          </p:cNvPr>
          <p:cNvSpPr>
            <a:spLocks noGrp="1"/>
          </p:cNvSpPr>
          <p:nvPr/>
        </p:nvSpPr>
        <p:spPr>
          <a:xfrm>
            <a:off x="4733925" y="2143125"/>
            <a:ext cx="419100" cy="304800"/>
          </a:xfrm>
          <a:prstGeom prst="roundRect">
            <a:avLst>
              <a:gd name="adj" fmla="val 25000"/>
            </a:avLst>
          </a:prstGeom>
          <a:noFill/>
          <a:ln w="28575">
            <a:solidFill>
              <a:srgbClr val="00A88F"/>
            </a:solidFill>
            <a:prstDash val="solid"/>
          </a:ln>
        </p:spPr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3D2291BA-C0B2-4DEE-A7ED-8353FD50697A}"/>
              </a:ext>
            </a:extLst>
          </p:cNvPr>
          <p:cNvSpPr>
            <a:spLocks noGrp="1"/>
          </p:cNvSpPr>
          <p:nvPr/>
        </p:nvSpPr>
        <p:spPr>
          <a:xfrm>
            <a:off x="4829175" y="2276475"/>
            <a:ext cx="228600" cy="0"/>
          </a:xfrm>
          <a:prstGeom prst="line">
            <a:avLst/>
          </a:prstGeom>
          <a:noFill/>
          <a:ln w="28575">
            <a:solidFill>
              <a:srgbClr val="00A88F"/>
            </a:solidFill>
            <a:prstDash val="solid"/>
          </a:ln>
        </p:spPr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2F7489DF-0183-4308-93A0-C0AC507736DC}"/>
              </a:ext>
            </a:extLst>
          </p:cNvPr>
          <p:cNvSpPr>
            <a:spLocks noGrp="1"/>
          </p:cNvSpPr>
          <p:nvPr/>
        </p:nvSpPr>
        <p:spPr>
          <a:xfrm>
            <a:off x="4829175" y="2381250"/>
            <a:ext cx="152400" cy="0"/>
          </a:xfrm>
          <a:prstGeom prst="line">
            <a:avLst/>
          </a:prstGeom>
          <a:noFill/>
          <a:ln w="28575">
            <a:solidFill>
              <a:srgbClr val="00A88F"/>
            </a:solidFill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6810C60-4A28-478E-8136-BEBF1E0351F1}"/>
              </a:ext>
            </a:extLst>
          </p:cNvPr>
          <p:cNvSpPr>
            <a:spLocks noGrp="1"/>
          </p:cNvSpPr>
          <p:nvPr/>
        </p:nvSpPr>
        <p:spPr>
          <a:xfrm>
            <a:off x="6457950" y="2038350"/>
            <a:ext cx="8382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  <p:txBody>
          <a:bodyPr lIns="76200" tIns="28575" rIns="76200" bIns="28575" anchor="ctr">
            <a:normAutofit fontScale="88456"/>
          </a:bodyPr>
          <a:lstStyle/>
          <a:p>
            <a:pPr algn="ctr">
              <a:defRPr sz="975" b="1">
                <a:solidFill>
                  <a:srgbClr val="00A88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0A88F"/>
                </a:solidFill>
                <a:latin typeface="Noto Sans KR"/>
                <a:ea typeface="Noto Sans KR"/>
                <a:cs typeface="Noto Sans KR"/>
              </a:rPr>
              <a:t>판단 확신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8CDCCFD-6F6E-4182-AA09-B0D3800407F0}"/>
              </a:ext>
            </a:extLst>
          </p:cNvPr>
          <p:cNvSpPr>
            <a:spLocks noGrp="1"/>
          </p:cNvSpPr>
          <p:nvPr/>
        </p:nvSpPr>
        <p:spPr>
          <a:xfrm>
            <a:off x="4610100" y="2876550"/>
            <a:ext cx="2743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89186"/>
          </a:bodyPr>
          <a:lstStyle/>
          <a:p>
            <a:pPr algn="l">
              <a:lnSpc>
                <a:spcPct val="115000"/>
              </a:lnSpc>
              <a:buNone/>
              <a:defRPr sz="1950" b="1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설계이해 Agent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4AB0674-7F0E-4501-ACC2-6148DEEDC260}"/>
              </a:ext>
            </a:extLst>
          </p:cNvPr>
          <p:cNvSpPr>
            <a:spLocks noGrp="1"/>
          </p:cNvSpPr>
          <p:nvPr/>
        </p:nvSpPr>
        <p:spPr>
          <a:xfrm>
            <a:off x="4610100" y="3467100"/>
            <a:ext cx="87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72464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00A88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0A88F"/>
                </a:solidFill>
                <a:latin typeface="Noto Sans KR"/>
                <a:ea typeface="Noto Sans KR"/>
                <a:cs typeface="Noto Sans KR"/>
              </a:rPr>
              <a:t>고객 입력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7340084-402A-4C8A-AED1-FCDAA48CBD02}"/>
              </a:ext>
            </a:extLst>
          </p:cNvPr>
          <p:cNvSpPr>
            <a:spLocks noGrp="1"/>
          </p:cNvSpPr>
          <p:nvPr/>
        </p:nvSpPr>
        <p:spPr>
          <a:xfrm>
            <a:off x="4610100" y="3695700"/>
            <a:ext cx="2724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보험용어·보장항목·조절 이유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EF88D5D-DCF4-4B89-9FC7-B03CBB074283}"/>
              </a:ext>
            </a:extLst>
          </p:cNvPr>
          <p:cNvSpPr>
            <a:spLocks noGrp="1"/>
          </p:cNvSpPr>
          <p:nvPr/>
        </p:nvSpPr>
        <p:spPr>
          <a:xfrm>
            <a:off x="4610100" y="426720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72464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00A88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0A88F"/>
                </a:solidFill>
                <a:latin typeface="Noto Sans KR"/>
                <a:ea typeface="Noto Sans KR"/>
                <a:cs typeface="Noto Sans KR"/>
              </a:rPr>
              <a:t>Agent 개입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16B5671-D0CA-410C-80B1-7EE55D2D2923}"/>
              </a:ext>
            </a:extLst>
          </p:cNvPr>
          <p:cNvSpPr>
            <a:spLocks noGrp="1"/>
          </p:cNvSpPr>
          <p:nvPr/>
        </p:nvSpPr>
        <p:spPr>
          <a:xfrm>
            <a:off x="4610100" y="4495800"/>
            <a:ext cx="2743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친근한 표현으로 의미 설명</a:t>
            </a:r>
          </a:p>
          <a:p>
            <a:pPr algn="l">
              <a:lnSpc>
                <a:spcPct val="116000"/>
              </a:lnSpc>
              <a:buNone/>
              <a:defRPr sz="1275" b="0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고객이 직접 조정할 근거 제공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3620B743-3424-4488-9C18-5DD5DBC7BEF4}"/>
              </a:ext>
            </a:extLst>
          </p:cNvPr>
          <p:cNvSpPr>
            <a:spLocks noGrp="1"/>
          </p:cNvSpPr>
          <p:nvPr/>
        </p:nvSpPr>
        <p:spPr>
          <a:xfrm>
            <a:off x="4610100" y="5219700"/>
            <a:ext cx="2743200" cy="51435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9525">
            <a:solidFill>
              <a:srgbClr val="E2E8F2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DD0543E-03F7-42CF-826B-B2ABFBDDDFE7}"/>
              </a:ext>
            </a:extLst>
          </p:cNvPr>
          <p:cNvSpPr>
            <a:spLocks noGrp="1"/>
          </p:cNvSpPr>
          <p:nvPr/>
        </p:nvSpPr>
        <p:spPr>
          <a:xfrm>
            <a:off x="4762500" y="5314950"/>
            <a:ext cx="2438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0A88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A88F"/>
                </a:solidFill>
                <a:latin typeface="Noto Sans KR"/>
                <a:ea typeface="Noto Sans KR"/>
                <a:cs typeface="Noto Sans KR"/>
              </a:rPr>
              <a:t>가입 여부의 최종 판단 신뢰 강화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25A5F176-5B20-44BC-80CF-6BF31C85C2DB}"/>
              </a:ext>
            </a:extLst>
          </p:cNvPr>
          <p:cNvSpPr>
            <a:spLocks noGrp="1"/>
          </p:cNvSpPr>
          <p:nvPr/>
        </p:nvSpPr>
        <p:spPr>
          <a:xfrm>
            <a:off x="8077200" y="1657350"/>
            <a:ext cx="3276600" cy="3714750"/>
          </a:xfrm>
          <a:prstGeom prst="roundRect">
            <a:avLst>
              <a:gd name="adj" fmla="val 4651"/>
            </a:avLst>
          </a:prstGeom>
          <a:solidFill>
            <a:srgbClr val="FFF8E8"/>
          </a:solidFill>
          <a:ln w="9525">
            <a:solidFill>
              <a:srgbClr val="DCE3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5AD4899D-89BC-458F-8AF9-1AB5F28CDB3B}"/>
              </a:ext>
            </a:extLst>
          </p:cNvPr>
          <p:cNvSpPr>
            <a:spLocks noGrp="1"/>
          </p:cNvSpPr>
          <p:nvPr/>
        </p:nvSpPr>
        <p:spPr>
          <a:xfrm>
            <a:off x="8343900" y="1962150"/>
            <a:ext cx="666750" cy="6667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4EAF2"/>
            </a:solidFill>
            <a:prstDash val="solid"/>
          </a:ln>
        </p:spPr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21A90B69-A4C3-4D40-A1C1-988B0E5402BA}"/>
              </a:ext>
            </a:extLst>
          </p:cNvPr>
          <p:cNvSpPr>
            <a:spLocks noGrp="1"/>
          </p:cNvSpPr>
          <p:nvPr/>
        </p:nvSpPr>
        <p:spPr>
          <a:xfrm>
            <a:off x="8534400" y="2190750"/>
            <a:ext cx="285750" cy="228600"/>
          </a:xfrm>
          <a:prstGeom prst="roundRect">
            <a:avLst>
              <a:gd name="adj" fmla="val 12500"/>
            </a:avLst>
          </a:prstGeom>
          <a:noFill/>
          <a:ln w="28575">
            <a:solidFill>
              <a:srgbClr val="F2B84B"/>
            </a:solidFill>
            <a:prstDash val="solid"/>
          </a:ln>
        </p:spPr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E2701BA6-6BD4-432F-B7FC-D06E8BA696EA}"/>
              </a:ext>
            </a:extLst>
          </p:cNvPr>
          <p:cNvSpPr>
            <a:spLocks noGrp="1"/>
          </p:cNvSpPr>
          <p:nvPr/>
        </p:nvSpPr>
        <p:spPr>
          <a:xfrm>
            <a:off x="8601075" y="2314575"/>
            <a:ext cx="66675" cy="76200"/>
          </a:xfrm>
          <a:prstGeom prst="line">
            <a:avLst/>
          </a:prstGeom>
          <a:noFill/>
          <a:ln w="28575">
            <a:solidFill>
              <a:srgbClr val="F2B84B"/>
            </a:solidFill>
            <a:prstDash val="solid"/>
          </a:ln>
        </p:spPr>
      </p:sp>
      <p:sp>
        <p:nvSpPr>
          <p:cNvPr id="32" name="직선 연결선 31">
            <a:extLst>
              <a:ext uri="{FF2B5EF4-FFF2-40B4-BE49-F238E27FC236}">
                <a16:creationId xmlns:a16="http://schemas.microsoft.com/office/drawing/2014/main" id="{6F38F490-8F51-4089-952B-08BBD37B2CA5}"/>
              </a:ext>
            </a:extLst>
          </p:cNvPr>
          <p:cNvSpPr>
            <a:spLocks noGrp="1"/>
          </p:cNvSpPr>
          <p:nvPr/>
        </p:nvSpPr>
        <p:spPr>
          <a:xfrm>
            <a:off x="8667750" y="2390775"/>
            <a:ext cx="133350" cy="0"/>
          </a:xfrm>
          <a:prstGeom prst="line">
            <a:avLst/>
          </a:prstGeom>
          <a:noFill/>
          <a:ln w="28575">
            <a:solidFill>
              <a:srgbClr val="F2B84B"/>
            </a:solidFill>
            <a:prstDash val="solid"/>
          </a:ln>
        </p:spPr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904BE1B6-1C2B-4014-AFFD-4BCC8071F5EB}"/>
              </a:ext>
            </a:extLst>
          </p:cNvPr>
          <p:cNvSpPr>
            <a:spLocks noGrp="1"/>
          </p:cNvSpPr>
          <p:nvPr/>
        </p:nvSpPr>
        <p:spPr>
          <a:xfrm>
            <a:off x="10191750" y="2038350"/>
            <a:ext cx="8382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  <p:txBody>
          <a:bodyPr lIns="76200" tIns="28575" rIns="76200" bIns="28575" anchor="ctr">
            <a:normAutofit fontScale="88456"/>
          </a:bodyPr>
          <a:lstStyle/>
          <a:p>
            <a:pPr algn="ctr">
              <a:defRPr sz="975" b="1">
                <a:solidFill>
                  <a:srgbClr val="F2B84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2B84B"/>
                </a:solidFill>
                <a:latin typeface="Noto Sans KR"/>
                <a:ea typeface="Noto Sans KR"/>
                <a:cs typeface="Noto Sans KR"/>
              </a:rPr>
              <a:t>완주 회복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B1D766C-C7C6-4598-8026-91AA0E46AEBF}"/>
              </a:ext>
            </a:extLst>
          </p:cNvPr>
          <p:cNvSpPr>
            <a:spLocks noGrp="1"/>
          </p:cNvSpPr>
          <p:nvPr/>
        </p:nvSpPr>
        <p:spPr>
          <a:xfrm>
            <a:off x="8343900" y="2876550"/>
            <a:ext cx="2743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89186"/>
          </a:bodyPr>
          <a:lstStyle/>
          <a:p>
            <a:pPr algn="l">
              <a:lnSpc>
                <a:spcPct val="115000"/>
              </a:lnSpc>
              <a:buNone/>
              <a:defRPr sz="1950" b="1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청약완주 Agent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4331B0C-6F98-45B7-9318-9D6540B7B5D6}"/>
              </a:ext>
            </a:extLst>
          </p:cNvPr>
          <p:cNvSpPr>
            <a:spLocks noGrp="1"/>
          </p:cNvSpPr>
          <p:nvPr/>
        </p:nvSpPr>
        <p:spPr>
          <a:xfrm>
            <a:off x="8343900" y="3467100"/>
            <a:ext cx="87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72464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F2B84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2B84B"/>
                </a:solidFill>
                <a:latin typeface="Noto Sans KR"/>
                <a:ea typeface="Noto Sans KR"/>
                <a:cs typeface="Noto Sans KR"/>
              </a:rPr>
              <a:t>고객 입력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24E5B75-F8DB-4964-939B-9E371BD6EAC9}"/>
              </a:ext>
            </a:extLst>
          </p:cNvPr>
          <p:cNvSpPr>
            <a:spLocks noGrp="1"/>
          </p:cNvSpPr>
          <p:nvPr/>
        </p:nvSpPr>
        <p:spPr>
          <a:xfrm>
            <a:off x="8343900" y="3695700"/>
            <a:ext cx="2724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청약 단계의 막힘·이탈 신호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B91388F-AB0A-4956-B5A7-C7B5C68FB614}"/>
              </a:ext>
            </a:extLst>
          </p:cNvPr>
          <p:cNvSpPr>
            <a:spLocks noGrp="1"/>
          </p:cNvSpPr>
          <p:nvPr/>
        </p:nvSpPr>
        <p:spPr>
          <a:xfrm>
            <a:off x="8343900" y="426720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72464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F2B84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2B84B"/>
                </a:solidFill>
                <a:latin typeface="Noto Sans KR"/>
                <a:ea typeface="Noto Sans KR"/>
                <a:cs typeface="Noto Sans KR"/>
              </a:rPr>
              <a:t>Agent 개입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E7026AD-5FE8-4199-8532-62222D265A56}"/>
              </a:ext>
            </a:extLst>
          </p:cNvPr>
          <p:cNvSpPr>
            <a:spLocks noGrp="1"/>
          </p:cNvSpPr>
          <p:nvPr/>
        </p:nvSpPr>
        <p:spPr>
          <a:xfrm>
            <a:off x="8343900" y="4495800"/>
            <a:ext cx="2743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도움말·임시저장·이어하기 안내</a:t>
            </a:r>
          </a:p>
          <a:p>
            <a:pPr algn="l">
              <a:lnSpc>
                <a:spcPct val="116000"/>
              </a:lnSpc>
              <a:buNone/>
              <a:defRPr sz="1275" b="0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완결까지 인내력 있게 독려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FBBA8B49-6994-4751-A4B9-3D1B8E5CC20B}"/>
              </a:ext>
            </a:extLst>
          </p:cNvPr>
          <p:cNvSpPr>
            <a:spLocks noGrp="1"/>
          </p:cNvSpPr>
          <p:nvPr/>
        </p:nvSpPr>
        <p:spPr>
          <a:xfrm>
            <a:off x="8343900" y="5219700"/>
            <a:ext cx="2743200" cy="51435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9525">
            <a:solidFill>
              <a:srgbClr val="E2E8F2"/>
            </a:solidFill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2C40C15-46A5-4408-AAC9-86CAE259612B}"/>
              </a:ext>
            </a:extLst>
          </p:cNvPr>
          <p:cNvSpPr>
            <a:spLocks noGrp="1"/>
          </p:cNvSpPr>
          <p:nvPr/>
        </p:nvSpPr>
        <p:spPr>
          <a:xfrm>
            <a:off x="8496300" y="5314950"/>
            <a:ext cx="2438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F2B84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2B84B"/>
                </a:solidFill>
                <a:latin typeface="Noto Sans KR"/>
                <a:ea typeface="Noto Sans KR"/>
                <a:cs typeface="Noto Sans KR"/>
              </a:rPr>
              <a:t>청약 중도 이탈 감소와 재개율 증가</a:t>
            </a:r>
          </a:p>
        </p:txBody>
      </p:sp>
      <p:sp>
        <p:nvSpPr>
          <p:cNvPr id="41" name="화살표: 오른쪽 40">
            <a:extLst>
              <a:ext uri="{FF2B5EF4-FFF2-40B4-BE49-F238E27FC236}">
                <a16:creationId xmlns:a16="http://schemas.microsoft.com/office/drawing/2014/main" id="{CBCF015A-90EC-4EC6-B475-22B0D8155E04}"/>
              </a:ext>
            </a:extLst>
          </p:cNvPr>
          <p:cNvSpPr>
            <a:spLocks noGrp="1"/>
          </p:cNvSpPr>
          <p:nvPr/>
        </p:nvSpPr>
        <p:spPr>
          <a:xfrm>
            <a:off x="4000500" y="3276600"/>
            <a:ext cx="495300" cy="304800"/>
          </a:xfrm>
          <a:prstGeom prst="rightArrow">
            <a:avLst/>
          </a:prstGeom>
          <a:solidFill>
            <a:srgbClr val="D5DEEA"/>
          </a:solidFill>
          <a:ln w="0">
            <a:solidFill>
              <a:srgbClr val="D5DEEA"/>
            </a:solidFill>
            <a:prstDash val="solid"/>
          </a:ln>
        </p:spPr>
      </p:sp>
      <p:sp>
        <p:nvSpPr>
          <p:cNvPr id="42" name="화살표: 오른쪽 41">
            <a:extLst>
              <a:ext uri="{FF2B5EF4-FFF2-40B4-BE49-F238E27FC236}">
                <a16:creationId xmlns:a16="http://schemas.microsoft.com/office/drawing/2014/main" id="{F97D1115-ECB2-4C46-964F-D2068FC09033}"/>
              </a:ext>
            </a:extLst>
          </p:cNvPr>
          <p:cNvSpPr>
            <a:spLocks noGrp="1"/>
          </p:cNvSpPr>
          <p:nvPr/>
        </p:nvSpPr>
        <p:spPr>
          <a:xfrm>
            <a:off x="7734300" y="3276600"/>
            <a:ext cx="495300" cy="304800"/>
          </a:xfrm>
          <a:prstGeom prst="rightArrow">
            <a:avLst/>
          </a:prstGeom>
          <a:solidFill>
            <a:srgbClr val="D5DEEA"/>
          </a:solidFill>
          <a:ln w="0">
            <a:solidFill>
              <a:srgbClr val="D5DEEA"/>
            </a:solidFill>
            <a:prstDash val="solid"/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198361A-841E-4A4E-BBF4-C33731841D3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695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2227"/>
          </a:bodyPr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7A8494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A8494"/>
                </a:solidFill>
                <a:latin typeface="Noto Sans KR"/>
                <a:ea typeface="Noto Sans KR"/>
                <a:cs typeface="Noto Sans KR"/>
              </a:rPr>
              <a:t>보고용 컨셉안 | 팩건강보험 가입자수 확대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1B59F0B-ACC6-4C48-9C8B-DCE4B3FC9E4B}"/>
              </a:ext>
            </a:extLst>
          </p:cNvPr>
          <p:cNvSpPr>
            <a:spLocks noGrp="1"/>
          </p:cNvSpPr>
          <p:nvPr/>
        </p:nvSpPr>
        <p:spPr>
          <a:xfrm>
            <a:off x="11087100" y="630555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6618"/>
          </a:bodyPr>
          <a:lstStyle/>
          <a:p>
            <a:pPr algn="r">
              <a:lnSpc>
                <a:spcPct val="115000"/>
              </a:lnSpc>
              <a:buNone/>
              <a:defRPr sz="1350" b="1">
                <a:solidFill>
                  <a:srgbClr val="A1A9B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A1A9B7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75932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직사각형 44">
            <a:extLst>
              <a:ext uri="{FF2B5EF4-FFF2-40B4-BE49-F238E27FC236}">
                <a16:creationId xmlns:a16="http://schemas.microsoft.com/office/drawing/2014/main" id="{FB102B3B-8F80-43B7-BFE7-B7A79AEE36E3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647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72464"/>
          </a:bodyPr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실행은 ‘작고 빠른 검증’으로 시작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96162EA-8C8D-44AE-8B47-CA9292E9D521}"/>
              </a:ext>
            </a:extLst>
          </p:cNvPr>
          <p:cNvSpPr>
            <a:spLocks noGrp="1"/>
          </p:cNvSpPr>
          <p:nvPr/>
        </p:nvSpPr>
        <p:spPr>
          <a:xfrm>
            <a:off x="609600" y="1009650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88567"/>
          </a:bodyPr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65708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57084"/>
                </a:solidFill>
                <a:latin typeface="Noto Sans KR"/>
                <a:ea typeface="Noto Sans KR"/>
                <a:cs typeface="Noto Sans KR"/>
              </a:rPr>
              <a:t>내부 퍼널 데이터로 병목을 확인하고, Agent별 중간지표를 먼저 개선한다.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E099A058-B24C-40E8-9C4B-FFAD19196D1E}"/>
              </a:ext>
            </a:extLst>
          </p:cNvPr>
          <p:cNvSpPr>
            <a:spLocks noGrp="1"/>
          </p:cNvSpPr>
          <p:nvPr/>
        </p:nvSpPr>
        <p:spPr>
          <a:xfrm>
            <a:off x="666750" y="1657350"/>
            <a:ext cx="1352550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DE5F0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24059CF-7629-4E27-9BDA-B18D6DCAEACF}"/>
              </a:ext>
            </a:extLst>
          </p:cNvPr>
          <p:cNvSpPr>
            <a:spLocks noGrp="1"/>
          </p:cNvSpPr>
          <p:nvPr/>
        </p:nvSpPr>
        <p:spPr>
          <a:xfrm>
            <a:off x="800100" y="1790700"/>
            <a:ext cx="1085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676"/>
          </a:bodyPr>
          <a:lstStyle/>
          <a:p>
            <a:pPr algn="ctr">
              <a:lnSpc>
                <a:spcPct val="115000"/>
              </a:lnSpc>
              <a:buNone/>
              <a:defRPr sz="1275" b="1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유입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3752E4D-BA64-47A2-A482-35961B01A448}"/>
              </a:ext>
            </a:extLst>
          </p:cNvPr>
          <p:cNvSpPr>
            <a:spLocks noGrp="1"/>
          </p:cNvSpPr>
          <p:nvPr/>
        </p:nvSpPr>
        <p:spPr>
          <a:xfrm>
            <a:off x="800100" y="2057400"/>
            <a:ext cx="1085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3406"/>
          </a:bodyPr>
          <a:lstStyle/>
          <a:p>
            <a:pPr algn="ctr">
              <a:lnSpc>
                <a:spcPct val="115000"/>
              </a:lnSpc>
              <a:buNone/>
              <a:defRPr sz="1200" b="0">
                <a:solidFill>
                  <a:srgbClr val="65708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57084"/>
                </a:solidFill>
                <a:latin typeface="Noto Sans KR"/>
                <a:ea typeface="Noto Sans KR"/>
                <a:cs typeface="Noto Sans KR"/>
              </a:rPr>
              <a:t>상품 탐색</a:t>
            </a:r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D5B9E541-63E7-4B7C-AEF6-28EAD34653DE}"/>
              </a:ext>
            </a:extLst>
          </p:cNvPr>
          <p:cNvSpPr>
            <a:spLocks noGrp="1"/>
          </p:cNvSpPr>
          <p:nvPr/>
        </p:nvSpPr>
        <p:spPr>
          <a:xfrm>
            <a:off x="2076450" y="1885950"/>
            <a:ext cx="400050" cy="266700"/>
          </a:xfrm>
          <a:prstGeom prst="rightArrow">
            <a:avLst/>
          </a:prstGeom>
          <a:solidFill>
            <a:srgbClr val="B8C3D2"/>
          </a:solidFill>
          <a:ln w="0">
            <a:solidFill>
              <a:srgbClr val="B8C3D2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A493961-2FC8-4472-A605-69B719CD1E88}"/>
              </a:ext>
            </a:extLst>
          </p:cNvPr>
          <p:cNvSpPr>
            <a:spLocks noGrp="1"/>
          </p:cNvSpPr>
          <p:nvPr/>
        </p:nvSpPr>
        <p:spPr>
          <a:xfrm>
            <a:off x="2286000" y="1657350"/>
            <a:ext cx="1352550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DE5F0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39D7D1E-90D6-4DCE-9BE8-A20F96120E6C}"/>
              </a:ext>
            </a:extLst>
          </p:cNvPr>
          <p:cNvSpPr>
            <a:spLocks noGrp="1"/>
          </p:cNvSpPr>
          <p:nvPr/>
        </p:nvSpPr>
        <p:spPr>
          <a:xfrm>
            <a:off x="2419350" y="1790700"/>
            <a:ext cx="1085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676"/>
          </a:bodyPr>
          <a:lstStyle/>
          <a:p>
            <a:pPr algn="ctr">
              <a:lnSpc>
                <a:spcPct val="115000"/>
              </a:lnSpc>
              <a:buNone/>
              <a:defRPr sz="1275" b="1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보험료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DF608C1-8191-4F5B-BA92-759F0FB374D6}"/>
              </a:ext>
            </a:extLst>
          </p:cNvPr>
          <p:cNvSpPr>
            <a:spLocks noGrp="1"/>
          </p:cNvSpPr>
          <p:nvPr/>
        </p:nvSpPr>
        <p:spPr>
          <a:xfrm>
            <a:off x="2419350" y="2057400"/>
            <a:ext cx="1085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3406"/>
          </a:bodyPr>
          <a:lstStyle/>
          <a:p>
            <a:pPr algn="ctr">
              <a:lnSpc>
                <a:spcPct val="115000"/>
              </a:lnSpc>
              <a:buNone/>
              <a:defRPr sz="1200" b="0">
                <a:solidFill>
                  <a:srgbClr val="65708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57084"/>
                </a:solidFill>
                <a:latin typeface="Noto Sans KR"/>
                <a:ea typeface="Noto Sans KR"/>
                <a:cs typeface="Noto Sans KR"/>
              </a:rPr>
              <a:t>확인 완료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2F41642D-37A2-455C-8D56-1F7F00AA6ACF}"/>
              </a:ext>
            </a:extLst>
          </p:cNvPr>
          <p:cNvSpPr>
            <a:spLocks noGrp="1"/>
          </p:cNvSpPr>
          <p:nvPr/>
        </p:nvSpPr>
        <p:spPr>
          <a:xfrm>
            <a:off x="3695700" y="1885950"/>
            <a:ext cx="400050" cy="266700"/>
          </a:xfrm>
          <a:prstGeom prst="rightArrow">
            <a:avLst/>
          </a:prstGeom>
          <a:solidFill>
            <a:srgbClr val="B8C3D2"/>
          </a:solidFill>
          <a:ln w="0">
            <a:solidFill>
              <a:srgbClr val="B8C3D2"/>
            </a:solidFill>
            <a:prstDash val="solid"/>
          </a:ln>
        </p:spPr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C58198E-9565-49F6-9AC5-211FE71854FB}"/>
              </a:ext>
            </a:extLst>
          </p:cNvPr>
          <p:cNvSpPr>
            <a:spLocks noGrp="1"/>
          </p:cNvSpPr>
          <p:nvPr/>
        </p:nvSpPr>
        <p:spPr>
          <a:xfrm>
            <a:off x="3905250" y="1657350"/>
            <a:ext cx="1352550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DE5F0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C7239AD-1CE6-4088-B169-CC132A4912A5}"/>
              </a:ext>
            </a:extLst>
          </p:cNvPr>
          <p:cNvSpPr>
            <a:spLocks noGrp="1"/>
          </p:cNvSpPr>
          <p:nvPr/>
        </p:nvSpPr>
        <p:spPr>
          <a:xfrm>
            <a:off x="4038600" y="1790700"/>
            <a:ext cx="1085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676"/>
          </a:bodyPr>
          <a:lstStyle/>
          <a:p>
            <a:pPr algn="ctr">
              <a:lnSpc>
                <a:spcPct val="115000"/>
              </a:lnSpc>
              <a:buNone/>
              <a:defRPr sz="1275" b="1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설계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E67DA8B-6ADD-412F-87BB-3ADAB36D8704}"/>
              </a:ext>
            </a:extLst>
          </p:cNvPr>
          <p:cNvSpPr>
            <a:spLocks noGrp="1"/>
          </p:cNvSpPr>
          <p:nvPr/>
        </p:nvSpPr>
        <p:spPr>
          <a:xfrm>
            <a:off x="4038600" y="2057400"/>
            <a:ext cx="1085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3406"/>
          </a:bodyPr>
          <a:lstStyle/>
          <a:p>
            <a:pPr algn="ctr">
              <a:lnSpc>
                <a:spcPct val="115000"/>
              </a:lnSpc>
              <a:buNone/>
              <a:defRPr sz="1200" b="0">
                <a:solidFill>
                  <a:srgbClr val="65708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57084"/>
                </a:solidFill>
                <a:latin typeface="Noto Sans KR"/>
                <a:ea typeface="Noto Sans KR"/>
                <a:cs typeface="Noto Sans KR"/>
              </a:rPr>
              <a:t>선택·조정</a:t>
            </a: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5B478509-8BED-4AC7-8B89-D78730B2663A}"/>
              </a:ext>
            </a:extLst>
          </p:cNvPr>
          <p:cNvSpPr>
            <a:spLocks noGrp="1"/>
          </p:cNvSpPr>
          <p:nvPr/>
        </p:nvSpPr>
        <p:spPr>
          <a:xfrm>
            <a:off x="5314950" y="1885950"/>
            <a:ext cx="400050" cy="266700"/>
          </a:xfrm>
          <a:prstGeom prst="rightArrow">
            <a:avLst/>
          </a:prstGeom>
          <a:solidFill>
            <a:srgbClr val="B8C3D2"/>
          </a:solidFill>
          <a:ln w="0">
            <a:solidFill>
              <a:srgbClr val="B8C3D2"/>
            </a:solidFill>
            <a:prstDash val="solid"/>
          </a:ln>
        </p:spPr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D6CA8EE-6AB7-4A53-B462-CD5D126597E8}"/>
              </a:ext>
            </a:extLst>
          </p:cNvPr>
          <p:cNvSpPr>
            <a:spLocks noGrp="1"/>
          </p:cNvSpPr>
          <p:nvPr/>
        </p:nvSpPr>
        <p:spPr>
          <a:xfrm>
            <a:off x="5524500" y="1657350"/>
            <a:ext cx="1352550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DE5F0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9030033-68D0-4A85-8BA4-C8B14861AD8B}"/>
              </a:ext>
            </a:extLst>
          </p:cNvPr>
          <p:cNvSpPr>
            <a:spLocks noGrp="1"/>
          </p:cNvSpPr>
          <p:nvPr/>
        </p:nvSpPr>
        <p:spPr>
          <a:xfrm>
            <a:off x="5657850" y="1790700"/>
            <a:ext cx="1085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676"/>
          </a:bodyPr>
          <a:lstStyle/>
          <a:p>
            <a:pPr algn="ctr">
              <a:lnSpc>
                <a:spcPct val="115000"/>
              </a:lnSpc>
              <a:buNone/>
              <a:defRPr sz="1275" b="1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청약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652BEA2-0EF7-4954-87D3-E15BA654D574}"/>
              </a:ext>
            </a:extLst>
          </p:cNvPr>
          <p:cNvSpPr>
            <a:spLocks noGrp="1"/>
          </p:cNvSpPr>
          <p:nvPr/>
        </p:nvSpPr>
        <p:spPr>
          <a:xfrm>
            <a:off x="5657850" y="2057400"/>
            <a:ext cx="1085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3406"/>
          </a:bodyPr>
          <a:lstStyle/>
          <a:p>
            <a:pPr algn="ctr">
              <a:lnSpc>
                <a:spcPct val="115000"/>
              </a:lnSpc>
              <a:buNone/>
              <a:defRPr sz="1200" b="0">
                <a:solidFill>
                  <a:srgbClr val="65708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57084"/>
                </a:solidFill>
                <a:latin typeface="Noto Sans KR"/>
                <a:ea typeface="Noto Sans KR"/>
                <a:cs typeface="Noto Sans KR"/>
              </a:rPr>
              <a:t>시작</a:t>
            </a:r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D00F2D10-A775-4364-8C3A-842CB5DB9DB3}"/>
              </a:ext>
            </a:extLst>
          </p:cNvPr>
          <p:cNvSpPr>
            <a:spLocks noGrp="1"/>
          </p:cNvSpPr>
          <p:nvPr/>
        </p:nvSpPr>
        <p:spPr>
          <a:xfrm>
            <a:off x="6934200" y="1885950"/>
            <a:ext cx="400050" cy="266700"/>
          </a:xfrm>
          <a:prstGeom prst="rightArrow">
            <a:avLst/>
          </a:prstGeom>
          <a:solidFill>
            <a:srgbClr val="B8C3D2"/>
          </a:solidFill>
          <a:ln w="0">
            <a:solidFill>
              <a:srgbClr val="B8C3D2"/>
            </a:solidFill>
            <a:prstDash val="solid"/>
          </a:ln>
        </p:spPr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F199EFA3-63E5-4CDB-A798-7128BD386743}"/>
              </a:ext>
            </a:extLst>
          </p:cNvPr>
          <p:cNvSpPr>
            <a:spLocks noGrp="1"/>
          </p:cNvSpPr>
          <p:nvPr/>
        </p:nvSpPr>
        <p:spPr>
          <a:xfrm>
            <a:off x="7143750" y="1657350"/>
            <a:ext cx="1352550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DE5F0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99A824B-C844-4211-A903-95658B0862C2}"/>
              </a:ext>
            </a:extLst>
          </p:cNvPr>
          <p:cNvSpPr>
            <a:spLocks noGrp="1"/>
          </p:cNvSpPr>
          <p:nvPr/>
        </p:nvSpPr>
        <p:spPr>
          <a:xfrm>
            <a:off x="7277100" y="1790700"/>
            <a:ext cx="1085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676"/>
          </a:bodyPr>
          <a:lstStyle/>
          <a:p>
            <a:pPr algn="ctr">
              <a:lnSpc>
                <a:spcPct val="115000"/>
              </a:lnSpc>
              <a:buNone/>
              <a:defRPr sz="1275" b="1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가입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662B1D5-4682-4495-B4CE-212DA78CD847}"/>
              </a:ext>
            </a:extLst>
          </p:cNvPr>
          <p:cNvSpPr>
            <a:spLocks noGrp="1"/>
          </p:cNvSpPr>
          <p:nvPr/>
        </p:nvSpPr>
        <p:spPr>
          <a:xfrm>
            <a:off x="7277100" y="2057400"/>
            <a:ext cx="1085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3406"/>
          </a:bodyPr>
          <a:lstStyle/>
          <a:p>
            <a:pPr algn="ctr">
              <a:lnSpc>
                <a:spcPct val="115000"/>
              </a:lnSpc>
              <a:buNone/>
              <a:defRPr sz="1200" b="0">
                <a:solidFill>
                  <a:srgbClr val="65708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57084"/>
                </a:solidFill>
                <a:latin typeface="Noto Sans KR"/>
                <a:ea typeface="Noto Sans KR"/>
                <a:cs typeface="Noto Sans KR"/>
              </a:rPr>
              <a:t>완료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CCB23CA-42B4-465C-A75F-B3A842932B79}"/>
              </a:ext>
            </a:extLst>
          </p:cNvPr>
          <p:cNvSpPr>
            <a:spLocks noGrp="1"/>
          </p:cNvSpPr>
          <p:nvPr/>
        </p:nvSpPr>
        <p:spPr>
          <a:xfrm>
            <a:off x="800100" y="2686050"/>
            <a:ext cx="2857500" cy="762000"/>
          </a:xfrm>
          <a:prstGeom prst="roundRect">
            <a:avLst>
              <a:gd name="adj" fmla="val 15000"/>
            </a:avLst>
          </a:prstGeom>
          <a:solidFill>
            <a:srgbClr val="DCEBF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673915E-1565-4D98-864B-2637CB7B0BD4}"/>
              </a:ext>
            </a:extLst>
          </p:cNvPr>
          <p:cNvSpPr>
            <a:spLocks noGrp="1"/>
          </p:cNvSpPr>
          <p:nvPr/>
        </p:nvSpPr>
        <p:spPr>
          <a:xfrm>
            <a:off x="971550" y="2800350"/>
            <a:ext cx="2514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6361"/>
          </a:bodyPr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1167D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67D8"/>
                </a:solidFill>
                <a:latin typeface="Noto Sans KR"/>
                <a:ea typeface="Noto Sans KR"/>
                <a:cs typeface="Noto Sans KR"/>
              </a:rPr>
              <a:t>맞춤설계 Agent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859BAA6-72B2-402E-BB50-A229F22C20C5}"/>
              </a:ext>
            </a:extLst>
          </p:cNvPr>
          <p:cNvSpPr>
            <a:spLocks noGrp="1"/>
          </p:cNvSpPr>
          <p:nvPr/>
        </p:nvSpPr>
        <p:spPr>
          <a:xfrm>
            <a:off x="971550" y="30861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82816"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보험료 확인 완료율 / 추천안 선택률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3F3F3E79-6556-4010-84D8-D8011E9FC9F3}"/>
              </a:ext>
            </a:extLst>
          </p:cNvPr>
          <p:cNvSpPr>
            <a:spLocks noGrp="1"/>
          </p:cNvSpPr>
          <p:nvPr/>
        </p:nvSpPr>
        <p:spPr>
          <a:xfrm>
            <a:off x="3752850" y="2686050"/>
            <a:ext cx="2552700" cy="762000"/>
          </a:xfrm>
          <a:prstGeom prst="roundRect">
            <a:avLst>
              <a:gd name="adj" fmla="val 15000"/>
            </a:avLst>
          </a:prstGeom>
          <a:solidFill>
            <a:srgbClr val="DDF7F2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CA0D6CA-EEAC-4071-984F-49F9C82067C0}"/>
              </a:ext>
            </a:extLst>
          </p:cNvPr>
          <p:cNvSpPr>
            <a:spLocks noGrp="1"/>
          </p:cNvSpPr>
          <p:nvPr/>
        </p:nvSpPr>
        <p:spPr>
          <a:xfrm>
            <a:off x="3924300" y="2800350"/>
            <a:ext cx="2209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6361"/>
          </a:bodyPr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00A88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0A88F"/>
                </a:solidFill>
                <a:latin typeface="Noto Sans KR"/>
                <a:ea typeface="Noto Sans KR"/>
                <a:cs typeface="Noto Sans KR"/>
              </a:rPr>
              <a:t>설계이해 Agent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BDFC673-DD3A-4470-9165-EB6310CDA2DF}"/>
              </a:ext>
            </a:extLst>
          </p:cNvPr>
          <p:cNvSpPr>
            <a:spLocks noGrp="1"/>
          </p:cNvSpPr>
          <p:nvPr/>
        </p:nvSpPr>
        <p:spPr>
          <a:xfrm>
            <a:off x="3924300" y="3086100"/>
            <a:ext cx="2209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82816"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보장항목 이해도 / 설계 조정 후 가입 시작률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6156955F-77DE-46BB-8113-F0D400C4B454}"/>
              </a:ext>
            </a:extLst>
          </p:cNvPr>
          <p:cNvSpPr>
            <a:spLocks noGrp="1"/>
          </p:cNvSpPr>
          <p:nvPr/>
        </p:nvSpPr>
        <p:spPr>
          <a:xfrm>
            <a:off x="6400800" y="2686050"/>
            <a:ext cx="2381250" cy="762000"/>
          </a:xfrm>
          <a:prstGeom prst="roundRect">
            <a:avLst>
              <a:gd name="adj" fmla="val 15000"/>
            </a:avLst>
          </a:prstGeom>
          <a:solidFill>
            <a:srgbClr val="FFF1C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7E6FEF9-AC60-43C8-9058-01DEDD200E9A}"/>
              </a:ext>
            </a:extLst>
          </p:cNvPr>
          <p:cNvSpPr>
            <a:spLocks noGrp="1"/>
          </p:cNvSpPr>
          <p:nvPr/>
        </p:nvSpPr>
        <p:spPr>
          <a:xfrm>
            <a:off x="6572250" y="2800350"/>
            <a:ext cx="2038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6361"/>
          </a:bodyPr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B879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87900"/>
                </a:solidFill>
                <a:latin typeface="Noto Sans KR"/>
                <a:ea typeface="Noto Sans KR"/>
                <a:cs typeface="Noto Sans KR"/>
              </a:rPr>
              <a:t>청약완주 Agent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2A2D743-8D16-4C05-970D-D7212DF3E010}"/>
              </a:ext>
            </a:extLst>
          </p:cNvPr>
          <p:cNvSpPr>
            <a:spLocks noGrp="1"/>
          </p:cNvSpPr>
          <p:nvPr/>
        </p:nvSpPr>
        <p:spPr>
          <a:xfrm>
            <a:off x="6572250" y="3086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82816"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청약 완료율 / 이어하기 재개율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102FC004-3F7F-4DD1-8A86-39A46DE569B9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3352800" cy="1676400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6E21F66-56FD-49C0-A3B4-C8C16068043F}"/>
              </a:ext>
            </a:extLst>
          </p:cNvPr>
          <p:cNvSpPr>
            <a:spLocks noGrp="1"/>
          </p:cNvSpPr>
          <p:nvPr/>
        </p:nvSpPr>
        <p:spPr>
          <a:xfrm>
            <a:off x="857250" y="4114800"/>
            <a:ext cx="1047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72464"/>
          </a:bodyPr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1167D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67D8"/>
                </a:solidFill>
                <a:latin typeface="Noto Sans KR"/>
                <a:ea typeface="Noto Sans KR"/>
                <a:cs typeface="Noto Sans KR"/>
              </a:rPr>
              <a:t>1차 실험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F508259-1255-40A3-9284-3380A4B759B0}"/>
              </a:ext>
            </a:extLst>
          </p:cNvPr>
          <p:cNvSpPr>
            <a:spLocks noGrp="1"/>
          </p:cNvSpPr>
          <p:nvPr/>
        </p:nvSpPr>
        <p:spPr>
          <a:xfrm>
            <a:off x="857250" y="4419600"/>
            <a:ext cx="28956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4359"/>
          </a:bodyPr>
          <a:lstStyle/>
          <a:p>
            <a:pPr marL="20" indent="-10" algn="l">
              <a:lnSpc>
                <a:spcPct val="118000"/>
              </a:lnSpc>
              <a:buNone/>
              <a:defRPr sz="1200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20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고객 입력 4개만으로 추천 설계안 3개 노출</a:t>
            </a:r>
          </a:p>
          <a:p>
            <a:pPr marL="20" indent="-10" algn="l">
              <a:lnSpc>
                <a:spcPct val="118000"/>
              </a:lnSpc>
              <a:buNone/>
              <a:defRPr sz="1200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20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셀프계산 대비 보험료 확인 완료율 비교</a:t>
            </a:r>
          </a:p>
          <a:p>
            <a:pPr marL="20" indent="-10" algn="l">
              <a:lnSpc>
                <a:spcPct val="118000"/>
              </a:lnSpc>
              <a:buNone/>
              <a:defRPr sz="1200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20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상품설명·심의 문구 훼손 없이 추천 근거 표시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0B039C71-FBC6-490A-811A-646A68D61B45}"/>
              </a:ext>
            </a:extLst>
          </p:cNvPr>
          <p:cNvSpPr>
            <a:spLocks noGrp="1"/>
          </p:cNvSpPr>
          <p:nvPr/>
        </p:nvSpPr>
        <p:spPr>
          <a:xfrm>
            <a:off x="4419600" y="3905250"/>
            <a:ext cx="3352800" cy="1676400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0882E17-5715-40B9-952D-E160B63F3294}"/>
              </a:ext>
            </a:extLst>
          </p:cNvPr>
          <p:cNvSpPr>
            <a:spLocks noGrp="1"/>
          </p:cNvSpPr>
          <p:nvPr/>
        </p:nvSpPr>
        <p:spPr>
          <a:xfrm>
            <a:off x="4667250" y="4114800"/>
            <a:ext cx="1047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72464"/>
          </a:bodyPr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00A88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0A88F"/>
                </a:solidFill>
                <a:latin typeface="Noto Sans KR"/>
                <a:ea typeface="Noto Sans KR"/>
                <a:cs typeface="Noto Sans KR"/>
              </a:rPr>
              <a:t>주요 지표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DBDC143-EEF8-47E6-96E6-0B3F7649CFB3}"/>
              </a:ext>
            </a:extLst>
          </p:cNvPr>
          <p:cNvSpPr>
            <a:spLocks noGrp="1"/>
          </p:cNvSpPr>
          <p:nvPr/>
        </p:nvSpPr>
        <p:spPr>
          <a:xfrm>
            <a:off x="4667250" y="4419600"/>
            <a:ext cx="2857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marL="20" indent="-10" algn="l">
              <a:lnSpc>
                <a:spcPct val="118000"/>
              </a:lnSpc>
              <a:buNone/>
              <a:defRPr sz="1200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20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가입 완료 건수 / 가입 완료율</a:t>
            </a:r>
          </a:p>
          <a:p>
            <a:pPr marL="20" indent="-10" algn="l">
              <a:lnSpc>
                <a:spcPct val="118000"/>
              </a:lnSpc>
              <a:buNone/>
              <a:defRPr sz="1200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20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보험료 확인 후 가입 시작률</a:t>
            </a:r>
          </a:p>
          <a:p>
            <a:pPr marL="20" indent="-10" algn="l">
              <a:lnSpc>
                <a:spcPct val="118000"/>
              </a:lnSpc>
              <a:buNone/>
              <a:defRPr sz="1200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20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청약 이탈률 / 이어하기 재개율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01C003AF-A18B-4002-BBFB-6ED96C91F1C1}"/>
              </a:ext>
            </a:extLst>
          </p:cNvPr>
          <p:cNvSpPr>
            <a:spLocks noGrp="1"/>
          </p:cNvSpPr>
          <p:nvPr/>
        </p:nvSpPr>
        <p:spPr>
          <a:xfrm>
            <a:off x="8229600" y="3905250"/>
            <a:ext cx="3352800" cy="1676400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74E1201-A004-40FD-BD72-ED818426DE3C}"/>
              </a:ext>
            </a:extLst>
          </p:cNvPr>
          <p:cNvSpPr>
            <a:spLocks noGrp="1"/>
          </p:cNvSpPr>
          <p:nvPr/>
        </p:nvSpPr>
        <p:spPr>
          <a:xfrm>
            <a:off x="8477250" y="4114800"/>
            <a:ext cx="1047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72464"/>
          </a:bodyPr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B879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87900"/>
                </a:solidFill>
                <a:latin typeface="Noto Sans KR"/>
                <a:ea typeface="Noto Sans KR"/>
                <a:cs typeface="Noto Sans KR"/>
              </a:rPr>
              <a:t>가드레일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53C3CCE-04C5-441E-8D1D-A2DA098C5EBD}"/>
              </a:ext>
            </a:extLst>
          </p:cNvPr>
          <p:cNvSpPr>
            <a:spLocks noGrp="1"/>
          </p:cNvSpPr>
          <p:nvPr/>
        </p:nvSpPr>
        <p:spPr>
          <a:xfrm>
            <a:off x="8477250" y="4419600"/>
            <a:ext cx="2857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marL="20" indent="-10" algn="l">
              <a:lnSpc>
                <a:spcPct val="118000"/>
              </a:lnSpc>
              <a:buNone/>
              <a:defRPr sz="1200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20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고객 오해·민원·문의 증가 여부</a:t>
            </a:r>
          </a:p>
          <a:p>
            <a:pPr marL="20" indent="-10" algn="l">
              <a:lnSpc>
                <a:spcPct val="118000"/>
              </a:lnSpc>
              <a:buNone/>
              <a:defRPr sz="1200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20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부적절한 추천 표현 및 심의 우려</a:t>
            </a:r>
          </a:p>
          <a:p>
            <a:pPr marL="20" indent="-10" algn="l">
              <a:lnSpc>
                <a:spcPct val="118000"/>
              </a:lnSpc>
              <a:buNone/>
              <a:defRPr sz="1200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20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비정상 철회·해지 신호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CBB9BACF-6702-4692-B2F1-6A9B8F1B6435}"/>
              </a:ext>
            </a:extLst>
          </p:cNvPr>
          <p:cNvSpPr>
            <a:spLocks noGrp="1"/>
          </p:cNvSpPr>
          <p:nvPr/>
        </p:nvSpPr>
        <p:spPr>
          <a:xfrm>
            <a:off x="8934450" y="1657350"/>
            <a:ext cx="2647950" cy="1790700"/>
          </a:xfrm>
          <a:prstGeom prst="roundRect">
            <a:avLst>
              <a:gd name="adj" fmla="val 8511"/>
            </a:avLst>
          </a:prstGeom>
          <a:solidFill>
            <a:srgbClr val="071C3A"/>
          </a:solidFill>
          <a:ln w="9525">
            <a:solidFill>
              <a:srgbClr val="071C3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CD287E6-D054-4846-AB27-DE77BD0E84E8}"/>
              </a:ext>
            </a:extLst>
          </p:cNvPr>
          <p:cNvSpPr>
            <a:spLocks noGrp="1"/>
          </p:cNvSpPr>
          <p:nvPr/>
        </p:nvSpPr>
        <p:spPr>
          <a:xfrm>
            <a:off x="9182100" y="18859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72464"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추천 실행 순서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423A282-1ADD-428A-980A-4EEB16E000E8}"/>
              </a:ext>
            </a:extLst>
          </p:cNvPr>
          <p:cNvSpPr>
            <a:spLocks noGrp="1"/>
          </p:cNvSpPr>
          <p:nvPr/>
        </p:nvSpPr>
        <p:spPr>
          <a:xfrm>
            <a:off x="9182100" y="2305050"/>
            <a:ext cx="21336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5964"/>
          </a:bodyPr>
          <a:lstStyle/>
          <a:p>
            <a:pPr algn="l">
              <a:lnSpc>
                <a:spcPct val="126000"/>
              </a:lnSpc>
              <a:buNone/>
              <a:defRPr sz="1275">
                <a:solidFill>
                  <a:srgbClr val="E8F0F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E8F0FA"/>
                </a:solidFill>
                <a:latin typeface="Noto Sans KR"/>
                <a:ea typeface="Noto Sans KR"/>
                <a:cs typeface="Noto Sans KR"/>
              </a:rPr>
              <a:t>1. </a:t>
            </a:r>
            <a:r>
              <a:rPr sz="1275">
                <a:solidFill>
                  <a:srgbClr val="E8F0FA"/>
                </a:solidFill>
                <a:latin typeface="Noto Sans KR"/>
                <a:ea typeface="Noto Sans KR"/>
                <a:cs typeface="Noto Sans KR"/>
              </a:rPr>
              <a:t>현재 퍼널 병목 확인</a:t>
            </a:r>
          </a:p>
          <a:p>
            <a:pPr algn="l">
              <a:lnSpc>
                <a:spcPct val="126000"/>
              </a:lnSpc>
              <a:buNone/>
              <a:defRPr sz="1275">
                <a:solidFill>
                  <a:srgbClr val="E8F0F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E8F0FA"/>
                </a:solidFill>
                <a:latin typeface="Noto Sans KR"/>
                <a:ea typeface="Noto Sans KR"/>
                <a:cs typeface="Noto Sans KR"/>
              </a:rPr>
              <a:t>2. </a:t>
            </a:r>
            <a:r>
              <a:rPr sz="1275">
                <a:solidFill>
                  <a:srgbClr val="E8F0FA"/>
                </a:solidFill>
                <a:latin typeface="Noto Sans KR"/>
                <a:ea typeface="Noto Sans KR"/>
                <a:cs typeface="Noto Sans KR"/>
              </a:rPr>
              <a:t>맞춤설계 Agent MVP</a:t>
            </a:r>
          </a:p>
          <a:p>
            <a:pPr algn="l">
              <a:lnSpc>
                <a:spcPct val="126000"/>
              </a:lnSpc>
              <a:buNone/>
              <a:defRPr sz="1275">
                <a:solidFill>
                  <a:srgbClr val="E8F0F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E8F0FA"/>
                </a:solidFill>
                <a:latin typeface="Noto Sans KR"/>
                <a:ea typeface="Noto Sans KR"/>
                <a:cs typeface="Noto Sans KR"/>
              </a:rPr>
              <a:t>3. </a:t>
            </a:r>
            <a:r>
              <a:rPr sz="1275">
                <a:solidFill>
                  <a:srgbClr val="E8F0FA"/>
                </a:solidFill>
                <a:latin typeface="Noto Sans KR"/>
                <a:ea typeface="Noto Sans KR"/>
                <a:cs typeface="Noto Sans KR"/>
              </a:rPr>
              <a:t>설계이해·청약완주 확장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06E08DF-7A81-471F-90DC-0635BEF1346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695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2227"/>
          </a:bodyPr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7A8494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A8494"/>
                </a:solidFill>
                <a:latin typeface="Noto Sans KR"/>
                <a:ea typeface="Noto Sans KR"/>
                <a:cs typeface="Noto Sans KR"/>
              </a:rPr>
              <a:t>보고용 컨셉안 | 팩건강보험 가입자수 확대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F6B2D27-6F81-4254-9143-B939B49F5F0B}"/>
              </a:ext>
            </a:extLst>
          </p:cNvPr>
          <p:cNvSpPr>
            <a:spLocks noGrp="1"/>
          </p:cNvSpPr>
          <p:nvPr/>
        </p:nvSpPr>
        <p:spPr>
          <a:xfrm>
            <a:off x="11087100" y="630555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6618"/>
          </a:bodyPr>
          <a:lstStyle/>
          <a:p>
            <a:pPr algn="r">
              <a:lnSpc>
                <a:spcPct val="115000"/>
              </a:lnSpc>
              <a:buNone/>
              <a:defRPr sz="1350" b="1">
                <a:solidFill>
                  <a:srgbClr val="A1A9B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A1A9B7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1674058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383</Words>
  <Application>Microsoft Office PowerPoint</Application>
  <DocSecurity>0</DocSecurity>
  <PresentationFormat>와이드스크린</PresentationFormat>
  <Paragraphs>85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Noto Sans KR</vt:lpstr>
      <vt:lpstr>Calibri</vt:lpstr>
      <vt:lpstr>ChatGPT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user</cp:lastModifiedBy>
  <cp:revision>1</cp:revision>
  <dcterms:created xsi:type="dcterms:W3CDTF">2026-06-17T07:27:07Z</dcterms:created>
  <dcterms:modified xsi:type="dcterms:W3CDTF">2026-06-17T08:30:43Z</dcterms:modified>
</cp:coreProperties>
</file>