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5fb40068374679" /><Relationship Type="http://schemas.openxmlformats.org/officeDocument/2006/relationships/extended-properties" Target="/docProps/app.xml" Id="R7b49afcdf2d94c2a" /><Relationship Type="http://schemas.openxmlformats.org/officeDocument/2006/relationships/officeDocument" Target="/ppt/presentation.xml" Id="R2fe37b89bb794b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4ec370f91e47d9"/>
  </p:sldMasterIdLst>
  <p:notesMasterIdLst>
    <p:notesMasterId xmlns:r="http://schemas.openxmlformats.org/officeDocument/2006/relationships" r:id="R4e9e86bb313842d9"/>
  </p:notesMasterIdLst>
  <p:sldIdLst>
    <p:sldId xmlns:r="http://schemas.openxmlformats.org/officeDocument/2006/relationships" id="256" r:id="R78e9315f89a24479"/>
    <p:sldId xmlns:r="http://schemas.openxmlformats.org/officeDocument/2006/relationships" id="257" r:id="R804498fbb02249a5"/>
    <p:sldId xmlns:r="http://schemas.openxmlformats.org/officeDocument/2006/relationships" id="258" r:id="R974d5936609c448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b92c58e5824630" /><Relationship Type="http://schemas.openxmlformats.org/officeDocument/2006/relationships/slideMaster" Target="/ppt/slideMasters/slideMaster1.xml" Id="Rb74ec370f91e47d9" /><Relationship Type="http://schemas.openxmlformats.org/officeDocument/2006/relationships/notesMaster" Target="/ppt/notesMasters/notesMaster1.xml" Id="R4e9e86bb313842d9" /><Relationship Type="http://schemas.openxmlformats.org/officeDocument/2006/relationships/presProps" Target="/ppt/presProps.xml" Id="Rdd7452d37e1c4786" /><Relationship Type="http://schemas.openxmlformats.org/officeDocument/2006/relationships/tableStyles" Target="/ppt/tableStyles.xml" Id="R7fba045bd2f344c1" /><Relationship Type="http://schemas.openxmlformats.org/officeDocument/2006/relationships/slide" Target="/ppt/slides/slide1.xml" Id="R78e9315f89a24479" /><Relationship Type="http://schemas.openxmlformats.org/officeDocument/2006/relationships/slide" Target="/ppt/slides/slide2.xml" Id="R804498fbb02249a5" /><Relationship Type="http://schemas.openxmlformats.org/officeDocument/2006/relationships/slide" Target="/ppt/slides/slide3.xml" Id="R974d5936609c44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af0ab706d345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f286a008084969" /><Relationship Type="http://schemas.openxmlformats.org/officeDocument/2006/relationships/notesMaster" Target="/ppt/notesMasters/notesMaster1.xml" Id="R655d479a27e144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d997148ef34781" /><Relationship Type="http://schemas.openxmlformats.org/officeDocument/2006/relationships/notesMaster" Target="/ppt/notesMasters/notesMaster1.xml" Id="R9f11efe53e604b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e5419644434d1a" /><Relationship Type="http://schemas.openxmlformats.org/officeDocument/2006/relationships/notesMaster" Target="/ppt/notesMasters/notesMaster1.xml" Id="R0fe58ca9da674a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cc83fcd88e4d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070dcd50aa4201" /><Relationship Type="http://schemas.openxmlformats.org/officeDocument/2006/relationships/slideLayout" Target="/ppt/slideLayouts/slideLayout1.xml" Id="R18f48c86f09f41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f48c86f09f41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a9aef847b4e0b" /><Relationship Type="http://schemas.openxmlformats.org/officeDocument/2006/relationships/notesSlide" Target="/ppt/notesSlides/notesSlide1.xml" Id="R4ad7d448d8fe4a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675d46e914612" /><Relationship Type="http://schemas.openxmlformats.org/officeDocument/2006/relationships/notesSlide" Target="/ppt/notesSlides/notesSlide2.xml" Id="R6713fe2a25f846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8209ad9c3481b" /><Relationship Type="http://schemas.openxmlformats.org/officeDocument/2006/relationships/notesSlide" Target="/ppt/notesSlides/notesSlide3.xml" Id="Redc37898d64042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1A2D83-B4F4-45B4-A05F-B8F56266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944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B23A1-DC3B-49AF-9953-75E7DF1B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95700" cy="6858000"/>
          </a:xfrm>
          <a:prstGeom xmlns:a="http://schemas.openxmlformats.org/drawingml/2006/main" prst="roundRect">
            <a:avLst>
              <a:gd name="adj" fmla="val 3608"/>
            </a:avLst>
          </a:prstGeom>
          <a:solidFill xmlns:a="http://schemas.openxmlformats.org/drawingml/2006/main">
            <a:srgbClr val="071C3A"/>
          </a:solidFill>
          <a:ln xmlns:a="http://schemas.openxmlformats.org/drawingml/2006/main" w="0">
            <a:solidFill>
              <a:srgbClr val="071C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0B8E6-2AD7-4B52-8D41-226987A4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75F"/>
          </a:solidFill>
          <a:ln xmlns:a="http://schemas.openxmlformats.org/drawingml/2006/main" w="9525">
            <a:solidFill>
              <a:srgbClr val="2A4E7A"/>
            </a:solidFill>
            <a:prstDash val="solid"/>
          </a:ln>
        </p:spPr>
        <p:txBody>
          <a:bodyPr xmlns:a="http://schemas.openxmlformats.org/drawingml/2006/main" lIns="76200" tIns="28575" rIns="76200" bIns="28575" anchor="ctr">
            <a:normAutofit fontScale="7476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CEB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DCEBFF"/>
                </a:solidFill>
                <a:latin typeface="Noto Sans KR"/>
                <a:ea typeface="Noto Sans KR"/>
                <a:cs typeface="Noto Sans KR"/>
              </a:rPr>
              <a:t>팩건강보험 가입자수 확대 전략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C8D58-0E30-4F24-8E9E-6EC2144C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2619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35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9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429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Sales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29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429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6C794-92F9-4246-8D6B-5DD92971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55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33" b="0">
                <a:solidFill>
                  <a:srgbClr val="D6E5FA"/>
                </a:solidFill>
                <a:latin typeface="Noto Sans KR"/>
                <a:ea typeface="Noto Sans KR"/>
                <a:cs typeface="Noto Sans KR"/>
              </a:defRPr>
            </a:pPr>
            <a:r>
              <a:rPr sz="1733" b="0">
                <a:solidFill>
                  <a:srgbClr val="D6E5FA"/>
                </a:solidFill>
                <a:latin typeface="Noto Sans KR"/>
                <a:ea typeface="Noto Sans KR"/>
                <a:cs typeface="Noto Sans KR"/>
              </a:rPr>
              <a:t>AI 기술 도입이 아니라,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33" b="0">
                <a:solidFill>
                  <a:srgbClr val="D6E5FA"/>
                </a:solidFill>
                <a:latin typeface="Noto Sans KR"/>
                <a:ea typeface="Noto Sans KR"/>
                <a:cs typeface="Noto Sans KR"/>
              </a:defRPr>
            </a:pPr>
            <a:r>
              <a:rPr sz="1733" b="0">
                <a:solidFill>
                  <a:srgbClr val="D6E5FA"/>
                </a:solidFill>
                <a:latin typeface="Noto Sans KR"/>
                <a:ea typeface="Noto Sans KR"/>
                <a:cs typeface="Noto Sans KR"/>
              </a:rPr>
              <a:t>고객별 니즈에 맞춘 가입 경험의 변화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CBD3D0-2D7F-4589-A2A7-56EB7CB4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858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82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28" b="1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2228" b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탐색부터 청약 완주까지, 고객이 막히는 순간을 Agent가 먼저 줄인다.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D5E67-1C1F-4287-887C-9FA3AF37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3525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658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85" b="1">
                <a:solidFill>
                  <a:srgbClr val="1167D8"/>
                </a:solidFill>
                <a:latin typeface="Noto Sans KR"/>
                <a:ea typeface="Noto Sans KR"/>
                <a:cs typeface="Noto Sans KR"/>
              </a:defRPr>
            </a:pPr>
            <a:r>
              <a:rPr sz="1485" b="1">
                <a:solidFill>
                  <a:srgbClr val="1167D8"/>
                </a:solidFill>
                <a:latin typeface="Noto Sans KR"/>
                <a:ea typeface="Noto Sans KR"/>
                <a:cs typeface="Noto Sans KR"/>
              </a:rPr>
              <a:t>핵심 전환 가설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83A6C3-00E2-457C-9E37-6D096C16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19250"/>
            <a:ext cx="689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76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1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231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고객이 보험을 포기하는 이유는 </a:t>
            </a:r>
            <a:r>
              <a:rPr sz="2310" b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관심 부족</a:t>
            </a:r>
            <a:r>
              <a:rPr sz="231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보다 </a:t>
            </a:r>
            <a:r>
              <a:rPr sz="2310" b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설계 탐색·용어 이해·청약 진행의 마찰</a:t>
            </a:r>
            <a:r>
              <a:rPr sz="231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일 가능성이 크다.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17021-FA5A-4782-9DCE-5F894F33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81300"/>
            <a:ext cx="2076450" cy="163830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066FEA-CE59-4277-9927-4B197CC1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71800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DCEBFF"/>
            </a:solidFill>
            <a:prstDash val="solid"/>
          </a:ln>
        </p:spPr>
        <p:txBody>
          <a:bodyPr xmlns:a="http://schemas.openxmlformats.org/drawingml/2006/main" lIns="76200" tIns="28575" rIns="76200" bIns="28575" anchor="ctr">
            <a:normAutofit fontScale="638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67D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67D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17C153-30EB-4F88-86A6-9CC39FEA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528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608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45" b="1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2145" b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탐색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C0EAE6-265D-498D-8BDF-FCFF076B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719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5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2" b="0">
                <a:solidFill>
                  <a:srgbClr val="657084"/>
                </a:solidFill>
                <a:latin typeface="Noto Sans KR"/>
                <a:ea typeface="Noto Sans KR"/>
                <a:cs typeface="Noto Sans KR"/>
              </a:defRPr>
            </a:pPr>
            <a:r>
              <a:rPr sz="1402" b="0">
                <a:solidFill>
                  <a:srgbClr val="657084"/>
                </a:solidFill>
                <a:latin typeface="Noto Sans KR"/>
                <a:ea typeface="Noto Sans KR"/>
                <a:cs typeface="Noto Sans KR"/>
              </a:rPr>
              <a:t>나에게 맞는 보장과 보험료가 불명확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1DDCD6-6150-43A6-A96E-CE906B77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81300"/>
            <a:ext cx="2076450" cy="163830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77BC90-2E91-45AC-9D03-B83E8427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71800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7F2"/>
          </a:solidFill>
          <a:ln xmlns:a="http://schemas.openxmlformats.org/drawingml/2006/main" w="9525">
            <a:solidFill>
              <a:srgbClr val="DDF7F2"/>
            </a:solidFill>
            <a:prstDash val="solid"/>
          </a:ln>
        </p:spPr>
        <p:txBody>
          <a:bodyPr xmlns:a="http://schemas.openxmlformats.org/drawingml/2006/main" lIns="76200" tIns="28575" rIns="76200" bIns="28575" anchor="ctr">
            <a:normAutofit fontScale="638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88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0A88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7F4665-E43E-4951-AAC3-495F5735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528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608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45" b="1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2145" b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판단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0DB83D-3C7E-4CC4-B6BC-FA512897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719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5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2" b="0">
                <a:solidFill>
                  <a:srgbClr val="657084"/>
                </a:solidFill>
                <a:latin typeface="Noto Sans KR"/>
                <a:ea typeface="Noto Sans KR"/>
                <a:cs typeface="Noto Sans KR"/>
              </a:defRPr>
            </a:pPr>
            <a:r>
              <a:rPr sz="1402" b="0">
                <a:solidFill>
                  <a:srgbClr val="657084"/>
                </a:solidFill>
                <a:latin typeface="Noto Sans KR"/>
                <a:ea typeface="Noto Sans KR"/>
                <a:cs typeface="Noto Sans KR"/>
              </a:rPr>
              <a:t>보장항목·보험용어가 어려워 확신 부족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875CB4-A3A2-4F8F-9A50-593B5E42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81300"/>
            <a:ext cx="2076450" cy="163830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D5E567-551D-4F6C-B7E5-7E8EAC34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71800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CF"/>
          </a:solidFill>
          <a:ln xmlns:a="http://schemas.openxmlformats.org/drawingml/2006/main" w="9525">
            <a:solidFill>
              <a:srgbClr val="FFF1CF"/>
            </a:solidFill>
            <a:prstDash val="solid"/>
          </a:ln>
        </p:spPr>
        <p:txBody>
          <a:bodyPr xmlns:a="http://schemas.openxmlformats.org/drawingml/2006/main" lIns="76200" tIns="28575" rIns="76200" bIns="28575" anchor="ctr">
            <a:normAutofit fontScale="638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86E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A86E00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122539-D445-4910-83B9-E1CACAFC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528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608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45" b="1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2145" b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청약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9C15DF-FEE1-4299-9917-E69F6423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719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07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2" b="0">
                <a:solidFill>
                  <a:srgbClr val="657084"/>
                </a:solidFill>
                <a:latin typeface="Noto Sans KR"/>
                <a:ea typeface="Noto Sans KR"/>
                <a:cs typeface="Noto Sans KR"/>
              </a:defRPr>
            </a:pPr>
            <a:r>
              <a:rPr sz="1402" b="0">
                <a:solidFill>
                  <a:srgbClr val="657084"/>
                </a:solidFill>
                <a:latin typeface="Noto Sans KR"/>
                <a:ea typeface="Noto Sans KR"/>
                <a:cs typeface="Noto Sans KR"/>
              </a:rPr>
              <a:t>입력·동의·인증 단계에서 피로와 이탈 발생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572C82-162E-49FB-9CE4-1985403A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857750"/>
            <a:ext cx="73342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CFE2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FE5F54-222A-43A5-9726-B23D8779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9911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96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85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485" b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추천 방향: </a:t>
            </a:r>
            <a:r>
              <a:rPr sz="1485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전환 여정의 마찰 지점별로 역할을 분리한 3단계 Agent 설계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485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485" b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기대효과: </a:t>
            </a:r>
            <a:r>
              <a:rPr sz="1485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보험료 확인 완료율, 가입 시작률, 청약 완료율을 단계별로 끌어올리는 구조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D2C5E9-8938-4F82-8B6A-E395B344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95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63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7A849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7A8494"/>
                </a:solidFill>
                <a:latin typeface="Noto Sans KR"/>
                <a:ea typeface="Noto Sans KR"/>
                <a:cs typeface="Noto Sans KR"/>
              </a:rPr>
              <a:t>보고용 컨셉안 | 팩건강보험 가입자수 확대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D16576-DDDA-4C0F-804B-F0769BB9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055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78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485" b="1">
                <a:solidFill>
                  <a:srgbClr val="A1A9B7"/>
                </a:solidFill>
                <a:latin typeface="Noto Sans KR"/>
                <a:ea typeface="Noto Sans KR"/>
                <a:cs typeface="Noto Sans KR"/>
              </a:defRPr>
            </a:pPr>
            <a:r>
              <a:rPr sz="1485" b="1">
                <a:solidFill>
                  <a:srgbClr val="A1A9B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694949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AA1738-A81E-4893-8E5F-6771B1D7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658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05" b="1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2805" b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Sales Agent 서비스 구성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37FADA-78FF-41D4-93AA-D025FF9C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05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85" b="0">
                <a:solidFill>
                  <a:srgbClr val="657084"/>
                </a:solidFill>
                <a:latin typeface="Noto Sans KR"/>
                <a:ea typeface="Noto Sans KR"/>
                <a:cs typeface="Noto Sans KR"/>
              </a:defRPr>
            </a:pPr>
            <a:r>
              <a:rPr sz="1485" b="0">
                <a:solidFill>
                  <a:srgbClr val="657084"/>
                </a:solidFill>
                <a:latin typeface="Noto Sans KR"/>
                <a:ea typeface="Noto Sans KR"/>
                <a:cs typeface="Noto Sans KR"/>
              </a:rPr>
              <a:t>3개 Agent가 고객의 가입 여정에서 각각 다른 ‘막힘’을 줄인다.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2C534-A715-47B2-8532-8BE98BB8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276600" cy="37147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1F7FF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997CE-634E-4D24-A962-B413B3D5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B6B97-3354-4DBB-B1EA-B55F65CB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105025"/>
            <a:ext cx="381000" cy="381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67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A87E6-33F9-4333-9A05-2AFB9B4C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9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67D8"/>
          </a:solidFill>
          <a:ln xmlns:a="http://schemas.openxmlformats.org/drawingml/2006/main" w="9525">
            <a:solidFill>
              <a:srgbClr val="1167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706F1-3251-49C8-909C-681EB4C6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38350"/>
            <a:ext cx="838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8F2"/>
            </a:solidFill>
            <a:prstDash val="solid"/>
          </a:ln>
        </p:spPr>
        <p:txBody>
          <a:bodyPr xmlns:a="http://schemas.openxmlformats.org/drawingml/2006/main" lIns="76200" tIns="28575" rIns="76200" bIns="28575" anchor="ctr">
            <a:normAutofit fontScale="638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67D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67D8"/>
                </a:solidFill>
                <a:latin typeface="Noto Sans KR"/>
                <a:ea typeface="Noto Sans KR"/>
                <a:cs typeface="Noto Sans KR"/>
              </a:rPr>
              <a:t>탐색 단축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78687-05DD-4523-B35E-A90F1D24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10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45" b="1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2145" b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맞춤설계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24FD38-23D9-40EE-A433-4BB6D414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63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167D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67D8"/>
                </a:solidFill>
                <a:latin typeface="Noto Sans KR"/>
                <a:ea typeface="Noto Sans KR"/>
                <a:cs typeface="Noto Sans KR"/>
              </a:rPr>
              <a:t>고객 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A4D5A-8C03-4955-9837-8075D846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77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2" b="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402" b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나이·성별·월보험료·집중 보장 니즈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41AA0B-F2CB-4FC9-BABB-BDBC288D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63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167D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67D8"/>
                </a:solidFill>
                <a:latin typeface="Noto Sans KR"/>
                <a:ea typeface="Noto Sans KR"/>
                <a:cs typeface="Noto Sans KR"/>
              </a:rPr>
              <a:t>Agent 개입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F7A17-A2F8-452E-B3E7-95A5C9D9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274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60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2" b="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402" b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추천 설계안 3개 제시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02" b="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402" b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셀프계산 단계 부담 축소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178AE7-A654-4613-910C-7DDF7130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27432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FC2B88-2FAB-4A16-ACCF-556F7278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149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24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67D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67D8"/>
                </a:solidFill>
                <a:latin typeface="Noto Sans KR"/>
                <a:ea typeface="Noto Sans KR"/>
                <a:cs typeface="Noto Sans KR"/>
              </a:rPr>
              <a:t>보험료 확인까지의 진입 장벽 감소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0861E9-980F-4763-81DA-547513B4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57350"/>
            <a:ext cx="3276600" cy="37147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FFBF8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533B2A-F42E-4EC7-ACF8-D7E10C60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621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8471A7-2114-4A1A-8091-7E95D09C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143125"/>
            <a:ext cx="419100" cy="3048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00A88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294741-29DE-48BB-9AEF-66B02081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2764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8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D609A1-C0DF-4C36-BF44-23E718F1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381250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88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49C2B9-7BF5-49BF-AA39-FA40831C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38350"/>
            <a:ext cx="838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8F2"/>
            </a:solidFill>
            <a:prstDash val="solid"/>
          </a:ln>
        </p:spPr>
        <p:txBody>
          <a:bodyPr xmlns:a="http://schemas.openxmlformats.org/drawingml/2006/main" lIns="76200" tIns="28575" rIns="76200" bIns="28575" anchor="ctr">
            <a:normAutofit fontScale="638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88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0A88F"/>
                </a:solidFill>
                <a:latin typeface="Noto Sans KR"/>
                <a:ea typeface="Noto Sans KR"/>
                <a:cs typeface="Noto Sans KR"/>
              </a:rPr>
              <a:t>판단 확신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919472-7C7E-4392-B969-01826BCC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7655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10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45" b="1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2145" b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설계이해 Agent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0D92EA-95C6-45A0-9A41-AD0528D1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671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63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00A88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0A88F"/>
                </a:solidFill>
                <a:latin typeface="Noto Sans KR"/>
                <a:ea typeface="Noto Sans KR"/>
                <a:cs typeface="Noto Sans KR"/>
              </a:rPr>
              <a:t>고객 입력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AA06CA-45AE-4736-93EC-2A32E5DF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95700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2" b="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402" b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보험용어·보장항목·조절 이유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430B8A-9637-4767-AFB5-8E09F699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672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63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00A88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0A88F"/>
                </a:solidFill>
                <a:latin typeface="Noto Sans KR"/>
                <a:ea typeface="Noto Sans KR"/>
                <a:cs typeface="Noto Sans KR"/>
              </a:rPr>
              <a:t>Agent 개입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FA564B-93AC-4D9F-9EC7-AA1E32C2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95800"/>
            <a:ext cx="274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60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2" b="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402" b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친근한 표현으로 의미 설명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02" b="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402" b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고객이 직접 조정할 근거 제공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DBEBD3-DA47-4244-BAD4-87400AD6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219700"/>
            <a:ext cx="27432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FF5803-C83A-4AD9-BED5-0AA5A557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149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A88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0A88F"/>
                </a:solidFill>
                <a:latin typeface="Noto Sans KR"/>
                <a:ea typeface="Noto Sans KR"/>
                <a:cs typeface="Noto Sans KR"/>
              </a:rPr>
              <a:t>가입 판단 신뢰 강화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AED0B9-0515-4151-A9D8-7F2CE7C3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57350"/>
            <a:ext cx="3276600" cy="37147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8958A3-F841-44DC-AA05-983E3B31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621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A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ADBA98-C2EF-4B93-978A-E4DA039F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90750"/>
            <a:ext cx="285750" cy="228600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F2B84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242789-ECD7-40FF-8398-F0BFD9C5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314575"/>
            <a:ext cx="6667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84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DF9D5F-CFE7-4E7C-8345-DC4571B5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90775"/>
            <a:ext cx="133350" cy="-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84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A7E05A-BA51-46B5-91DF-B793A2DA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038350"/>
            <a:ext cx="838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8F2"/>
            </a:solidFill>
            <a:prstDash val="solid"/>
          </a:ln>
        </p:spPr>
        <p:txBody>
          <a:bodyPr xmlns:a="http://schemas.openxmlformats.org/drawingml/2006/main" lIns="76200" tIns="28575" rIns="76200" bIns="28575" anchor="ctr">
            <a:normAutofit fontScale="638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B84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2B84B"/>
                </a:solidFill>
                <a:latin typeface="Noto Sans KR"/>
                <a:ea typeface="Noto Sans KR"/>
                <a:cs typeface="Noto Sans KR"/>
              </a:rPr>
              <a:t>완주 회복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EBFC09-600E-4D9D-85A2-1B242FD8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7655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10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45" b="1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2145" b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청약완주 Agent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E7FABD-6178-4260-AC5E-DAEEABAF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671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63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F2B84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2B84B"/>
                </a:solidFill>
                <a:latin typeface="Noto Sans KR"/>
                <a:ea typeface="Noto Sans KR"/>
                <a:cs typeface="Noto Sans KR"/>
              </a:rPr>
              <a:t>고객 입력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B03B2D-ADAC-4998-9354-EB946F7E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95700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2" b="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402" b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청약 단계의 막힘·이탈 신호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A1AC8A-025C-4F5C-87C5-45B47C16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672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63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F2B84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2B84B"/>
                </a:solidFill>
                <a:latin typeface="Noto Sans KR"/>
                <a:ea typeface="Noto Sans KR"/>
                <a:cs typeface="Noto Sans KR"/>
              </a:rPr>
              <a:t>Agent 개입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F03BD6-9A58-4D7D-BCDD-06B65B43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95800"/>
            <a:ext cx="274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60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2" b="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402" b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도움말·임시저장·이어하기 안내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02" b="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402" b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완결까지 인내력 있게 독려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7F8031-4E03-4ED6-860E-C66F8B16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19700"/>
            <a:ext cx="27432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750DF5-9476-4D41-BCEB-BA170E3E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3149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0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2B84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2B84B"/>
                </a:solidFill>
                <a:latin typeface="Noto Sans KR"/>
                <a:ea typeface="Noto Sans KR"/>
                <a:cs typeface="Noto Sans KR"/>
              </a:rPr>
              <a:t>청약 중도 이탈 감소와 재개율 증가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46FEA0-85FC-4051-B60F-B211BE5F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76600"/>
            <a:ext cx="4953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5DEEA"/>
          </a:solidFill>
          <a:ln xmlns:a="http://schemas.openxmlformats.org/drawingml/2006/main" w="0">
            <a:solidFill>
              <a:srgbClr val="D5DE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3922B3-0CAB-4800-A967-5C6C58D3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76600"/>
            <a:ext cx="4953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5DEEA"/>
          </a:solidFill>
          <a:ln xmlns:a="http://schemas.openxmlformats.org/drawingml/2006/main" w="0">
            <a:solidFill>
              <a:srgbClr val="D5DE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9F4824-F1DF-4428-8259-8DDAC650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95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63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7A849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7A8494"/>
                </a:solidFill>
                <a:latin typeface="Noto Sans KR"/>
                <a:ea typeface="Noto Sans KR"/>
                <a:cs typeface="Noto Sans KR"/>
              </a:rPr>
              <a:t>보고용 컨셉안 | 팩건강보험 가입자수 확대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31C1A2-DEEA-489E-B7D1-A46A58C3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055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78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485" b="1">
                <a:solidFill>
                  <a:srgbClr val="A1A9B7"/>
                </a:solidFill>
                <a:latin typeface="Noto Sans KR"/>
                <a:ea typeface="Noto Sans KR"/>
                <a:cs typeface="Noto Sans KR"/>
              </a:defRPr>
            </a:pPr>
            <a:r>
              <a:rPr sz="1485" b="1">
                <a:solidFill>
                  <a:srgbClr val="A1A9B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132481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EA9D75-833B-4112-9570-0EA46D1B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658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05" b="1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2805" b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실행은 ‘작고 빠른 검증’으로 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8544A-34DD-4844-BA8F-1041186C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05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85" b="0">
                <a:solidFill>
                  <a:srgbClr val="657084"/>
                </a:solidFill>
                <a:latin typeface="Noto Sans KR"/>
                <a:ea typeface="Noto Sans KR"/>
                <a:cs typeface="Noto Sans KR"/>
              </a:defRPr>
            </a:pPr>
            <a:r>
              <a:rPr sz="1485" b="0">
                <a:solidFill>
                  <a:srgbClr val="657084"/>
                </a:solidFill>
                <a:latin typeface="Noto Sans KR"/>
                <a:ea typeface="Noto Sans KR"/>
                <a:cs typeface="Noto Sans KR"/>
              </a:rPr>
              <a:t>내부 퍼널 데이터로 병목을 확인하고, Agent별 중간지표를 먼저 개선한다.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4CFCDF-41BE-422F-A5BA-267B0FC7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12573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9C957-B4D6-4395-8EFD-2F4FF0E7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697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02" b="1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402" b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유입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66AF0-67FC-4DC5-895C-79E04FEB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24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65708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57084"/>
                </a:solidFill>
                <a:latin typeface="Noto Sans KR"/>
                <a:ea typeface="Noto Sans KR"/>
                <a:cs typeface="Noto Sans KR"/>
              </a:rPr>
              <a:t>상품 탐색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5889FB-5E13-4A4C-B1C5-1A61E259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924050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C3D2"/>
          </a:solidFill>
          <a:ln xmlns:a="http://schemas.openxmlformats.org/drawingml/2006/main" w="0">
            <a:solidFill>
              <a:srgbClr val="B8C3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B152F-4166-4A92-9E97-5CCA48F0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657350"/>
            <a:ext cx="12573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7D7AD-1477-41DA-A54C-627CD048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907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697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02" b="1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402" b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보험료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53997D-D5D7-4957-9106-8809F4B5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955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24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65708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57084"/>
                </a:solidFill>
                <a:latin typeface="Noto Sans KR"/>
                <a:ea typeface="Noto Sans KR"/>
                <a:cs typeface="Noto Sans KR"/>
              </a:rPr>
              <a:t>확인 완료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70DAA8-0F42-4216-BDC7-3FB049CE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24050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C3D2"/>
          </a:solidFill>
          <a:ln xmlns:a="http://schemas.openxmlformats.org/drawingml/2006/main" w="0">
            <a:solidFill>
              <a:srgbClr val="B8C3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5A3949-FE84-4B6A-AAC7-20B8FA55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657350"/>
            <a:ext cx="12573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F46DC6-27D3-44A3-96AA-0058DB3B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7907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697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02" b="1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402" b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설계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426B6C-3A90-40C9-B8AB-DBAF01A7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955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24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65708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57084"/>
                </a:solidFill>
                <a:latin typeface="Noto Sans KR"/>
                <a:ea typeface="Noto Sans KR"/>
                <a:cs typeface="Noto Sans KR"/>
              </a:rPr>
              <a:t>선택·조정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2F5E2E-D506-42CA-9BDF-7EECC50E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924050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C3D2"/>
          </a:solidFill>
          <a:ln xmlns:a="http://schemas.openxmlformats.org/drawingml/2006/main" w="0">
            <a:solidFill>
              <a:srgbClr val="B8C3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3001E3-52BF-476F-BA8E-30CD0B64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657350"/>
            <a:ext cx="12573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8379E7-1687-4C67-A11F-9075BA1E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7907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697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02" b="1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402" b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청약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9913E6-34F5-429B-9449-A0275B7F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955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24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65708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57084"/>
                </a:solidFill>
                <a:latin typeface="Noto Sans KR"/>
                <a:ea typeface="Noto Sans KR"/>
                <a:cs typeface="Noto Sans KR"/>
              </a:rPr>
              <a:t>시작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F3CF6C-C7ED-47B8-B954-A4305123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924050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C3D2"/>
          </a:solidFill>
          <a:ln xmlns:a="http://schemas.openxmlformats.org/drawingml/2006/main" w="0">
            <a:solidFill>
              <a:srgbClr val="B8C3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2A7887-EDE8-474D-8443-42449D04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657350"/>
            <a:ext cx="12573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F48806-D36F-44C6-8A20-E3ABB83B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907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697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02" b="1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402" b="1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가입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94FE88-AFE2-4865-9E00-1AEA2496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955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24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65708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57084"/>
                </a:solidFill>
                <a:latin typeface="Noto Sans KR"/>
                <a:ea typeface="Noto Sans KR"/>
                <a:cs typeface="Noto Sans KR"/>
              </a:rPr>
              <a:t>완료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7849F9-1CAD-4DE9-A100-3E3B7C2A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2857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311DBD-DB6C-471B-B56C-33959D5D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035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12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85" b="1">
                <a:solidFill>
                  <a:srgbClr val="1167D8"/>
                </a:solidFill>
                <a:latin typeface="Noto Sans KR"/>
                <a:ea typeface="Noto Sans KR"/>
                <a:cs typeface="Noto Sans KR"/>
              </a:defRPr>
            </a:pPr>
            <a:r>
              <a:rPr sz="1485" b="1">
                <a:solidFill>
                  <a:srgbClr val="1167D8"/>
                </a:solidFill>
                <a:latin typeface="Noto Sans KR"/>
                <a:ea typeface="Noto Sans KR"/>
                <a:cs typeface="Noto Sans KR"/>
              </a:rPr>
              <a:t>맞춤설계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5E1531-7948-428C-B9B5-4AD3A59C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644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보험료 확인 완료율 / 추천안 선택률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45100B-9A2D-4D44-ABBF-AB4DF33D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86050"/>
            <a:ext cx="25527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DF7F2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29D3A3-09E3-404A-8039-33CE26E0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0035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12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85" b="1">
                <a:solidFill>
                  <a:srgbClr val="00A88F"/>
                </a:solidFill>
                <a:latin typeface="Noto Sans KR"/>
                <a:ea typeface="Noto Sans KR"/>
                <a:cs typeface="Noto Sans KR"/>
              </a:defRPr>
            </a:pPr>
            <a:r>
              <a:rPr sz="1485" b="1">
                <a:solidFill>
                  <a:srgbClr val="00A88F"/>
                </a:solidFill>
                <a:latin typeface="Noto Sans KR"/>
                <a:ea typeface="Noto Sans KR"/>
                <a:cs typeface="Noto Sans KR"/>
              </a:rPr>
              <a:t>설계이해 Agent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360401-7B1C-42C7-82BB-CD3CE4E7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08610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644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보장항목 이해도 / 설계 조정 후 가입 시작률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3E7685-BA1E-4472-ACD1-8FC6805A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86050"/>
            <a:ext cx="23812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1CF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4C89CC-0A5E-414B-8846-B298B04E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03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12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85" b="1">
                <a:solidFill>
                  <a:srgbClr val="B87900"/>
                </a:solidFill>
                <a:latin typeface="Noto Sans KR"/>
                <a:ea typeface="Noto Sans KR"/>
                <a:cs typeface="Noto Sans KR"/>
              </a:defRPr>
            </a:pPr>
            <a:r>
              <a:rPr sz="1485" b="1">
                <a:solidFill>
                  <a:srgbClr val="B87900"/>
                </a:solidFill>
                <a:latin typeface="Noto Sans KR"/>
                <a:ea typeface="Noto Sans KR"/>
                <a:cs typeface="Noto Sans KR"/>
              </a:rPr>
              <a:t>청약완주 Agent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F129F9-BCC9-422A-9C9C-64DD442A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861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644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청약 완료율 / 이어하기 재개율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788984-D408-4778-B823-117EAC46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3352800" cy="1676400"/>
          </a:xfrm>
          <a:prstGeom xmlns:a="http://schemas.openxmlformats.org/drawingml/2006/main" prst="roundRect">
            <a:avLst>
              <a:gd name="adj" fmla="val 7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EDC17E-CE2B-4EFB-8374-EA0F466D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658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85" b="1">
                <a:solidFill>
                  <a:srgbClr val="1167D8"/>
                </a:solidFill>
                <a:latin typeface="Noto Sans KR"/>
                <a:ea typeface="Noto Sans KR"/>
                <a:cs typeface="Noto Sans KR"/>
              </a:defRPr>
            </a:pPr>
            <a:r>
              <a:rPr sz="1485" b="1">
                <a:solidFill>
                  <a:srgbClr val="1167D8"/>
                </a:solidFill>
                <a:latin typeface="Noto Sans KR"/>
                <a:ea typeface="Noto Sans KR"/>
                <a:cs typeface="Noto Sans KR"/>
              </a:rPr>
              <a:t>1차 실험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F964A4-A2D8-4EDC-81FE-0CDB2703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875"/>
          </a:bodyPr>
          <a:lstStyle xmlns:a="http://schemas.openxmlformats.org/drawingml/2006/main"/>
          <a:p xmlns:a="http://schemas.openxmlformats.org/drawingml/2006/main">
            <a:pPr marL="20" indent="-10" algn="l">
              <a:lnSpc>
                <a:spcPct val="118000"/>
              </a:lnSpc>
              <a:buNone/>
              <a:defRPr sz="135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고객 입력 4개만으로 추천 설계안 3개 노출</a:t>
            </a:r>
          </a:p>
          <a:p xmlns:a="http://schemas.openxmlformats.org/drawingml/2006/main">
            <a:pPr marL="20" indent="-10" algn="l">
              <a:lnSpc>
                <a:spcPct val="118000"/>
              </a:lnSpc>
              <a:buNone/>
              <a:defRPr sz="135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셀프계산 대비 보험료 확인 완료율 비교</a:t>
            </a:r>
          </a:p>
          <a:p xmlns:a="http://schemas.openxmlformats.org/drawingml/2006/main">
            <a:pPr marL="20" indent="-10" algn="l">
              <a:lnSpc>
                <a:spcPct val="118000"/>
              </a:lnSpc>
              <a:buNone/>
              <a:defRPr sz="135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상품설명·심의 문구 훼손 없이 추천 근거 표시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67CE86-E82B-47A9-A9B0-65D9112E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05250"/>
            <a:ext cx="3352800" cy="1676400"/>
          </a:xfrm>
          <a:prstGeom xmlns:a="http://schemas.openxmlformats.org/drawingml/2006/main" prst="roundRect">
            <a:avLst>
              <a:gd name="adj" fmla="val 7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D36AD5-05A9-47B7-97A8-9D93CD45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148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658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85" b="1">
                <a:solidFill>
                  <a:srgbClr val="00A88F"/>
                </a:solidFill>
                <a:latin typeface="Noto Sans KR"/>
                <a:ea typeface="Noto Sans KR"/>
                <a:cs typeface="Noto Sans KR"/>
              </a:defRPr>
            </a:pPr>
            <a:r>
              <a:rPr sz="1485" b="1">
                <a:solidFill>
                  <a:srgbClr val="00A88F"/>
                </a:solidFill>
                <a:latin typeface="Noto Sans KR"/>
                <a:ea typeface="Noto Sans KR"/>
                <a:cs typeface="Noto Sans KR"/>
              </a:rPr>
              <a:t>주요 지표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FB1914-B73E-4CC0-A635-1AC00FC9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1960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 algn="l">
              <a:lnSpc>
                <a:spcPct val="118000"/>
              </a:lnSpc>
              <a:buNone/>
              <a:defRPr sz="135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가입 완료 건수 / 가입 완료율</a:t>
            </a:r>
          </a:p>
          <a:p xmlns:a="http://schemas.openxmlformats.org/drawingml/2006/main">
            <a:pPr marL="20" indent="-10" algn="l">
              <a:lnSpc>
                <a:spcPct val="118000"/>
              </a:lnSpc>
              <a:buNone/>
              <a:defRPr sz="135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보험료 확인 후 가입 시작률</a:t>
            </a:r>
          </a:p>
          <a:p xmlns:a="http://schemas.openxmlformats.org/drawingml/2006/main">
            <a:pPr marL="20" indent="-10" algn="l">
              <a:lnSpc>
                <a:spcPct val="118000"/>
              </a:lnSpc>
              <a:buNone/>
              <a:defRPr sz="135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청약 이탈률 / 이어하기 재개율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2598F3-DF81-45D0-8690-9B5CD555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05250"/>
            <a:ext cx="3352800" cy="1676400"/>
          </a:xfrm>
          <a:prstGeom xmlns:a="http://schemas.openxmlformats.org/drawingml/2006/main" prst="roundRect">
            <a:avLst>
              <a:gd name="adj" fmla="val 7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3C8E7F-AD87-4BD5-8356-F266DC04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148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658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85" b="1">
                <a:solidFill>
                  <a:srgbClr val="B87900"/>
                </a:solidFill>
                <a:latin typeface="Noto Sans KR"/>
                <a:ea typeface="Noto Sans KR"/>
                <a:cs typeface="Noto Sans KR"/>
              </a:defRPr>
            </a:pPr>
            <a:r>
              <a:rPr sz="1485" b="1">
                <a:solidFill>
                  <a:srgbClr val="B87900"/>
                </a:solidFill>
                <a:latin typeface="Noto Sans KR"/>
                <a:ea typeface="Noto Sans KR"/>
                <a:cs typeface="Noto Sans KR"/>
              </a:rPr>
              <a:t>가드레일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141091-0F1B-4472-9397-3C85C685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1960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 algn="l">
              <a:lnSpc>
                <a:spcPct val="118000"/>
              </a:lnSpc>
              <a:buNone/>
              <a:defRPr sz="135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고객 오해·민원·문의 증가 여부</a:t>
            </a:r>
          </a:p>
          <a:p xmlns:a="http://schemas.openxmlformats.org/drawingml/2006/main">
            <a:pPr marL="20" indent="-10" algn="l">
              <a:lnSpc>
                <a:spcPct val="118000"/>
              </a:lnSpc>
              <a:buNone/>
              <a:defRPr sz="135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부적절한 추천 표현 및 심의 우려</a:t>
            </a:r>
          </a:p>
          <a:p xmlns:a="http://schemas.openxmlformats.org/drawingml/2006/main">
            <a:pPr marL="20" indent="-10" algn="l">
              <a:lnSpc>
                <a:spcPct val="118000"/>
              </a:lnSpc>
              <a:buNone/>
              <a:defRPr sz="1350">
                <a:solidFill>
                  <a:srgbClr val="162033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162033"/>
                </a:solidFill>
                <a:latin typeface="Noto Sans KR"/>
                <a:ea typeface="Noto Sans KR"/>
                <a:cs typeface="Noto Sans KR"/>
              </a:rPr>
              <a:t>비정상 철회·해지 신호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05400F-5B99-46AA-BD4C-44554959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57350"/>
            <a:ext cx="264795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71C3A"/>
          </a:solidFill>
          <a:ln xmlns:a="http://schemas.openxmlformats.org/drawingml/2006/main" w="9525">
            <a:solidFill>
              <a:srgbClr val="071C3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D94236-2735-468C-8665-AF99A5B7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85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658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추천 실행 순서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2C8460E-1240-46DE-AF04-FE2F937C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05050"/>
            <a:ext cx="2133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72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402">
                <a:solidFill>
                  <a:srgbClr val="E8F0FA"/>
                </a:solidFill>
                <a:latin typeface="Noto Sans KR"/>
                <a:ea typeface="Noto Sans KR"/>
                <a:cs typeface="Noto Sans KR"/>
              </a:defRPr>
            </a:pPr>
            <a:r>
              <a:rPr sz="1402" b="1">
                <a:solidFill>
                  <a:srgbClr val="E8F0FA"/>
                </a:solidFill>
                <a:latin typeface="Noto Sans KR"/>
                <a:ea typeface="Noto Sans KR"/>
                <a:cs typeface="Noto Sans KR"/>
              </a:rPr>
              <a:t>1. </a:t>
            </a:r>
            <a:r>
              <a:rPr sz="1402">
                <a:solidFill>
                  <a:srgbClr val="E8F0FA"/>
                </a:solidFill>
                <a:latin typeface="Noto Sans KR"/>
                <a:ea typeface="Noto Sans KR"/>
                <a:cs typeface="Noto Sans KR"/>
              </a:rPr>
              <a:t>현재 퍼널 병목 확인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402">
                <a:solidFill>
                  <a:srgbClr val="E8F0FA"/>
                </a:solidFill>
                <a:latin typeface="Noto Sans KR"/>
                <a:ea typeface="Noto Sans KR"/>
                <a:cs typeface="Noto Sans KR"/>
              </a:defRPr>
            </a:pPr>
            <a:r>
              <a:rPr sz="1402" b="1">
                <a:solidFill>
                  <a:srgbClr val="E8F0FA"/>
                </a:solidFill>
                <a:latin typeface="Noto Sans KR"/>
                <a:ea typeface="Noto Sans KR"/>
                <a:cs typeface="Noto Sans KR"/>
              </a:rPr>
              <a:t>2. </a:t>
            </a:r>
            <a:r>
              <a:rPr sz="1402">
                <a:solidFill>
                  <a:srgbClr val="E8F0FA"/>
                </a:solidFill>
                <a:latin typeface="Noto Sans KR"/>
                <a:ea typeface="Noto Sans KR"/>
                <a:cs typeface="Noto Sans KR"/>
              </a:rPr>
              <a:t>맞춤설계 Agent MVP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402">
                <a:solidFill>
                  <a:srgbClr val="E8F0FA"/>
                </a:solidFill>
                <a:latin typeface="Noto Sans KR"/>
                <a:ea typeface="Noto Sans KR"/>
                <a:cs typeface="Noto Sans KR"/>
              </a:defRPr>
            </a:pPr>
            <a:r>
              <a:rPr sz="1402" b="1">
                <a:solidFill>
                  <a:srgbClr val="E8F0FA"/>
                </a:solidFill>
                <a:latin typeface="Noto Sans KR"/>
                <a:ea typeface="Noto Sans KR"/>
                <a:cs typeface="Noto Sans KR"/>
              </a:rPr>
              <a:t>3. </a:t>
            </a:r>
            <a:r>
              <a:rPr sz="1402">
                <a:solidFill>
                  <a:srgbClr val="E8F0FA"/>
                </a:solidFill>
                <a:latin typeface="Noto Sans KR"/>
                <a:ea typeface="Noto Sans KR"/>
                <a:cs typeface="Noto Sans KR"/>
              </a:rPr>
              <a:t>설계이해·청약완주 확장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779985-7EEA-4BF4-9E60-97DA78C0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95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63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7A849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7A8494"/>
                </a:solidFill>
                <a:latin typeface="Noto Sans KR"/>
                <a:ea typeface="Noto Sans KR"/>
                <a:cs typeface="Noto Sans KR"/>
              </a:rPr>
              <a:t>보고용 컨셉안 | 팩건강보험 가입자수 확대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C5361C-9681-45BB-B69C-81422753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055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78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485" b="1">
                <a:solidFill>
                  <a:srgbClr val="A1A9B7"/>
                </a:solidFill>
                <a:latin typeface="Noto Sans KR"/>
                <a:ea typeface="Noto Sans KR"/>
                <a:cs typeface="Noto Sans KR"/>
              </a:defRPr>
            </a:pPr>
            <a:r>
              <a:rPr sz="1485" b="1">
                <a:solidFill>
                  <a:srgbClr val="A1A9B7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785344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2026-06-17T07:34:57.6170000Z</dcterms:created>
  <dcterms:modified xsi:type="dcterms:W3CDTF">2026-06-17T07:34:57.6170000Z</dcterms:modified>
</coreProperties>
</file>